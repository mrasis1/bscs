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8"/>
  </p:notesMasterIdLst>
  <p:sldIdLst>
    <p:sldId id="256" r:id="rId2"/>
    <p:sldId id="259" r:id="rId3"/>
    <p:sldId id="303" r:id="rId4"/>
    <p:sldId id="260" r:id="rId5"/>
    <p:sldId id="261" r:id="rId6"/>
    <p:sldId id="304" r:id="rId7"/>
    <p:sldId id="263" r:id="rId8"/>
    <p:sldId id="305" r:id="rId9"/>
    <p:sldId id="262" r:id="rId10"/>
    <p:sldId id="306" r:id="rId11"/>
    <p:sldId id="264" r:id="rId12"/>
    <p:sldId id="265" r:id="rId13"/>
    <p:sldId id="307" r:id="rId14"/>
    <p:sldId id="266" r:id="rId15"/>
    <p:sldId id="308" r:id="rId16"/>
    <p:sldId id="267" r:id="rId17"/>
    <p:sldId id="309" r:id="rId18"/>
    <p:sldId id="268" r:id="rId19"/>
    <p:sldId id="269" r:id="rId20"/>
    <p:sldId id="270" r:id="rId21"/>
    <p:sldId id="271" r:id="rId22"/>
    <p:sldId id="310" r:id="rId23"/>
    <p:sldId id="311" r:id="rId24"/>
    <p:sldId id="312" r:id="rId25"/>
    <p:sldId id="273" r:id="rId26"/>
    <p:sldId id="313" r:id="rId27"/>
    <p:sldId id="274" r:id="rId28"/>
    <p:sldId id="275" r:id="rId29"/>
    <p:sldId id="314" r:id="rId30"/>
    <p:sldId id="276" r:id="rId31"/>
    <p:sldId id="315" r:id="rId32"/>
    <p:sldId id="277" r:id="rId33"/>
    <p:sldId id="316" r:id="rId34"/>
    <p:sldId id="278" r:id="rId35"/>
    <p:sldId id="317" r:id="rId36"/>
    <p:sldId id="279" r:id="rId37"/>
    <p:sldId id="280" r:id="rId38"/>
    <p:sldId id="318" r:id="rId39"/>
    <p:sldId id="281" r:id="rId40"/>
    <p:sldId id="319" r:id="rId41"/>
    <p:sldId id="320" r:id="rId42"/>
    <p:sldId id="283" r:id="rId43"/>
    <p:sldId id="284" r:id="rId44"/>
    <p:sldId id="321" r:id="rId45"/>
    <p:sldId id="285" r:id="rId46"/>
    <p:sldId id="286" r:id="rId47"/>
    <p:sldId id="288" r:id="rId48"/>
    <p:sldId id="322" r:id="rId49"/>
    <p:sldId id="289" r:id="rId50"/>
    <p:sldId id="323" r:id="rId51"/>
    <p:sldId id="290" r:id="rId52"/>
    <p:sldId id="291" r:id="rId53"/>
    <p:sldId id="292" r:id="rId54"/>
    <p:sldId id="324" r:id="rId55"/>
    <p:sldId id="293" r:id="rId56"/>
    <p:sldId id="294" r:id="rId57"/>
    <p:sldId id="295" r:id="rId58"/>
    <p:sldId id="296" r:id="rId59"/>
    <p:sldId id="325" r:id="rId60"/>
    <p:sldId id="326" r:id="rId61"/>
    <p:sldId id="298" r:id="rId62"/>
    <p:sldId id="327" r:id="rId63"/>
    <p:sldId id="299" r:id="rId64"/>
    <p:sldId id="300" r:id="rId65"/>
    <p:sldId id="302" r:id="rId66"/>
    <p:sldId id="301" r:id="rId6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996600"/>
    <a:srgbClr val="00CC99"/>
    <a:srgbClr val="FF9900"/>
    <a:srgbClr val="0033CC"/>
    <a:srgbClr val="33CCCC"/>
    <a:srgbClr val="00CC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1" autoAdjust="0"/>
    <p:restoredTop sz="55476" autoAdjust="0"/>
  </p:normalViewPr>
  <p:slideViewPr>
    <p:cSldViewPr>
      <p:cViewPr varScale="1">
        <p:scale>
          <a:sx n="37" d="100"/>
          <a:sy n="37" d="100"/>
        </p:scale>
        <p:origin x="226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0FA8E715-3702-49E2-97DF-17E6A3D6C0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37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PH" altLang="en-US" dirty="0" smtClean="0"/>
              <a:t>Good day everyone! For today’s session we are going to discuss about quantifiers.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32757C-C47F-4067-B684-490BA0A6012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26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PH" altLang="en-US" smtClean="0"/>
              <a:t>As we all know logic that deals….</a:t>
            </a:r>
          </a:p>
          <a:p>
            <a:pPr marL="171450" indent="-171450">
              <a:buFontTx/>
              <a:buChar char="-"/>
            </a:pPr>
            <a:r>
              <a:rPr lang="en-PH" altLang="en-US" smtClean="0"/>
              <a:t>Recall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95D7B9-D16A-455E-9375-D9DA04B9AA1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97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PH" altLang="en-US" smtClean="0"/>
              <a:t>- Since most of the statements in mathematics and compute science use variables, we will then extend our system of logic to include such mathematical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177530-98A7-46B7-A5F5-EC83582297C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53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  <a:defRPr/>
            </a:pPr>
            <a:r>
              <a:rPr lang="en-PH" dirty="0" smtClean="0"/>
              <a:t>So we will let P(x) be …</a:t>
            </a:r>
          </a:p>
          <a:p>
            <a:pPr marL="171450" indent="-171450">
              <a:buFontTx/>
              <a:buChar char="-"/>
              <a:defRPr/>
            </a:pPr>
            <a:r>
              <a:rPr lang="en-PH" dirty="0" smtClean="0"/>
              <a:t>This t means that if we are going to replace our variable x here with any value from our domain of discourse, then we can now determine its equivalent truth value. Why? because by replacing such variable with a value you're able to form a proposition.</a:t>
            </a:r>
          </a:p>
          <a:p>
            <a:pPr marL="171450" indent="-171450">
              <a:buFontTx/>
              <a:buChar char="-"/>
              <a:defRPr/>
            </a:pPr>
            <a:r>
              <a:rPr lang="en-PH" dirty="0" smtClean="0"/>
              <a:t>To emphasize, </a:t>
            </a:r>
          </a:p>
          <a:p>
            <a:pPr>
              <a:defRPr/>
            </a:pPr>
            <a:r>
              <a:rPr lang="en-PH" dirty="0" smtClean="0"/>
              <a:t>	P(n): n is an odd integer </a:t>
            </a:r>
          </a:p>
          <a:p>
            <a:pPr>
              <a:defRPr/>
            </a:pPr>
            <a:r>
              <a:rPr lang="en-PH" dirty="0" smtClean="0"/>
              <a:t>     is an example of a propositional function. Your hint here is the presence of a variable in the statement.</a:t>
            </a:r>
          </a:p>
          <a:p>
            <a:pPr>
              <a:defRPr/>
            </a:pPr>
            <a:r>
              <a:rPr lang="en-PH" dirty="0" smtClean="0"/>
              <a:t>- Whereas, having a specific value for our variable x </a:t>
            </a:r>
          </a:p>
          <a:p>
            <a:pPr>
              <a:defRPr/>
            </a:pPr>
            <a:r>
              <a:rPr lang="en-PH" smtClean="0"/>
              <a:t>	P(1</a:t>
            </a:r>
            <a:r>
              <a:rPr lang="en-PH" dirty="0" smtClean="0"/>
              <a:t>): 1 is an odd integer, this is now referred to as a proposition since you can certainly conclude that this is a true statement. 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622990-B62F-473E-937E-0EFFEAA7E5F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09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7130074-A76F-4941-BF36-9CFA258AA9BD}" type="slidenum">
              <a:rPr lang="en-US" altLang="en-US" sz="1200" smtClean="0">
                <a:latin typeface="Arial" panose="020B0604020202020204" pitchFamily="34" charset="0"/>
              </a:rPr>
              <a:pPr/>
              <a:t>43</a:t>
            </a:fld>
            <a:endParaRPr lang="en-US" altLang="en-US" sz="1200" smtClean="0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i="1" smtClean="0"/>
              <a:t>Notice that the conjunction p </a:t>
            </a:r>
            <a:r>
              <a:rPr lang="en-US" altLang="en-US" smtClean="0">
                <a:sym typeface="Symbol" panose="05050102010706020507" pitchFamily="18" charset="2"/>
              </a:rPr>
              <a:t></a:t>
            </a:r>
            <a:r>
              <a:rPr lang="en-US" altLang="en-US" smtClean="0"/>
              <a:t> </a:t>
            </a:r>
            <a:r>
              <a:rPr lang="en-US" altLang="en-US" i="1" smtClean="0">
                <a:sym typeface="Symbol" panose="05050102010706020507" pitchFamily="18" charset="2"/>
              </a:rPr>
              <a:t>q is true provided that p and q are both true; p </a:t>
            </a:r>
            <a:r>
              <a:rPr lang="en-US" altLang="en-US" smtClean="0">
                <a:sym typeface="Symbol" panose="05050102010706020507" pitchFamily="18" charset="2"/>
              </a:rPr>
              <a:t></a:t>
            </a:r>
            <a:r>
              <a:rPr lang="en-US" altLang="en-US" i="1" smtClean="0"/>
              <a:t> </a:t>
            </a:r>
            <a:r>
              <a:rPr lang="en-US" altLang="en-US" i="1" smtClean="0">
                <a:sym typeface="Symbol" panose="05050102010706020507" pitchFamily="18" charset="2"/>
              </a:rPr>
              <a:t>q is false otherwise.</a:t>
            </a:r>
          </a:p>
        </p:txBody>
      </p:sp>
    </p:spTree>
    <p:extLst>
      <p:ext uri="{BB962C8B-B14F-4D97-AF65-F5344CB8AC3E}">
        <p14:creationId xmlns:p14="http://schemas.microsoft.com/office/powerpoint/2010/main" val="2285688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9014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172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346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334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77443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879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7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0954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PH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329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3324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4475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09190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0310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03598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endParaRPr lang="en-PH" noProof="0" smtClean="0"/>
          </a:p>
        </p:txBody>
      </p:sp>
    </p:spTree>
    <p:extLst>
      <p:ext uri="{BB962C8B-B14F-4D97-AF65-F5344CB8AC3E}">
        <p14:creationId xmlns:p14="http://schemas.microsoft.com/office/powerpoint/2010/main" val="4997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http://www.powerpointstyles.com/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2"/>
          <p:cNvSpPr txBox="1">
            <a:spLocks noChangeArrowheads="1"/>
          </p:cNvSpPr>
          <p:nvPr/>
        </p:nvSpPr>
        <p:spPr bwMode="auto">
          <a:xfrm>
            <a:off x="3348038" y="6237288"/>
            <a:ext cx="2990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fr-FR" altLang="en-US" sz="1800" smtClean="0">
                <a:latin typeface="Arial" panose="020B0604020202020204" pitchFamily="34" charset="0"/>
                <a:hlinkClick r:id="rId17"/>
              </a:rPr>
              <a:t>Free Powerpoint Templates</a:t>
            </a:r>
            <a:endParaRPr lang="fr-FR" altLang="en-US" sz="1800" smtClean="0">
              <a:latin typeface="Arial" panose="020B0604020202020204" pitchFamily="34" charset="0"/>
            </a:endParaRPr>
          </a:p>
        </p:txBody>
      </p:sp>
      <p:pic>
        <p:nvPicPr>
          <p:cNvPr id="1027" name="Picture 3" descr="fddsf fsdf zfe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8035925" y="6375400"/>
            <a:ext cx="1073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fr-FR" altLang="en-US" sz="1800" b="1" smtClean="0">
                <a:solidFill>
                  <a:schemeClr val="bg1"/>
                </a:solidFill>
                <a:latin typeface="Arial" panose="020B0604020202020204" pitchFamily="34" charset="0"/>
              </a:rPr>
              <a:t>Page </a:t>
            </a:r>
            <a:fld id="{8887FA8C-175D-4D0A-BD1E-96CE9B372282}" type="slidenum">
              <a:rPr lang="fr-FR" altLang="en-US" sz="1800" b="1" smtClean="0">
                <a:solidFill>
                  <a:schemeClr val="bg1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‹#›</a:t>
            </a:fld>
            <a:endParaRPr lang="fr-FR" altLang="en-US" sz="1800" b="1" smtClean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8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7.e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1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3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2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16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4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5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2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1.e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3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6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8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7.emf"/><Relationship Id="rId4" Type="http://schemas.openxmlformats.org/officeDocument/2006/relationships/oleObject" Target="../embeddings/oleObject30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34.png"/><Relationship Id="rId7" Type="http://schemas.openxmlformats.org/officeDocument/2006/relationships/image" Target="../media/image40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41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9" descr="Paper bag"/>
          <p:cNvSpPr>
            <a:spLocks noChangeArrowheads="1" noChangeShapeType="1" noTextEdit="1"/>
          </p:cNvSpPr>
          <p:nvPr/>
        </p:nvSpPr>
        <p:spPr bwMode="auto">
          <a:xfrm>
            <a:off x="1600200" y="2667000"/>
            <a:ext cx="4191000" cy="1219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PH" sz="36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cs typeface="Times New Roman" panose="02020603050405020304" pitchFamily="18" charset="0"/>
              </a:rPr>
              <a:t>QUANTIFIERS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defRPr/>
            </a:pPr>
            <a:r>
              <a:rPr lang="en-US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Introduction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19200"/>
            <a:ext cx="6629400" cy="5029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74675" indent="-574675" algn="just" eaLnBrk="1" hangingPunct="1">
              <a:lnSpc>
                <a:spcPct val="90000"/>
              </a:lnSpc>
              <a:buSzPct val="70000"/>
              <a:buFontTx/>
              <a:buBlip>
                <a:blip r:embed="rId3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Logic that deals with propositions is incapable of describing most of the statements in mathematics and computer science.  </a:t>
            </a:r>
          </a:p>
          <a:p>
            <a:pPr marL="574675" indent="-574675" algn="just" eaLnBrk="1" hangingPunct="1">
              <a:lnSpc>
                <a:spcPct val="90000"/>
              </a:lnSpc>
              <a:buSzPct val="70000"/>
              <a:buFontTx/>
              <a:buBlip>
                <a:blip r:embed="rId3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Recall that a proposition is a statement that is either true or false, thus, the statement: </a:t>
            </a:r>
            <a:endParaRPr lang="en-US" sz="2800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574675" indent="-574675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p: n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an odd integer.	</a:t>
            </a:r>
          </a:p>
          <a:p>
            <a:pPr marL="574675" indent="-574675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not a proposition because whether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true or false depends on the value of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If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103, p is true and false if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8.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defRPr/>
            </a:pPr>
            <a:r>
              <a:rPr lang="en-US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Introduction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570038"/>
            <a:ext cx="6553200" cy="45259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74675" indent="-574675" algn="just" eaLnBrk="1" hangingPunct="1">
              <a:buSzPct val="70000"/>
              <a:buFontTx/>
              <a:buBlip>
                <a:blip r:embed="rId3"/>
              </a:buBlip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Most of the statements in mathematics and computer science use variables. Thus, we must extend the system of logic to include such mathematical statements.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	</a:t>
            </a:r>
            <a:r>
              <a:rPr lang="en-US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74638"/>
            <a:ext cx="70104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Domain of Discourse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-76200" y="1524000"/>
            <a:ext cx="7010400" cy="4572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68313" indent="-468313" algn="just" eaLnBrk="1" hangingPunct="1">
              <a:lnSpc>
                <a:spcPct val="90000"/>
              </a:lnSpc>
              <a:buFontTx/>
              <a:buNone/>
              <a:tabLst>
                <a:tab pos="850900" algn="l"/>
              </a:tabLst>
              <a:defRPr/>
            </a:pPr>
            <a:r>
              <a:rPr lang="en-US" sz="3600" b="1" smtClean="0"/>
              <a:t>	</a:t>
            </a:r>
            <a:r>
              <a:rPr lang="en-US" sz="36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Definition:</a:t>
            </a:r>
          </a:p>
          <a:p>
            <a:pPr marL="468313" indent="-468313" algn="just" eaLnBrk="1" hangingPunct="1">
              <a:lnSpc>
                <a:spcPct val="90000"/>
              </a:lnSpc>
              <a:buFontTx/>
              <a:buNone/>
              <a:tabLst>
                <a:tab pos="850900" algn="l"/>
              </a:tabLst>
              <a:defRPr/>
            </a:pPr>
            <a:r>
              <a:rPr lang="en-US" sz="36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Let P(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be a statement involving the variable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and let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be a set. We call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a </a:t>
            </a:r>
            <a:r>
              <a:rPr lang="en-US" sz="3600" b="1" u="sng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propositional function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(with respect to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if for each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 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in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a proposition. We call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the </a:t>
            </a:r>
            <a:r>
              <a:rPr lang="en-US" sz="3600" b="1" u="sng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domain of discourse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of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371600"/>
            <a:ext cx="7010400" cy="4876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68313" indent="-468313" algn="just" eaLnBrk="1" hangingPunct="1">
              <a:lnSpc>
                <a:spcPct val="90000"/>
              </a:lnSpc>
              <a:buFontTx/>
              <a:buNone/>
              <a:tabLst>
                <a:tab pos="850900" algn="l"/>
              </a:tabLst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Let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be the statement 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68313" indent="-468313" algn="just" eaLnBrk="1" hangingPunct="1">
              <a:lnSpc>
                <a:spcPct val="90000"/>
              </a:lnSpc>
              <a:buFontTx/>
              <a:buNone/>
              <a:tabLst>
                <a:tab pos="850900" algn="l"/>
              </a:tabLst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n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an odd integer </a:t>
            </a:r>
          </a:p>
          <a:p>
            <a:pPr marL="468313" indent="-468313" algn="just" eaLnBrk="1" hangingPunct="1">
              <a:lnSpc>
                <a:spcPct val="90000"/>
              </a:lnSpc>
              <a:buFontTx/>
              <a:buNone/>
              <a:tabLst>
                <a:tab pos="850900" algn="l"/>
              </a:tabLst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and let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be the set of positive integers. </a:t>
            </a:r>
          </a:p>
          <a:p>
            <a:pPr marL="974725" lvl="1" indent="-392113" algn="just" eaLnBrk="1" hangingPunct="1">
              <a:lnSpc>
                <a:spcPct val="90000"/>
              </a:lnSpc>
              <a:tabLst>
                <a:tab pos="850900" algn="l"/>
              </a:tabLst>
              <a:defRPr/>
            </a:pP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a propositional function with domain of discourse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since for each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a proposition, that is, for each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 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in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true or false but not both. 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76200"/>
            <a:ext cx="90678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Domain of Discourse :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524000"/>
            <a:ext cx="7086600" cy="3276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74725" lvl="1" indent="-392113" eaLnBrk="1" hangingPunct="1">
              <a:tabLst>
                <a:tab pos="850900" algn="l"/>
              </a:tabLst>
              <a:defRPr/>
            </a:pP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If n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1, P(1) is true, that is,  </a:t>
            </a:r>
          </a:p>
          <a:p>
            <a:pPr marL="468313" indent="-468313" eaLnBrk="1" hangingPunct="1">
              <a:buFontTx/>
              <a:buNone/>
              <a:tabLst>
                <a:tab pos="850900" algn="l"/>
              </a:tabLst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	1 is an odd integer </a:t>
            </a:r>
          </a:p>
          <a:p>
            <a:pPr marL="974725" lvl="1" indent="-392113" eaLnBrk="1" hangingPunct="1">
              <a:tabLst>
                <a:tab pos="850900" algn="l"/>
              </a:tabLst>
              <a:defRPr/>
            </a:pP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If n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2, P(2) is false, that is,  </a:t>
            </a:r>
          </a:p>
          <a:p>
            <a:pPr marL="468313" indent="-468313" eaLnBrk="1" hangingPunct="1">
              <a:buFontTx/>
              <a:buNone/>
              <a:tabLst>
                <a:tab pos="850900" algn="l"/>
              </a:tabLst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	2 is an odd integer </a:t>
            </a:r>
          </a:p>
          <a:p>
            <a:pPr marL="468313" indent="-468313" eaLnBrk="1" hangingPunct="1">
              <a:buFontTx/>
              <a:buNone/>
              <a:tabLst>
                <a:tab pos="850900" algn="l"/>
              </a:tabLst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  is false.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73152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Domain of Discourse :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228600"/>
            <a:ext cx="7010400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Propositional Function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412875"/>
            <a:ext cx="7010400" cy="45307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 algn="just" eaLnBrk="1" hangingPunct="1">
              <a:lnSpc>
                <a:spcPct val="90000"/>
              </a:lnSpc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By itself, it is neither true nor false. </a:t>
            </a:r>
          </a:p>
          <a:p>
            <a:pPr marL="457200" indent="-457200" algn="just" eaLnBrk="1" hangingPunct="1">
              <a:lnSpc>
                <a:spcPct val="90000"/>
              </a:lnSpc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However, for each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its domain of discourse,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a proposition and is, therefore, either true or false. </a:t>
            </a:r>
          </a:p>
          <a:p>
            <a:pPr marL="457200" indent="-457200" algn="just" eaLnBrk="1" hangingPunct="1">
              <a:lnSpc>
                <a:spcPct val="90000"/>
              </a:lnSpc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We can think of a propositional function as defining a class of propositions, one for each element of its domain of discourse.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70104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Propositional Function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-152400" y="1489075"/>
            <a:ext cx="7086600" cy="45307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If for example,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a propositional function with domain of discourse equal to the set of positive integers, we obtain the class of propositions </a:t>
            </a:r>
            <a:endParaRPr lang="en-US" sz="3600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57200" indent="-457200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P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(1),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(2), . . . . </a:t>
            </a:r>
          </a:p>
          <a:p>
            <a:pPr marL="457200" indent="-457200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in which each of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(1),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(2), . . . is either true or false.</a:t>
            </a:r>
            <a:r>
              <a:rPr lang="en-US" sz="36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82296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Examples of Propositional Function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60475"/>
            <a:ext cx="7162800" cy="45307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81000" indent="-381000" eaLnBrk="1" hangingPunct="1">
              <a:lnSpc>
                <a:spcPct val="90000"/>
              </a:lnSpc>
              <a:spcBef>
                <a:spcPct val="100000"/>
              </a:spcBef>
              <a:buClr>
                <a:srgbClr val="FF9900"/>
              </a:buClr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an odd integer </a:t>
            </a:r>
          </a:p>
          <a:p>
            <a:pPr marL="381000" indent="-381000" eaLnBrk="1" hangingPunct="1">
              <a:lnSpc>
                <a:spcPct val="90000"/>
              </a:lnSpc>
              <a:spcBef>
                <a:spcPct val="100000"/>
              </a:spcBef>
              <a:buClr>
                <a:srgbClr val="FF9900"/>
              </a:buClr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- D = set of positive integers</a:t>
            </a:r>
          </a:p>
          <a:p>
            <a:pPr marL="381000" indent="-381000" eaLnBrk="1" hangingPunct="1">
              <a:lnSpc>
                <a:spcPct val="90000"/>
              </a:lnSpc>
              <a:spcBef>
                <a:spcPct val="100000"/>
              </a:spcBef>
              <a:buClr>
                <a:srgbClr val="FF9900"/>
              </a:buCl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-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- 6 = 0 </a:t>
            </a:r>
          </a:p>
          <a:p>
            <a:pPr marL="381000" indent="-381000" eaLnBrk="1" hangingPunct="1">
              <a:lnSpc>
                <a:spcPct val="90000"/>
              </a:lnSpc>
              <a:spcBef>
                <a:spcPct val="10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- D = set of real numbers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228600"/>
            <a:ext cx="7543800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36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Examples of Propositional Function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295400"/>
            <a:ext cx="7086600" cy="5181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81000" indent="-381000" algn="just" eaLnBrk="1" hangingPunct="1">
              <a:lnSpc>
                <a:spcPct val="90000"/>
              </a:lnSpc>
              <a:spcBef>
                <a:spcPct val="100000"/>
              </a:spcBef>
              <a:buClr>
                <a:srgbClr val="FF9900"/>
              </a:buCl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student gets a GPA of 2.0 or better during the second semester of SY 2002- 2003 </a:t>
            </a:r>
          </a:p>
          <a:p>
            <a:pPr marL="381000" indent="-381000" algn="just" eaLnBrk="1" hangingPunct="1">
              <a:lnSpc>
                <a:spcPct val="90000"/>
              </a:lnSpc>
              <a:spcBef>
                <a:spcPct val="100000"/>
              </a:spcBef>
              <a:buClr>
                <a:srgbClr val="FF9900"/>
              </a:buClr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- D = set of students</a:t>
            </a:r>
          </a:p>
          <a:p>
            <a:pPr marL="381000" indent="-381000" algn="just" eaLnBrk="1" hangingPunct="1">
              <a:lnSpc>
                <a:spcPct val="90000"/>
              </a:lnSpc>
              <a:spcBef>
                <a:spcPct val="100000"/>
              </a:spcBef>
              <a:buClr>
                <a:srgbClr val="FF9900"/>
              </a:buCl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actress has won a FAMAS award.</a:t>
            </a:r>
          </a:p>
          <a:p>
            <a:pPr marL="381000" indent="-381000" algn="just" eaLnBrk="1" hangingPunct="1">
              <a:lnSpc>
                <a:spcPct val="90000"/>
              </a:lnSpc>
              <a:spcBef>
                <a:spcPct val="10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 - D = set of  actresses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69342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Universal and Existential Quantifiers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752600"/>
            <a:ext cx="7010400" cy="45307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81000" indent="-381000" algn="just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Most of the statements in mathematics and computer science use terms such as "for every" and "for some." For example in mathematics we have the statements: </a:t>
            </a:r>
          </a:p>
          <a:p>
            <a:pPr marL="739775" lvl="1" indent="-244475" algn="just" eaLnBrk="1" hangingPunct="1"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triangle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 sum of the angles of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equal to 180°.</a:t>
            </a:r>
          </a:p>
          <a:p>
            <a:pPr marL="739775" lvl="1" indent="-244475" algn="just" eaLnBrk="1" hangingPunct="1"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some triangle S, the sum of two angles is less than 90</a:t>
            </a:r>
            <a:r>
              <a:rPr lang="en-US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Universal Quantifiers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219200"/>
            <a:ext cx="7620000" cy="5029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Definition:</a:t>
            </a:r>
          </a:p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Let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be a propositional function with domain of discourse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The statement </a:t>
            </a:r>
            <a:endParaRPr lang="en-US" sz="3200" b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every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</a:p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said to be a </a:t>
            </a:r>
            <a:r>
              <a:rPr lang="en-US" sz="32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universally quantified statement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The symbol 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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means "for every." Thus the statement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x, P(x)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may be written </a:t>
            </a:r>
            <a:endParaRPr lang="en-US" sz="3200" smtClean="0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			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).</a:t>
            </a:r>
            <a:r>
              <a:rPr lang="en-US" sz="32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26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endParaRPr lang="en-US" sz="2600" b="1" smtClean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04800"/>
            <a:ext cx="6858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Universal Quantifiers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828800"/>
            <a:ext cx="6934200" cy="3429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92113" lvl="1" indent="-277813" algn="just" eaLnBrk="1" hangingPunct="1">
              <a:buFontTx/>
              <a:buNone/>
              <a:defRPr/>
            </a:pPr>
            <a:r>
              <a:rPr lang="en-US" sz="32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symbol 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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called a </a:t>
            </a:r>
            <a:r>
              <a:rPr lang="en-US" sz="32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universal quantifier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The statement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x, P(x) 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true if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true for every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The statement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x, P(x) 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false if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false for at least one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r>
              <a:rPr lang="en-US" sz="36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marL="392113" lvl="1" indent="-277813" eaLnBrk="1" hangingPunct="1">
              <a:buFontTx/>
              <a:buNone/>
              <a:defRPr/>
            </a:pPr>
            <a:endParaRPr lang="en-US" sz="3600" b="1" smtClean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228600"/>
            <a:ext cx="67818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Existential Quantifiers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676400"/>
            <a:ext cx="7772400" cy="472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Definition:</a:t>
            </a:r>
            <a:endParaRPr lang="en-US" sz="320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The statement </a:t>
            </a:r>
          </a:p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some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</a:p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said to be an </a:t>
            </a:r>
            <a:r>
              <a:rPr lang="en-US" sz="32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existentially quantified statement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The symbol 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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means "for some."  Thus the statement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some x, P(x) 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may be written </a:t>
            </a:r>
            <a:endParaRPr lang="en-US" sz="3200" smtClean="0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			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2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2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). </a:t>
            </a:r>
          </a:p>
          <a:p>
            <a:pPr marL="392113" lvl="1" indent="-277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6858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Existential Quantifiers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-76200" y="1752600"/>
            <a:ext cx="7010400" cy="3657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92113" lvl="1" indent="-277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symbol 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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called an </a:t>
            </a:r>
            <a:r>
              <a:rPr lang="en-US" sz="36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existential quantifier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The statement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some x, P(x)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true if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true for at least one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The statement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some x, P(x)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false if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false for every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67818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Remarks on definition of Quantifiers</a:t>
            </a:r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46238"/>
            <a:ext cx="7391400" cy="57451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SzPct val="70000"/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Free or Bound Variable </a:t>
            </a:r>
          </a:p>
          <a:p>
            <a:pPr lvl="1" eaLnBrk="1" hangingPunct="1">
              <a:lnSpc>
                <a:spcPct val="80000"/>
              </a:lnSpc>
              <a:buClr>
                <a:srgbClr val="00CC00"/>
              </a:buCl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We call the variable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propositional function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a 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free variable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  <a:p>
            <a:pPr lvl="1" eaLnBrk="1" hangingPunct="1">
              <a:lnSpc>
                <a:spcPct val="80000"/>
              </a:lnSpc>
              <a:buClr>
                <a:srgbClr val="00CC00"/>
              </a:buCl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idea is that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"free" to roam over the domain of discourse.</a:t>
            </a:r>
          </a:p>
          <a:p>
            <a:pPr lvl="1" eaLnBrk="1" hangingPunct="1">
              <a:lnSpc>
                <a:spcPct val="80000"/>
              </a:lnSpc>
              <a:buClr>
                <a:srgbClr val="00CC00"/>
              </a:buCl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We call the variable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universally quantified statement </a:t>
            </a: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				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			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or in the existentially quantified statement 			</a:t>
            </a: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				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			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a 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bound variable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Remarks on definition of Quantifiers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-152400" y="1874838"/>
            <a:ext cx="7010400" cy="45259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just" eaLnBrk="1" hangingPunct="1">
              <a:lnSpc>
                <a:spcPct val="80000"/>
              </a:lnSpc>
              <a:buClr>
                <a:srgbClr val="00CC00"/>
              </a:buCl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idea is that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"bound" by the quantifier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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or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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  <a:p>
            <a:pPr lvl="1" algn="just" eaLnBrk="1" hangingPunct="1">
              <a:lnSpc>
                <a:spcPct val="80000"/>
              </a:lnSpc>
              <a:buClr>
                <a:srgbClr val="00CC00"/>
              </a:buCl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We previously pointed out that a propositional function does not have a truth value. On the other hand, quantified statements have corresponding truth values.</a:t>
            </a:r>
          </a:p>
          <a:p>
            <a:pPr lvl="1" algn="just" eaLnBrk="1" hangingPunct="1">
              <a:lnSpc>
                <a:spcPct val="80000"/>
              </a:lnSpc>
              <a:buClr>
                <a:srgbClr val="00CC00"/>
              </a:buCl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In general, a statement with free (unquantified) variables is not a proposition and a statement with no free variables (no unquantified variables) is a proposition.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752600"/>
            <a:ext cx="7086600" cy="5257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7663" indent="-347663" eaLnBrk="1" hangingPunct="1">
              <a:lnSpc>
                <a:spcPct val="80000"/>
              </a:lnSpc>
              <a:spcBef>
                <a:spcPct val="60000"/>
              </a:spcBef>
              <a:buSzPct val="70000"/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symbol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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may be read "for every," "for all," or "for any." </a:t>
            </a:r>
          </a:p>
          <a:p>
            <a:pPr marL="347663" indent="-347663" eaLnBrk="1" hangingPunct="1">
              <a:lnSpc>
                <a:spcPct val="80000"/>
              </a:lnSpc>
              <a:spcBef>
                <a:spcPct val="60000"/>
              </a:spcBef>
              <a:buSzPct val="70000"/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symbol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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may be read "for some," "for at least one," or "there exists." </a:t>
            </a:r>
          </a:p>
          <a:p>
            <a:pPr marL="347663" indent="-347663" eaLnBrk="1" hangingPunct="1">
              <a:lnSpc>
                <a:spcPct val="80000"/>
              </a:lnSpc>
              <a:spcBef>
                <a:spcPct val="60000"/>
              </a:spcBef>
              <a:buSzPct val="70000"/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Sometimes, to specify the domain of discourse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we write a universally quantified statement as </a:t>
            </a:r>
          </a:p>
          <a:p>
            <a:pPr marL="347663" indent="-347663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every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</a:p>
          <a:p>
            <a:pPr marL="347663" indent="-347663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and we write an existentially quantified statement as </a:t>
            </a:r>
          </a:p>
          <a:p>
            <a:pPr marL="347663" indent="-347663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some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).</a:t>
            </a:r>
            <a:r>
              <a:rPr lang="en-US" sz="28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Remarks on definition of Quantifiers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-76200" y="1752600"/>
            <a:ext cx="7162800" cy="4648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7663" indent="-34766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The universally quantified statement </a:t>
            </a:r>
            <a:endParaRPr lang="en-US" b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7663" indent="-34766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every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</a:p>
          <a:p>
            <a:pPr marL="347663" indent="-34766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false if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at least one 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domain of discourse, the proposition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false. A value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domain of discourse that makes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false is called a 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counterexample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to the statement </a:t>
            </a:r>
          </a:p>
          <a:p>
            <a:pPr marL="347663" indent="-34766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every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). </a:t>
            </a: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Remarks on definition of Quantifiers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304800"/>
            <a:ext cx="6781800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Example1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524000"/>
            <a:ext cx="6553200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7663" indent="-34766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statement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real number x, x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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0 is a universally quantified statement. The domain of discourse is the set of real numbers. The statement is true because,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real number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it is true that the square of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positive or zero.</a:t>
            </a:r>
            <a:r>
              <a:rPr lang="en-US" sz="36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3733800"/>
            <a:ext cx="7315200" cy="2743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7663" indent="-347663" eaLnBrk="1" hangingPunct="1">
              <a:lnSpc>
                <a:spcPct val="80000"/>
              </a:lnSpc>
              <a:buSzPct val="70000"/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Proof: </a:t>
            </a:r>
          </a:p>
          <a:p>
            <a:pPr marL="347663" indent="-347663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We must verify that the statement </a:t>
            </a:r>
          </a:p>
          <a:p>
            <a:pPr marL="347663" indent="-347663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if x &gt;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x +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&gt; 1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true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real number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  <a:p>
            <a:pPr marL="347663" indent="-347663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Let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be any real number whatsoever.  It is true that for any real number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either 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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1 or x &gt; 1.  </a:t>
            </a:r>
            <a:endParaRPr lang="en-US" sz="240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152400" y="1371600"/>
            <a:ext cx="76200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Prove that the universally quantified  statement </a:t>
            </a:r>
          </a:p>
          <a:p>
            <a:pPr eaLnBrk="1" hangingPunct="1">
              <a:defRPr/>
            </a:pPr>
            <a:r>
              <a:rPr lang="en-US" sz="3200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	for every real number </a:t>
            </a:r>
            <a:r>
              <a:rPr lang="en-US" sz="3200" i="1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, if </a:t>
            </a:r>
            <a:r>
              <a:rPr lang="en-US" sz="3200" i="1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&gt; 1, </a:t>
            </a:r>
          </a:p>
          <a:p>
            <a:pPr eaLnBrk="1" hangingPunct="1">
              <a:defRPr/>
            </a:pPr>
            <a:r>
              <a:rPr lang="en-US" sz="3200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			then </a:t>
            </a:r>
            <a:r>
              <a:rPr lang="en-US" sz="3200" i="1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+ 1 &gt; 1 </a:t>
            </a:r>
          </a:p>
          <a:p>
            <a:pPr eaLnBrk="1" hangingPunct="1">
              <a:defRPr/>
            </a:pPr>
            <a:r>
              <a:rPr lang="en-US" sz="3200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 </a:t>
            </a: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is true.</a:t>
            </a: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76200" y="381000"/>
            <a:ext cx="6781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40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  <a:cs typeface="+mn-cs"/>
              </a:rPr>
              <a:t>Quantifiers : Example2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600200"/>
            <a:ext cx="6781800" cy="4800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7663" indent="-347663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36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Case1: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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1</a:t>
            </a:r>
          </a:p>
          <a:p>
            <a:pPr marL="347663" indent="-34766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The conditional proposition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If x 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&gt; 1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x + 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&gt; 1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true because the hypothesis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&gt; 1 is false. (Recall that when the hypothesis is false, the conditional proposition is true regardless of whether the conclusion is true or false.)</a:t>
            </a:r>
            <a:r>
              <a:rPr lang="en-US" sz="36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228600"/>
            <a:ext cx="67818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798638"/>
            <a:ext cx="7315200" cy="45259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7663" indent="-347663" eaLnBrk="1" hangingPunct="1">
              <a:spcBef>
                <a:spcPct val="4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Case 2: 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&gt; 1</a:t>
            </a:r>
          </a:p>
          <a:p>
            <a:pPr marL="347663" indent="-347663" eaLnBrk="1" hangingPunct="1">
              <a:spcBef>
                <a:spcPct val="4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&gt; 1 →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 +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&gt; 1 + 1 &gt; 1    (API)</a:t>
            </a:r>
          </a:p>
          <a:p>
            <a:pPr marL="347663" indent="-347663" eaLnBrk="1" hangingPunct="1">
              <a:spcBef>
                <a:spcPct val="4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→ 	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+ 1 &gt; 1	  (transitivity of &gt;)</a:t>
            </a:r>
          </a:p>
          <a:p>
            <a:pPr marL="347663" indent="-347663" eaLnBrk="1" hangingPunct="1">
              <a:spcBef>
                <a:spcPct val="4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hence the conditional proposition </a:t>
            </a:r>
          </a:p>
          <a:p>
            <a:pPr marL="347663" indent="-347663" eaLnBrk="1" hangingPunct="1">
              <a:spcBef>
                <a:spcPct val="4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if x &gt;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x +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&gt; 1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true. </a:t>
            </a:r>
          </a:p>
          <a:p>
            <a:pPr marL="347663" indent="-347663" eaLnBrk="1" hangingPunct="1">
              <a:spcBef>
                <a:spcPct val="40000"/>
              </a:spcBef>
              <a:buFontTx/>
              <a:buNone/>
              <a:defRPr/>
            </a:pPr>
            <a:r>
              <a:rPr lang="en-US" sz="28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		</a:t>
            </a:r>
          </a:p>
        </p:txBody>
      </p:sp>
      <p:sp>
        <p:nvSpPr>
          <p:cNvPr id="9626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6858000" cy="10668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>
              <a:defRPr/>
            </a:pPr>
            <a:r>
              <a:rPr lang="en-US" sz="400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447800"/>
            <a:ext cx="7315200" cy="4572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7663" indent="-347663" algn="just" eaLnBrk="1" hangingPunct="1">
              <a:spcBef>
                <a:spcPct val="4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Thus, we have shown that for every real number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 proposition</a:t>
            </a:r>
          </a:p>
          <a:p>
            <a:pPr marL="347663" indent="-347663" algn="just" eaLnBrk="1" hangingPunct="1">
              <a:spcBef>
                <a:spcPct val="4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if x &gt;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x +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&gt; 1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7663" indent="-347663" algn="just" eaLnBrk="1" hangingPunct="1">
              <a:spcBef>
                <a:spcPct val="4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is true. Therefore the universally quantified statement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real number x, if x &gt;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x +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&gt; 1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true.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76200"/>
            <a:ext cx="70104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46238"/>
            <a:ext cx="6705600" cy="36115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 algn="just" eaLnBrk="1" hangingPunct="1">
              <a:buFontTx/>
              <a:buNone/>
              <a:defRPr/>
            </a:pPr>
            <a:r>
              <a:rPr lang="en-US" sz="36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universally quantified statement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real number x, x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-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&gt; 0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false since,  if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1, the proposition 1</a:t>
            </a:r>
            <a:r>
              <a:rPr lang="en-US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- 1 &gt; 0 is false. The value 1 is a counterexample to the statement 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real number x, x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-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&gt; 0.</a:t>
            </a:r>
          </a:p>
          <a:p>
            <a:pPr marL="339725" indent="-339725" eaLnBrk="1" hangingPunct="1">
              <a:buFontTx/>
              <a:buNone/>
              <a:defRPr/>
            </a:pP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600200"/>
            <a:ext cx="7391400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Note:</a:t>
            </a:r>
          </a:p>
          <a:p>
            <a:pPr marL="339725" indent="-339725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To show that the universally quantified statement </a:t>
            </a:r>
          </a:p>
          <a:p>
            <a:pPr marL="339725" indent="-339725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every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} </a:t>
            </a:r>
          </a:p>
          <a:p>
            <a:pPr marL="339725" indent="-339725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false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it is sufficient to find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one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value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domain of discourse for which the proposition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} is false, that is, it is sufficient to give a counterexample. 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600200"/>
            <a:ext cx="7620000" cy="472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The method of disproving the statement </a:t>
            </a:r>
          </a:p>
          <a:p>
            <a:pPr marL="339725" indent="-339725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for every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} </a:t>
            </a:r>
          </a:p>
          <a:p>
            <a:pPr marL="339725" indent="-339725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quite different from the method used to prove that the statement is true.  To prove that </a:t>
            </a:r>
          </a:p>
          <a:p>
            <a:pPr marL="339725" indent="-339725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for every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} </a:t>
            </a:r>
          </a:p>
          <a:p>
            <a:pPr marL="339725" indent="-339725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is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true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we must, in effect, examine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every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value of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domain of discourse and show that for every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} is true. 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-152400" y="1828800"/>
            <a:ext cx="7848600" cy="3200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 algn="just" eaLnBrk="1" hangingPunct="1">
              <a:buFontTx/>
              <a:buNone/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universally quantified statement </a:t>
            </a:r>
          </a:p>
          <a:p>
            <a:pPr marL="339725" indent="-339725" algn="just" eaLnBrk="1" hangingPunct="1"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for every positive integer n, </a:t>
            </a:r>
          </a:p>
          <a:p>
            <a:pPr marL="339725" indent="-339725" algn="just" eaLnBrk="1" hangingPunct="1"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if n is even, then n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n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+ 19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	prime </a:t>
            </a:r>
          </a:p>
          <a:p>
            <a:pPr marL="339725" indent="-339725" algn="just" eaLnBrk="1" hangingPunct="1"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false.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</a:p>
          <a:p>
            <a:pPr marL="339725" indent="-339725" eaLnBrk="1" hangingPunct="1">
              <a:buFontTx/>
              <a:buNone/>
              <a:defRPr/>
            </a:pPr>
            <a:endParaRPr lang="en-US" sz="360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0" y="76200"/>
            <a:ext cx="70104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152400" y="1600200"/>
            <a:ext cx="7239000" cy="4800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 counterexample is obtained by taking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38. The conditional proposition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if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38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even, then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38</a:t>
            </a:r>
            <a:r>
              <a:rPr lang="en-US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+ 38 + 19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prime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false because the hypothesis 38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even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true, but the conclusion 38</a:t>
            </a:r>
            <a:r>
              <a:rPr lang="en-US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+ 38 + 19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prime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false. 38</a:t>
            </a:r>
            <a:r>
              <a:rPr lang="en-US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+ 38 + 19 is not prime since it can be factored: </a:t>
            </a:r>
          </a:p>
          <a:p>
            <a:pPr marL="339725" indent="-339725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38</a:t>
            </a:r>
            <a:r>
              <a:rPr lang="en-US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+ 38 + 19 = 38 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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38 + 38 + 19 </a:t>
            </a:r>
          </a:p>
          <a:p>
            <a:pPr marL="339725" indent="-339725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= 19(2 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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38 + 2 + 1) = 19 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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79.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-152400" y="1600200"/>
            <a:ext cx="7543800" cy="5257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The existentially quantified statement 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       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is true because it is possible to find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at least one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real number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for which the proposition </a:t>
            </a:r>
          </a:p>
          <a:p>
            <a:pPr marL="404813" indent="-404813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	            </a:t>
            </a:r>
          </a:p>
          <a:p>
            <a:pPr marL="404813" indent="-404813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      is true. </a:t>
            </a:r>
          </a:p>
          <a:p>
            <a:pPr marL="404813" indent="-404813" eaLnBrk="1" hangingPunct="1">
              <a:lnSpc>
                <a:spcPct val="90000"/>
              </a:lnSpc>
              <a:buFontTx/>
              <a:buNone/>
              <a:defRPr/>
            </a:pP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  <p:sp>
        <p:nvSpPr>
          <p:cNvPr id="36867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graphicFrame>
        <p:nvGraphicFramePr>
          <p:cNvPr id="36868" name="Object 5"/>
          <p:cNvGraphicFramePr>
            <a:graphicFrameLocks noChangeAspect="1"/>
          </p:cNvGraphicFramePr>
          <p:nvPr/>
        </p:nvGraphicFramePr>
        <p:xfrm>
          <a:off x="990600" y="2209800"/>
          <a:ext cx="53276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6" name="Equation" r:id="rId3" imgW="2457367" imgH="409500" progId="Equation.3">
                  <p:embed/>
                </p:oleObj>
              </mc:Choice>
              <mc:Fallback>
                <p:oleObj name="Equation" r:id="rId3" imgW="2457367" imgH="409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09800"/>
                        <a:ext cx="532765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13"/>
          <p:cNvGraphicFramePr>
            <a:graphicFrameLocks noChangeAspect="1"/>
          </p:cNvGraphicFramePr>
          <p:nvPr>
            <p:ph sz="quarter" idx="3"/>
          </p:nvPr>
        </p:nvGraphicFramePr>
        <p:xfrm>
          <a:off x="1828800" y="4870450"/>
          <a:ext cx="19050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Equation" r:id="rId5" imgW="638076" imgH="371416" progId="Equation.3">
                  <p:embed/>
                </p:oleObj>
              </mc:Choice>
              <mc:Fallback>
                <p:oleObj name="Equation" r:id="rId5" imgW="638076" imgH="37141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70450"/>
                        <a:ext cx="19050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Rectangle 1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34834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762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-152400" y="1600200"/>
            <a:ext cx="7239000" cy="5257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For example, if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2, we obtain the true proposition </a:t>
            </a:r>
          </a:p>
          <a:p>
            <a:pPr marL="404813" indent="-404813" algn="just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		</a:t>
            </a:r>
          </a:p>
          <a:p>
            <a:pPr marL="404813" indent="-404813" algn="just" eaLnBrk="1" hangingPunct="1">
              <a:buFontTx/>
              <a:buNone/>
              <a:defRPr/>
            </a:pP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algn="just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It is not the case that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every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value of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results in a true proposition. For example, the proposition 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		is false.</a:t>
            </a: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>
            <p:ph sz="quarter" idx="2"/>
          </p:nvPr>
        </p:nvGraphicFramePr>
        <p:xfrm>
          <a:off x="1981200" y="2667000"/>
          <a:ext cx="167640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" name="Equation" r:id="rId3" imgW="628620" imgH="371416" progId="Equation.3">
                  <p:embed/>
                </p:oleObj>
              </mc:Choice>
              <mc:Fallback>
                <p:oleObj name="Equation" r:id="rId3" imgW="628620" imgH="37141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667000"/>
                        <a:ext cx="1676400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8"/>
          <p:cNvGraphicFramePr>
            <a:graphicFrameLocks noChangeAspect="1"/>
          </p:cNvGraphicFramePr>
          <p:nvPr/>
        </p:nvGraphicFramePr>
        <p:xfrm>
          <a:off x="1828800" y="5257800"/>
          <a:ext cx="152400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9" name="Equation" r:id="rId5" imgW="628620" imgH="371416" progId="Equation.3">
                  <p:embed/>
                </p:oleObj>
              </mc:Choice>
              <mc:Fallback>
                <p:oleObj name="Equation" r:id="rId5" imgW="628620" imgH="37141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257800"/>
                        <a:ext cx="152400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524000"/>
            <a:ext cx="6934200" cy="5257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lnSpc>
                <a:spcPct val="80000"/>
              </a:lnSpc>
              <a:spcBef>
                <a:spcPct val="40000"/>
              </a:spcBef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existentially quantified statement </a:t>
            </a:r>
          </a:p>
          <a:p>
            <a:pPr marL="404813" indent="-404813" algn="just" eaLnBrk="1" hangingPunct="1">
              <a:lnSpc>
                <a:spcPct val="80000"/>
              </a:lnSpc>
              <a:spcBef>
                <a:spcPct val="40000"/>
              </a:spcBef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   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some positive integer n, if n is prime, then n + 1, n + 2, n + 3, and     n + 4 are not prime.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marL="404813" indent="-404813" algn="just" eaLnBrk="1" hangingPunct="1">
              <a:lnSpc>
                <a:spcPct val="80000"/>
              </a:lnSpc>
              <a:spcBef>
                <a:spcPct val="40000"/>
              </a:spcBef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is true because we can find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at least one integer n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that makes this conditional proposition true. </a:t>
            </a:r>
          </a:p>
          <a:p>
            <a:pPr marL="404813" indent="-404813" algn="just" eaLnBrk="1" hangingPunct="1">
              <a:lnSpc>
                <a:spcPct val="80000"/>
              </a:lnSpc>
              <a:spcBef>
                <a:spcPct val="40000"/>
              </a:spcBef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example, if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23, we obtain the true proposition </a:t>
            </a:r>
          </a:p>
          <a:p>
            <a:pPr marL="404813" indent="-404813" algn="just" eaLnBrk="1" hangingPunct="1">
              <a:lnSpc>
                <a:spcPct val="80000"/>
              </a:lnSpc>
              <a:spcBef>
                <a:spcPct val="40000"/>
              </a:spcBef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if 23 is prime, then 24, 25, 26, and 27 are not prime. </a:t>
            </a:r>
          </a:p>
        </p:txBody>
      </p:sp>
      <p:sp>
        <p:nvSpPr>
          <p:cNvPr id="38915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38916" name="Rectangle 9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28600" y="2057400"/>
            <a:ext cx="6705600" cy="2514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lnSpc>
                <a:spcPct val="90000"/>
              </a:lnSpc>
              <a:spcBef>
                <a:spcPct val="4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This conditional proposition is true because both the hypothesis “23 is prime" and the conclusion "24, 25, 26, and 27 are not prime" are true.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7818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-76200" y="1676400"/>
            <a:ext cx="7620000" cy="4343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lnSpc>
                <a:spcPct val="90000"/>
              </a:lnSpc>
              <a:spcBef>
                <a:spcPct val="60000"/>
              </a:spcBef>
              <a:buFontTx/>
              <a:buNone/>
              <a:defRPr/>
            </a:pP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Some values of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make the conditional proposition</a:t>
            </a:r>
          </a:p>
          <a:p>
            <a:pPr marL="404813" indent="-404813" algn="just" eaLnBrk="1" hangingPunct="1">
              <a:lnSpc>
                <a:spcPct val="90000"/>
              </a:lnSpc>
              <a:spcBef>
                <a:spcPct val="60000"/>
              </a:spcBef>
              <a:buFontTx/>
              <a:buNone/>
              <a:defRPr/>
            </a:pP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    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some positive integer n, if n is prime, then  n + 1, n + 2, n + 3, and n + 4 are not prime </a:t>
            </a:r>
          </a:p>
          <a:p>
            <a:pPr marL="404813" indent="-404813" algn="just" eaLnBrk="1" hangingPunct="1">
              <a:lnSpc>
                <a:spcPct val="90000"/>
              </a:lnSpc>
              <a:spcBef>
                <a:spcPct val="60000"/>
              </a:spcBef>
              <a:buFontTx/>
              <a:buNone/>
              <a:defRPr/>
            </a:pP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true (e.g.,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23,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47), while others make it false (e.g.,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2,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101).</a:t>
            </a:r>
          </a:p>
          <a:p>
            <a:pPr marL="404813" indent="-404813" eaLnBrk="1" hangingPunct="1">
              <a:lnSpc>
                <a:spcPct val="80000"/>
              </a:lnSpc>
              <a:spcBef>
                <a:spcPct val="60000"/>
              </a:spcBef>
              <a:buFontTx/>
              <a:buNone/>
              <a:defRPr/>
            </a:pP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0964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09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9144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0" y="1676400"/>
            <a:ext cx="7010400" cy="4648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spcBef>
                <a:spcPct val="6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The point is that we found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one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value that makes the  proposition </a:t>
            </a:r>
          </a:p>
          <a:p>
            <a:pPr marL="404813" indent="-404813" algn="just" eaLnBrk="1" hangingPunct="1">
              <a:lnSpc>
                <a:spcPct val="80000"/>
              </a:lnSpc>
              <a:spcBef>
                <a:spcPct val="60000"/>
              </a:spcBef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    for some positive integer n, if n is prime, then n + 1, n + 2, n + 3, and     n + 4 are not prime </a:t>
            </a:r>
          </a:p>
          <a:p>
            <a:pPr marL="404813" indent="-404813" algn="just" eaLnBrk="1" hangingPunct="1">
              <a:lnSpc>
                <a:spcPct val="80000"/>
              </a:lnSpc>
              <a:spcBef>
                <a:spcPct val="6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true which makes the given existentially quantified statement true.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Quantifiers : Example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67056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Generalized De Morgan Laws for Logic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 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676400"/>
            <a:ext cx="7086600" cy="5257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 eaLnBrk="1" hangingPunct="1">
              <a:spcBef>
                <a:spcPct val="6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Theorem:</a:t>
            </a:r>
          </a:p>
          <a:p>
            <a:pPr marL="339725" indent="-339725" algn="just" eaLnBrk="1" hangingPunct="1">
              <a:spcBef>
                <a:spcPct val="6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If P is a propositional function, each pair of propositions in (a) and (b) has the same truth values (i.e., either both are true or both are false). </a:t>
            </a:r>
          </a:p>
        </p:txBody>
      </p:sp>
      <p:sp>
        <p:nvSpPr>
          <p:cNvPr id="43012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3013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3014" name="Rectangle 9"/>
          <p:cNvSpPr>
            <a:spLocks noChangeArrowheads="1"/>
          </p:cNvSpPr>
          <p:nvPr/>
        </p:nvSpPr>
        <p:spPr bwMode="auto">
          <a:xfrm>
            <a:off x="0" y="3190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graphicFrame>
        <p:nvGraphicFramePr>
          <p:cNvPr id="43015" name="Object 8"/>
          <p:cNvGraphicFramePr>
            <a:graphicFrameLocks noChangeAspect="1"/>
          </p:cNvGraphicFramePr>
          <p:nvPr/>
        </p:nvGraphicFramePr>
        <p:xfrm>
          <a:off x="1524000" y="4586288"/>
          <a:ext cx="4191000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2" name="Equation" r:id="rId3" imgW="1381300" imgH="409500" progId="Equation.3">
                  <p:embed/>
                </p:oleObj>
              </mc:Choice>
              <mc:Fallback>
                <p:oleObj name="Equation" r:id="rId3" imgW="1381300" imgH="409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586288"/>
                        <a:ext cx="4191000" cy="128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6" name="Rectangle 10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graphicFrame>
        <p:nvGraphicFramePr>
          <p:cNvPr id="43017" name="Object 7"/>
          <p:cNvGraphicFramePr>
            <a:graphicFrameLocks noChangeAspect="1"/>
          </p:cNvGraphicFramePr>
          <p:nvPr/>
        </p:nvGraphicFramePr>
        <p:xfrm>
          <a:off x="1477963" y="5551488"/>
          <a:ext cx="4237037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3" name="Equation" r:id="rId5" imgW="1362010" imgH="409500" progId="Equation.3">
                  <p:embed/>
                </p:oleObj>
              </mc:Choice>
              <mc:Fallback>
                <p:oleObj name="Equation" r:id="rId5" imgW="1362010" imgH="409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5551488"/>
                        <a:ext cx="4237037" cy="1306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67818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Generalized De Morgan Laws for Logic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 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0" y="1600200"/>
            <a:ext cx="7696200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 eaLnBrk="1" hangingPunct="1">
              <a:spcBef>
                <a:spcPct val="60000"/>
              </a:spcBef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Proof of (a):</a:t>
            </a:r>
          </a:p>
          <a:p>
            <a:pPr marL="339725" indent="-339725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 -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Suppose that the proposition                      is true. </a:t>
            </a:r>
          </a:p>
          <a:p>
            <a:pPr marL="339725" indent="-339725" algn="just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- Then the proposition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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false. </a:t>
            </a:r>
          </a:p>
          <a:p>
            <a:pPr marL="339725" indent="-339725" algn="just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- By Definition above, the proposition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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false precisely when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false for at least one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domain of discourse. </a:t>
            </a:r>
          </a:p>
        </p:txBody>
      </p:sp>
      <p:graphicFrame>
        <p:nvGraphicFramePr>
          <p:cNvPr id="45060" name="Object 11"/>
          <p:cNvGraphicFramePr>
            <a:graphicFrameLocks noChangeAspect="1"/>
          </p:cNvGraphicFramePr>
          <p:nvPr>
            <p:ph sz="quarter" idx="2"/>
          </p:nvPr>
        </p:nvGraphicFramePr>
        <p:xfrm>
          <a:off x="5943600" y="2209800"/>
          <a:ext cx="1371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8" name="Equation" r:id="rId3" imgW="542762" imgH="219079" progId="Equation.3">
                  <p:embed/>
                </p:oleObj>
              </mc:Choice>
              <mc:Fallback>
                <p:oleObj name="Equation" r:id="rId3" imgW="542762" imgH="21907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209800"/>
                        <a:ext cx="13716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0" y="3190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5064" name="Rectangle 9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5065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Generalized De Morgan Laws for Logic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0" y="1524000"/>
            <a:ext cx="8148638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 eaLnBrk="1" hangingPunct="1">
              <a:spcBef>
                <a:spcPct val="60000"/>
              </a:spcBef>
              <a:buFontTx/>
              <a:buNone/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Proof of (a):</a:t>
            </a:r>
          </a:p>
          <a:p>
            <a:pPr marL="339725" indent="-339725" eaLnBrk="1" hangingPunct="1">
              <a:buFontTx/>
              <a:buNone/>
              <a:defRPr/>
            </a:pP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- But if </a:t>
            </a:r>
            <a:r>
              <a:rPr lang="en-US" sz="28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false for at least one </a:t>
            </a:r>
            <a:r>
              <a:rPr lang="en-US" sz="28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domain of discourse,            is true for at least one </a:t>
            </a:r>
            <a:r>
              <a:rPr lang="en-US" sz="28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domain of discourse. </a:t>
            </a:r>
          </a:p>
          <a:p>
            <a:pPr marL="339725" indent="-339725" eaLnBrk="1" hangingPunct="1">
              <a:buFontTx/>
              <a:buNone/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- Again by definition of quantifiers, when             is true for at least one </a:t>
            </a:r>
            <a:r>
              <a:rPr lang="en-US" sz="28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domain of discourse, the proposition </a:t>
            </a: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</a:t>
            </a: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x,           is true. --- Thus if the proposition                 is true, the proposition </a:t>
            </a: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</a:t>
            </a: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x,         is true. </a:t>
            </a:r>
          </a:p>
        </p:txBody>
      </p:sp>
      <p:sp>
        <p:nvSpPr>
          <p:cNvPr id="46084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6085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6086" name="Rectangle 7"/>
          <p:cNvSpPr>
            <a:spLocks noChangeArrowheads="1"/>
          </p:cNvSpPr>
          <p:nvPr/>
        </p:nvSpPr>
        <p:spPr bwMode="auto">
          <a:xfrm>
            <a:off x="0" y="3190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6087" name="Rectangle 8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4608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graphicFrame>
        <p:nvGraphicFramePr>
          <p:cNvPr id="46089" name="Object 10"/>
          <p:cNvGraphicFramePr>
            <a:graphicFrameLocks noChangeAspect="1"/>
          </p:cNvGraphicFramePr>
          <p:nvPr/>
        </p:nvGraphicFramePr>
        <p:xfrm>
          <a:off x="3886200" y="2438400"/>
          <a:ext cx="7620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4" name="Equation" r:id="rId3" imgW="314310" imgH="219079" progId="Equation.3">
                  <p:embed/>
                </p:oleObj>
              </mc:Choice>
              <mc:Fallback>
                <p:oleObj name="Equation" r:id="rId3" imgW="314310" imgH="21907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438400"/>
                        <a:ext cx="7620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1"/>
          <p:cNvGraphicFramePr>
            <a:graphicFrameLocks noChangeAspect="1"/>
          </p:cNvGraphicFramePr>
          <p:nvPr>
            <p:ph sz="quarter" idx="3"/>
          </p:nvPr>
        </p:nvGraphicFramePr>
        <p:xfrm>
          <a:off x="5105400" y="4237038"/>
          <a:ext cx="8207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5" name="Equation" r:id="rId5" imgW="314310" imgH="219079" progId="Equation.3">
                  <p:embed/>
                </p:oleObj>
              </mc:Choice>
              <mc:Fallback>
                <p:oleObj name="Equation" r:id="rId5" imgW="314310" imgH="21907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237038"/>
                        <a:ext cx="820738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1" name="Object 12"/>
          <p:cNvGraphicFramePr>
            <a:graphicFrameLocks noChangeAspect="1"/>
          </p:cNvGraphicFramePr>
          <p:nvPr/>
        </p:nvGraphicFramePr>
        <p:xfrm>
          <a:off x="2800350" y="5159375"/>
          <a:ext cx="6858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6" name="Equation" r:id="rId7" imgW="314310" imgH="219079" progId="Equation.3">
                  <p:embed/>
                </p:oleObj>
              </mc:Choice>
              <mc:Fallback>
                <p:oleObj name="Equation" r:id="rId7" imgW="314310" imgH="21907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5159375"/>
                        <a:ext cx="6858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2" name="Object 13"/>
          <p:cNvGraphicFramePr>
            <a:graphicFrameLocks noChangeAspect="1"/>
          </p:cNvGraphicFramePr>
          <p:nvPr/>
        </p:nvGraphicFramePr>
        <p:xfrm>
          <a:off x="4076700" y="4665663"/>
          <a:ext cx="12954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7" name="Equation" r:id="rId9" imgW="542762" imgH="219079" progId="Equation.3">
                  <p:embed/>
                </p:oleObj>
              </mc:Choice>
              <mc:Fallback>
                <p:oleObj name="Equation" r:id="rId9" imgW="542762" imgH="21907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700" y="4665663"/>
                        <a:ext cx="12954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3" name="Object 14"/>
          <p:cNvGraphicFramePr>
            <a:graphicFrameLocks noChangeAspect="1"/>
          </p:cNvGraphicFramePr>
          <p:nvPr/>
        </p:nvGraphicFramePr>
        <p:xfrm>
          <a:off x="6919913" y="3441700"/>
          <a:ext cx="609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8" name="Equation" r:id="rId11" imgW="314310" imgH="219079" progId="Equation.3">
                  <p:embed/>
                </p:oleObj>
              </mc:Choice>
              <mc:Fallback>
                <p:oleObj name="Equation" r:id="rId11" imgW="314310" imgH="21907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913" y="3441700"/>
                        <a:ext cx="609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67818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Generalized De Morgan Laws for Logic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7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874838"/>
            <a:ext cx="8229600" cy="45259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eaLnBrk="1" hangingPunct="1">
              <a:lnSpc>
                <a:spcPct val="90000"/>
              </a:lnSpc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Verify that the existentially quantified statement </a:t>
            </a:r>
            <a:endParaRPr lang="en-US" sz="2400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lnSpc>
                <a:spcPct val="90000"/>
              </a:lnSpc>
              <a:buClr>
                <a:srgbClr val="0033CC"/>
              </a:buClr>
              <a:buFont typeface="Wingdings" panose="05000000000000000000" pitchFamily="2" charset="2"/>
              <a:buNone/>
              <a:defRPr/>
            </a:pPr>
            <a:r>
              <a:rPr lang="en-US" sz="24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endParaRPr lang="en-US" sz="240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lnSpc>
                <a:spcPct val="90000"/>
              </a:lnSpc>
              <a:buClr>
                <a:srgbClr val="0033CC"/>
              </a:buClr>
              <a:buFont typeface="Wingdings" panose="05000000000000000000" pitchFamily="2" charset="2"/>
              <a:buNone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  <a:p>
            <a:pPr marL="404813" indent="-404813" eaLnBrk="1" hangingPunct="1">
              <a:lnSpc>
                <a:spcPct val="90000"/>
              </a:lnSpc>
              <a:buClr>
                <a:srgbClr val="0033CC"/>
              </a:buClr>
              <a:buFont typeface="Wingdings" panose="05000000000000000000" pitchFamily="2" charset="2"/>
              <a:buNone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false.</a:t>
            </a:r>
          </a:p>
          <a:p>
            <a:pPr marL="404813" indent="-404813" eaLnBrk="1" hangingPunct="1">
              <a:lnSpc>
                <a:spcPct val="90000"/>
              </a:lnSpc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Solution.</a:t>
            </a:r>
          </a:p>
          <a:p>
            <a:pPr marL="404813" indent="-404813" eaLnBrk="1" hangingPunct="1">
              <a:lnSpc>
                <a:spcPct val="150000"/>
              </a:lnSpc>
              <a:buFontTx/>
              <a:buNone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We must show that                   is false for every real number </a:t>
            </a:r>
            <a:r>
              <a:rPr lang="en-US" sz="24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Now                  is false precisely when</a:t>
            </a:r>
          </a:p>
          <a:p>
            <a:pPr marL="404813" indent="-404813" eaLnBrk="1" hangingPunct="1">
              <a:lnSpc>
                <a:spcPct val="150000"/>
              </a:lnSpc>
              <a:buFontTx/>
              <a:buNone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is true. Thus, we must show that </a:t>
            </a:r>
          </a:p>
          <a:p>
            <a:pPr marL="404813" indent="-404813" eaLnBrk="1" hangingPunct="1">
              <a:lnSpc>
                <a:spcPct val="120000"/>
              </a:lnSpc>
              <a:buFontTx/>
              <a:buNone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true for every real number </a:t>
            </a:r>
            <a:r>
              <a:rPr lang="en-US" sz="24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</a:p>
        </p:txBody>
      </p:sp>
      <p:graphicFrame>
        <p:nvGraphicFramePr>
          <p:cNvPr id="47108" name="Object 22"/>
          <p:cNvGraphicFramePr>
            <a:graphicFrameLocks noChangeAspect="1"/>
          </p:cNvGraphicFramePr>
          <p:nvPr>
            <p:ph sz="quarter" idx="2"/>
          </p:nvPr>
        </p:nvGraphicFramePr>
        <p:xfrm>
          <a:off x="3359150" y="3886200"/>
          <a:ext cx="128905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3" name="Equation" r:id="rId3" imgW="580963" imgH="371416" progId="Equation.3">
                  <p:embed/>
                </p:oleObj>
              </mc:Choice>
              <mc:Fallback>
                <p:oleObj name="Equation" r:id="rId3" imgW="580963" imgH="37141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3886200"/>
                        <a:ext cx="128905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18"/>
          <p:cNvGraphicFramePr>
            <a:graphicFrameLocks noChangeAspect="1"/>
          </p:cNvGraphicFramePr>
          <p:nvPr/>
        </p:nvGraphicFramePr>
        <p:xfrm>
          <a:off x="1295400" y="2185988"/>
          <a:ext cx="501332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4" name="Equation" r:id="rId5" imgW="2104856" imgH="409500" progId="Equation.3">
                  <p:embed/>
                </p:oleObj>
              </mc:Choice>
              <mc:Fallback>
                <p:oleObj name="Equation" r:id="rId5" imgW="2104856" imgH="4095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185988"/>
                        <a:ext cx="5013325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24"/>
          <p:cNvGraphicFramePr>
            <a:graphicFrameLocks noChangeAspect="1"/>
          </p:cNvGraphicFramePr>
          <p:nvPr>
            <p:ph sz="quarter" idx="3"/>
          </p:nvPr>
        </p:nvGraphicFramePr>
        <p:xfrm>
          <a:off x="533400" y="4953000"/>
          <a:ext cx="14446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5" name="Equation" r:id="rId7" imgW="580963" imgH="371416" progId="Equation.3">
                  <p:embed/>
                </p:oleObj>
              </mc:Choice>
              <mc:Fallback>
                <p:oleObj name="Equation" r:id="rId7" imgW="580963" imgH="371416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953000"/>
                        <a:ext cx="14446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26"/>
          <p:cNvGraphicFramePr>
            <a:graphicFrameLocks noChangeAspect="1"/>
          </p:cNvGraphicFramePr>
          <p:nvPr/>
        </p:nvGraphicFramePr>
        <p:xfrm>
          <a:off x="2743200" y="4452938"/>
          <a:ext cx="12192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6" name="Equation" r:id="rId9" imgW="580963" imgH="371416" progId="Equation.3">
                  <p:embed/>
                </p:oleObj>
              </mc:Choice>
              <mc:Fallback>
                <p:oleObj name="Equation" r:id="rId9" imgW="580963" imgH="37141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52938"/>
                        <a:ext cx="121920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27"/>
          <p:cNvGraphicFramePr>
            <a:graphicFrameLocks noChangeAspect="1"/>
          </p:cNvGraphicFramePr>
          <p:nvPr/>
        </p:nvGraphicFramePr>
        <p:xfrm>
          <a:off x="6559550" y="5041900"/>
          <a:ext cx="13652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7" name="Equation" r:id="rId11" imgW="580963" imgH="371416" progId="Equation.3">
                  <p:embed/>
                </p:oleObj>
              </mc:Choice>
              <mc:Fallback>
                <p:oleObj name="Equation" r:id="rId11" imgW="580963" imgH="371416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9550" y="5041900"/>
                        <a:ext cx="13652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52400" y="1600200"/>
            <a:ext cx="7010400" cy="5715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Let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be any real number whatsoever. Since 0 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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000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we may add 1 to both sides of this inequality to obtain 1 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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000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+ 1. If we divide both sides of this last inequality by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000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+ 1, we obtain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</a:t>
            </a:r>
          </a:p>
        </p:txBody>
      </p:sp>
      <p:graphicFrame>
        <p:nvGraphicFramePr>
          <p:cNvPr id="48131" name="Object 5"/>
          <p:cNvGraphicFramePr>
            <a:graphicFrameLocks noChangeAspect="1"/>
          </p:cNvGraphicFramePr>
          <p:nvPr/>
        </p:nvGraphicFramePr>
        <p:xfrm>
          <a:off x="2743200" y="4343400"/>
          <a:ext cx="20574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name="Equation" r:id="rId3" imgW="580963" imgH="371416" progId="Equation.3">
                  <p:embed/>
                </p:oleObj>
              </mc:Choice>
              <mc:Fallback>
                <p:oleObj name="Equation" r:id="rId3" imgW="580963" imgH="37141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0574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76200"/>
            <a:ext cx="69342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Generalized De Morgan Laws for Logic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828800"/>
            <a:ext cx="7162800" cy="5715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Therefore the statement                  is true for every real number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</a:p>
          <a:p>
            <a:pPr marL="404813" indent="-404813" algn="just" eaLnBrk="1" hangingPunct="1">
              <a:lnSpc>
                <a:spcPct val="140000"/>
              </a:lnSpc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Thus             is false for every real number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We have shown that the existentially quantified statement                                          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is false. </a:t>
            </a:r>
          </a:p>
          <a:p>
            <a:pPr marL="404813" indent="-404813" eaLnBrk="1" hangingPunct="1">
              <a:buFontTx/>
              <a:buNone/>
              <a:defRPr/>
            </a:pPr>
            <a:endParaRPr lang="en-US" sz="280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9155" name="Object 3"/>
          <p:cNvGraphicFramePr>
            <a:graphicFrameLocks noChangeAspect="1"/>
          </p:cNvGraphicFramePr>
          <p:nvPr>
            <p:ph sz="quarter" idx="2"/>
          </p:nvPr>
        </p:nvGraphicFramePr>
        <p:xfrm>
          <a:off x="1828800" y="2743200"/>
          <a:ext cx="129063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" name="Equation" r:id="rId3" imgW="580963" imgH="371416" progId="Equation.3">
                  <p:embed/>
                </p:oleObj>
              </mc:Choice>
              <mc:Fallback>
                <p:oleObj name="Equation" r:id="rId3" imgW="580963" imgH="37141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743200"/>
                        <a:ext cx="1290638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6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4648200" y="1695450"/>
          <a:ext cx="133826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6" name="Equation" r:id="rId5" imgW="580963" imgH="371416" progId="Equation.3">
                  <p:embed/>
                </p:oleObj>
              </mc:Choice>
              <mc:Fallback>
                <p:oleObj name="Equation" r:id="rId5" imgW="580963" imgH="37141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695450"/>
                        <a:ext cx="1338263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6"/>
          <p:cNvGraphicFramePr>
            <a:graphicFrameLocks noChangeAspect="1"/>
          </p:cNvGraphicFramePr>
          <p:nvPr/>
        </p:nvGraphicFramePr>
        <p:xfrm>
          <a:off x="1371600" y="4572000"/>
          <a:ext cx="50133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7" name="Equation" r:id="rId7" imgW="2104856" imgH="409500" progId="Equation.3">
                  <p:embed/>
                </p:oleObj>
              </mc:Choice>
              <mc:Fallback>
                <p:oleObj name="Equation" r:id="rId7" imgW="2104856" imgH="409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572000"/>
                        <a:ext cx="5013325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228600"/>
            <a:ext cx="67818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Generalized De Morgan Laws for Logic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676400"/>
            <a:ext cx="7239000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lnSpc>
                <a:spcPct val="90000"/>
              </a:lnSpc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example just given illustrates the use of the Generalized de Morgan’s Law for Logic. </a:t>
            </a:r>
          </a:p>
          <a:p>
            <a:pPr marL="404813" indent="-404813" algn="just" eaLnBrk="1" hangingPunct="1">
              <a:lnSpc>
                <a:spcPct val="90000"/>
              </a:lnSpc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In the example, it was shown that an existentially quantified statement 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some real number x, P(x)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can be proven false by proving that a related universally quantified statement 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real number x, ~P(x) 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true. 	</a:t>
            </a:r>
          </a:p>
        </p:txBody>
      </p:sp>
      <p:sp>
        <p:nvSpPr>
          <p:cNvPr id="522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0" y="762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Generalized De Morgan Laws for Logic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600200"/>
            <a:ext cx="7848600" cy="5257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eaLnBrk="1" hangingPunct="1"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 universally quantified proposition generalizes the compound proposition 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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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. . .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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     	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(1)	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in the sense that the individual propositions 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P</a:t>
            </a:r>
            <a:r>
              <a:rPr lang="en-US" sz="2800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,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,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. . .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,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     	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are replaced by an arbitrary family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), where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a member of the domain of discourse, and (1) is replaced by 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every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			(2)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Generalized De Morgan Laws for Logic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981200"/>
            <a:ext cx="7315200" cy="3505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proposition (1) is true if and only if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i="1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true for every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1, . . . 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</a:p>
          <a:p>
            <a:pPr marL="404813" indent="-404813" algn="just" eaLnBrk="1" hangingPunct="1"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truth value of proposition (2) is defined similarly, that is (2) is true if and only if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true for every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domain of discourse. 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3048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Generalized De Morgan Laws for Logic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676400"/>
            <a:ext cx="7848600" cy="5257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7663" indent="-347663" eaLnBrk="1" hangingPunct="1">
              <a:lnSpc>
                <a:spcPct val="90000"/>
              </a:lnSpc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Similarly, an existentially quantified proposition generalizes the compound proposition </a:t>
            </a:r>
          </a:p>
          <a:p>
            <a:pPr marL="347663" indent="-347663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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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. . .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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i="1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	(3) </a:t>
            </a:r>
          </a:p>
          <a:p>
            <a:pPr marL="347663" indent="-347663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in the sense that the individual propositions</a:t>
            </a:r>
          </a:p>
          <a:p>
            <a:pPr marL="347663" indent="-347663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P</a:t>
            </a:r>
            <a:r>
              <a:rPr lang="en-US" sz="2800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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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. . .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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i="1" baseline="-25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	</a:t>
            </a:r>
          </a:p>
          <a:p>
            <a:pPr marL="347663" indent="-347663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are replaced by an arbitrary family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), where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a member of the domain of discourse, and (3) is replaced by </a:t>
            </a:r>
          </a:p>
          <a:p>
            <a:pPr marL="347663" indent="-347663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          for some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). </a:t>
            </a:r>
          </a:p>
        </p:txBody>
      </p:sp>
      <p:sp>
        <p:nvSpPr>
          <p:cNvPr id="5427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55304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Generalized De Morgan Laws for Logic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600200"/>
            <a:ext cx="7315200" cy="4800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7663" indent="-347663" algn="just" eaLnBrk="1" hangingPunct="1">
              <a:lnSpc>
                <a:spcPct val="90000"/>
              </a:lnSpc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preceding observations explain how the above theorem generalizes De Morgan's laws for logic (Law 2.5). Recall that the first De Morgan law for logic states that the propositions </a:t>
            </a:r>
          </a:p>
          <a:p>
            <a:pPr marL="347663" indent="-347663" eaLnBrk="1" hangingPunct="1">
              <a:lnSpc>
                <a:spcPct val="140000"/>
              </a:lnSpc>
              <a:buClr>
                <a:srgbClr val="0033CC"/>
              </a:buClr>
              <a:buFont typeface="Wingdings" panose="05000000000000000000" pitchFamily="2" charset="2"/>
              <a:buNone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                  and	 </a:t>
            </a:r>
          </a:p>
          <a:p>
            <a:pPr marL="347663" indent="-347663" eaLnBrk="1" hangingPunct="1">
              <a:lnSpc>
                <a:spcPct val="140000"/>
              </a:lnSpc>
              <a:buClr>
                <a:srgbClr val="0033CC"/>
              </a:buClr>
              <a:buFont typeface="Wingdings" panose="05000000000000000000" pitchFamily="2" charset="2"/>
              <a:buNone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have the same truth values. </a:t>
            </a:r>
          </a:p>
          <a:p>
            <a:pPr marL="347663" indent="-347663" eaLnBrk="1" hangingPunct="1">
              <a:lnSpc>
                <a:spcPct val="140000"/>
              </a:lnSpc>
              <a:buClr>
                <a:srgbClr val="0033CC"/>
              </a:buClr>
              <a:buFont typeface="Wingdings" panose="05000000000000000000" pitchFamily="2" charset="2"/>
              <a:buChar char="Ø"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In the above theorem part (b),   </a:t>
            </a:r>
          </a:p>
          <a:p>
            <a:pPr marL="347663" indent="-347663" eaLnBrk="1" hangingPunct="1">
              <a:lnSpc>
                <a:spcPct val="140000"/>
              </a:lnSpc>
              <a:buFontTx/>
              <a:buNone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		is replaced by</a:t>
            </a:r>
          </a:p>
          <a:p>
            <a:pPr marL="347663" indent="-347663" eaLnBrk="1" hangingPunct="1">
              <a:lnSpc>
                <a:spcPct val="140000"/>
              </a:lnSpc>
              <a:buFontTx/>
              <a:buNone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and                                  is replaced by 				</a:t>
            </a:r>
          </a:p>
        </p:txBody>
      </p:sp>
      <p:graphicFrame>
        <p:nvGraphicFramePr>
          <p:cNvPr id="55299" name="Object 9"/>
          <p:cNvGraphicFramePr>
            <a:graphicFrameLocks noChangeAspect="1"/>
          </p:cNvGraphicFramePr>
          <p:nvPr>
            <p:ph sz="quarter" idx="2"/>
          </p:nvPr>
        </p:nvGraphicFramePr>
        <p:xfrm>
          <a:off x="4262438" y="3048000"/>
          <a:ext cx="282416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0" name="Equation" r:id="rId3" imgW="1038244" imgH="199848" progId="Equation.3">
                  <p:embed/>
                </p:oleObj>
              </mc:Choice>
              <mc:Fallback>
                <p:oleObj name="Equation" r:id="rId3" imgW="1038244" imgH="19984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3048000"/>
                        <a:ext cx="2824162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graphicFrame>
        <p:nvGraphicFramePr>
          <p:cNvPr id="55301" name="Object 6"/>
          <p:cNvGraphicFramePr>
            <a:graphicFrameLocks noChangeAspect="1"/>
          </p:cNvGraphicFramePr>
          <p:nvPr/>
        </p:nvGraphicFramePr>
        <p:xfrm>
          <a:off x="838200" y="3024188"/>
          <a:ext cx="24384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1" name="Equation" r:id="rId5" imgW="971676" imgH="238310" progId="Equation.3">
                  <p:embed/>
                </p:oleObj>
              </mc:Choice>
              <mc:Fallback>
                <p:oleObj name="Equation" r:id="rId5" imgW="971676" imgH="2383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024188"/>
                        <a:ext cx="24384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13"/>
          <p:cNvGraphicFramePr>
            <a:graphicFrameLocks noChangeAspect="1"/>
          </p:cNvGraphicFramePr>
          <p:nvPr>
            <p:ph sz="quarter" idx="3"/>
          </p:nvPr>
        </p:nvGraphicFramePr>
        <p:xfrm>
          <a:off x="685800" y="4724400"/>
          <a:ext cx="29860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2" name="Equation" r:id="rId7" imgW="1038244" imgH="199848" progId="Equation.3">
                  <p:embed/>
                </p:oleObj>
              </mc:Choice>
              <mc:Fallback>
                <p:oleObj name="Equation" r:id="rId7" imgW="1038244" imgH="19984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724400"/>
                        <a:ext cx="298608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15"/>
          <p:cNvGraphicFramePr>
            <a:graphicFrameLocks noChangeAspect="1"/>
          </p:cNvGraphicFramePr>
          <p:nvPr/>
        </p:nvGraphicFramePr>
        <p:xfrm>
          <a:off x="5791200" y="4781550"/>
          <a:ext cx="14478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3" name="Equation" r:id="rId9" imgW="542762" imgH="219079" progId="Equation.3">
                  <p:embed/>
                </p:oleObj>
              </mc:Choice>
              <mc:Fallback>
                <p:oleObj name="Equation" r:id="rId9" imgW="542762" imgH="21907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781550"/>
                        <a:ext cx="14478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17"/>
          <p:cNvGraphicFramePr>
            <a:graphicFrameLocks noChangeAspect="1"/>
          </p:cNvGraphicFramePr>
          <p:nvPr/>
        </p:nvGraphicFramePr>
        <p:xfrm>
          <a:off x="1295400" y="5334000"/>
          <a:ext cx="24384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4" name="Equation" r:id="rId11" imgW="971676" imgH="238310" progId="Equation.3">
                  <p:embed/>
                </p:oleObj>
              </mc:Choice>
              <mc:Fallback>
                <p:oleObj name="Equation" r:id="rId11" imgW="971676" imgH="23831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334000"/>
                        <a:ext cx="24384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5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graphicFrame>
        <p:nvGraphicFramePr>
          <p:cNvPr id="55306" name="Object 18"/>
          <p:cNvGraphicFramePr>
            <a:graphicFrameLocks noChangeAspect="1"/>
          </p:cNvGraphicFramePr>
          <p:nvPr/>
        </p:nvGraphicFramePr>
        <p:xfrm>
          <a:off x="5848350" y="5340350"/>
          <a:ext cx="1633538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5" name="Equation" r:id="rId13" imgW="562051" imgH="228506" progId="Equation.3">
                  <p:embed/>
                </p:oleObj>
              </mc:Choice>
              <mc:Fallback>
                <p:oleObj name="Equation" r:id="rId13" imgW="562051" imgH="22850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350" y="5340350"/>
                        <a:ext cx="1633538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1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Generalized De Morgan Laws for Logic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143000"/>
            <a:ext cx="7315200" cy="5257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Statements in words often have more than one possible interpretation. </a:t>
            </a:r>
          </a:p>
          <a:p>
            <a:pPr marL="404813" indent="-404813" algn="just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Consider the well-known quotation from Shakespeare </a:t>
            </a:r>
          </a:p>
          <a:p>
            <a:pPr marL="404813" indent="-404813" algn="just" eaLnBrk="1" hangingPunct="1">
              <a:buSzPct val="70000"/>
              <a:buFontTx/>
              <a:buNone/>
              <a:defRPr/>
            </a:pPr>
            <a:r>
              <a:rPr lang="en-US" b="1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All that glitters is not gold. </a:t>
            </a: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algn="just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One possible interpretation of this quotation is: </a:t>
            </a:r>
          </a:p>
          <a:p>
            <a:pPr marL="404813" indent="-404813" algn="just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Nothing that glitters is gold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marL="404813" indent="-404813" algn="just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(i.e., a gold object never glitters). </a:t>
            </a:r>
          </a:p>
        </p:txBody>
      </p:sp>
      <p:sp>
        <p:nvSpPr>
          <p:cNvPr id="5632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5632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56325" name="Rectangle 8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2475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28600" y="1676400"/>
            <a:ext cx="7162800" cy="3429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However, this is surely not what Shakespeare intended. </a:t>
            </a:r>
          </a:p>
          <a:p>
            <a:pPr marL="404813" indent="-404813" algn="just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correct interpretation is: 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Not all that glitters is gold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or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Something that glitters is not gold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1075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67818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304800" y="1219200"/>
            <a:ext cx="6934200" cy="5410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buSzPct val="70000"/>
              <a:buFontTx/>
              <a:buBlip>
                <a:blip r:embed="rId3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If we let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be the propositional function "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glitters" and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be the propositional function "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is gold," the first interpretation becomes </a:t>
            </a:r>
          </a:p>
          <a:p>
            <a:pPr marL="404813" indent="-404813" algn="just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for all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 				</a:t>
            </a:r>
          </a:p>
          <a:p>
            <a:pPr marL="404813" indent="-404813" algn="just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and the second interpretation becomes 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for all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 </a:t>
            </a:r>
          </a:p>
        </p:txBody>
      </p:sp>
      <p:graphicFrame>
        <p:nvGraphicFramePr>
          <p:cNvPr id="58371" name="Object 9"/>
          <p:cNvGraphicFramePr>
            <a:graphicFrameLocks noChangeAspect="1"/>
          </p:cNvGraphicFramePr>
          <p:nvPr>
            <p:ph sz="quarter" idx="2"/>
          </p:nvPr>
        </p:nvGraphicFramePr>
        <p:xfrm>
          <a:off x="2686050" y="4881563"/>
          <a:ext cx="23431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2" name="Equation" r:id="rId4" imgW="752302" imgH="219079" progId="Equation.3">
                  <p:embed/>
                </p:oleObj>
              </mc:Choice>
              <mc:Fallback>
                <p:oleObj name="Equation" r:id="rId4" imgW="752302" imgH="21907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4881563"/>
                        <a:ext cx="234315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5837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5837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graphicFrame>
        <p:nvGraphicFramePr>
          <p:cNvPr id="58375" name="Object 8"/>
          <p:cNvGraphicFramePr>
            <a:graphicFrameLocks noChangeAspect="1"/>
          </p:cNvGraphicFramePr>
          <p:nvPr/>
        </p:nvGraphicFramePr>
        <p:xfrm>
          <a:off x="2743200" y="3276600"/>
          <a:ext cx="20923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3" name="Equation" r:id="rId6" imgW="828704" imgH="219079" progId="Equation.3">
                  <p:embed/>
                </p:oleObj>
              </mc:Choice>
              <mc:Fallback>
                <p:oleObj name="Equation" r:id="rId6" imgW="828704" imgH="21907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276600"/>
                        <a:ext cx="209232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6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6578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371600"/>
            <a:ext cx="7543800" cy="5410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eaLnBrk="1" hangingPunct="1">
              <a:buSzPct val="70000"/>
              <a:buFontTx/>
              <a:buBlip>
                <a:blip r:embed="rId3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From Chapter 2 [Law 2.4], we have seen that 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buSzPct val="70000"/>
              <a:buFontTx/>
              <a:buNone/>
              <a:defRPr/>
            </a:pP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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q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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~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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q 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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~(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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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~(~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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marL="404813" indent="-404813" eaLnBrk="1" hangingPunct="1">
              <a:buSzPct val="70000"/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           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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~(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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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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~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  <a:p>
            <a:pPr marL="404813" indent="-404813" eaLnBrk="1" hangingPunct="1">
              <a:buSzPct val="70000"/>
              <a:buFontTx/>
              <a:buBlip>
                <a:blip r:embed="rId3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Hence, the truth values of  the propositional function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		for some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                   and </a:t>
            </a:r>
          </a:p>
          <a:p>
            <a:pPr marL="404813" indent="-404813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for some x,			are the same.</a:t>
            </a:r>
          </a:p>
        </p:txBody>
      </p:sp>
      <p:sp>
        <p:nvSpPr>
          <p:cNvPr id="5939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5939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5939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graphicFrame>
        <p:nvGraphicFramePr>
          <p:cNvPr id="59398" name="Object 8"/>
          <p:cNvGraphicFramePr>
            <a:graphicFrameLocks noChangeAspect="1"/>
          </p:cNvGraphicFramePr>
          <p:nvPr>
            <p:ph sz="quarter" idx="3"/>
          </p:nvPr>
        </p:nvGraphicFramePr>
        <p:xfrm>
          <a:off x="3124200" y="4662488"/>
          <a:ext cx="19050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6" name="Equation" r:id="rId4" imgW="752302" imgH="219079" progId="Equation.3">
                  <p:embed/>
                </p:oleObj>
              </mc:Choice>
              <mc:Fallback>
                <p:oleObj name="Equation" r:id="rId4" imgW="752302" imgH="21907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662488"/>
                        <a:ext cx="190500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graphicFrame>
        <p:nvGraphicFramePr>
          <p:cNvPr id="59400" name="Object 10"/>
          <p:cNvGraphicFramePr>
            <a:graphicFrameLocks noChangeAspect="1"/>
          </p:cNvGraphicFramePr>
          <p:nvPr/>
        </p:nvGraphicFramePr>
        <p:xfrm>
          <a:off x="3352800" y="5257800"/>
          <a:ext cx="19812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7" name="Equation" r:id="rId6" imgW="828704" imgH="219079" progId="Equation.3">
                  <p:embed/>
                </p:oleObj>
              </mc:Choice>
              <mc:Fallback>
                <p:oleObj name="Equation" r:id="rId6" imgW="828704" imgH="21907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257800"/>
                        <a:ext cx="19812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9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67818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381000" y="1417638"/>
            <a:ext cx="6324600" cy="45259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 algn="just" eaLnBrk="1" hangingPunct="1">
              <a:lnSpc>
                <a:spcPct val="90000"/>
              </a:lnSpc>
              <a:buSzPct val="70000"/>
              <a:buFontTx/>
              <a:buBlip>
                <a:blip r:embed="rId3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Using the Generalized De Morgan Laws for Logic, the truth values of </a:t>
            </a:r>
          </a:p>
          <a:p>
            <a:pPr marL="339725" indent="-339725" eaLnBrk="1" hangingPunct="1">
              <a:lnSpc>
                <a:spcPct val="90000"/>
              </a:lnSpc>
              <a:buSzPct val="70000"/>
              <a:buFontTx/>
              <a:buNone/>
              <a:defRPr/>
            </a:pP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for some 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                     and </a:t>
            </a:r>
          </a:p>
          <a:p>
            <a:pPr marL="339725" indent="-339725" algn="just" eaLnBrk="1" hangingPunct="1">
              <a:lnSpc>
                <a:spcPct val="90000"/>
              </a:lnSpc>
              <a:spcBef>
                <a:spcPct val="40000"/>
              </a:spcBef>
              <a:buSzPct val="70000"/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			    are the same. </a:t>
            </a:r>
          </a:p>
          <a:p>
            <a:pPr marL="339725" indent="-339725" algn="just" eaLnBrk="1" hangingPunct="1">
              <a:lnSpc>
                <a:spcPct val="90000"/>
              </a:lnSpc>
              <a:spcBef>
                <a:spcPct val="40000"/>
              </a:spcBef>
              <a:buSzPct val="70000"/>
              <a:buFontTx/>
              <a:buBlip>
                <a:blip r:embed="rId3"/>
              </a:buBlip>
              <a:defRPr/>
            </a:pPr>
            <a:endParaRPr lang="en-US" sz="280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39725" indent="-339725" algn="just" eaLnBrk="1" hangingPunct="1">
              <a:lnSpc>
                <a:spcPct val="90000"/>
              </a:lnSpc>
              <a:buSzPct val="70000"/>
              <a:buFontTx/>
              <a:buBlip>
                <a:blip r:embed="rId3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Thus an equivalent way to represent the second interpretation is </a:t>
            </a:r>
          </a:p>
          <a:p>
            <a:pPr marL="339725" indent="-339725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. </a:t>
            </a:r>
          </a:p>
        </p:txBody>
      </p:sp>
      <p:graphicFrame>
        <p:nvGraphicFramePr>
          <p:cNvPr id="60419" name="Object 11"/>
          <p:cNvGraphicFramePr>
            <a:graphicFrameLocks noChangeAspect="1"/>
          </p:cNvGraphicFramePr>
          <p:nvPr>
            <p:ph sz="quarter" idx="2"/>
          </p:nvPr>
        </p:nvGraphicFramePr>
        <p:xfrm>
          <a:off x="3194050" y="2209800"/>
          <a:ext cx="19875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3" name="Equation" r:id="rId4" imgW="809793" imgH="219079" progId="Equation.3">
                  <p:embed/>
                </p:oleObj>
              </mc:Choice>
              <mc:Fallback>
                <p:oleObj name="Equation" r:id="rId4" imgW="809793" imgH="21907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2209800"/>
                        <a:ext cx="198755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042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042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0423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graphicFrame>
        <p:nvGraphicFramePr>
          <p:cNvPr id="60424" name="Object 13"/>
          <p:cNvGraphicFramePr>
            <a:graphicFrameLocks noChangeAspect="1"/>
          </p:cNvGraphicFramePr>
          <p:nvPr/>
        </p:nvGraphicFramePr>
        <p:xfrm>
          <a:off x="1295400" y="2743200"/>
          <a:ext cx="37338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4" name="Equation" r:id="rId6" imgW="1428579" imgH="247736" progId="Equation.3">
                  <p:embed/>
                </p:oleObj>
              </mc:Choice>
              <mc:Fallback>
                <p:oleObj name="Equation" r:id="rId6" imgW="1428579" imgH="24773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743200"/>
                        <a:ext cx="37338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5" name="Object 15"/>
          <p:cNvGraphicFramePr>
            <a:graphicFrameLocks noChangeAspect="1"/>
          </p:cNvGraphicFramePr>
          <p:nvPr>
            <p:ph sz="quarter" idx="3"/>
          </p:nvPr>
        </p:nvGraphicFramePr>
        <p:xfrm>
          <a:off x="1295400" y="5240338"/>
          <a:ext cx="422910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5" name="Equation" r:id="rId8" imgW="1428579" imgH="247736" progId="Equation.3">
                  <p:embed/>
                </p:oleObj>
              </mc:Choice>
              <mc:Fallback>
                <p:oleObj name="Equation" r:id="rId8" imgW="1428579" imgH="24773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240338"/>
                        <a:ext cx="422910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02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762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533400" y="1371600"/>
            <a:ext cx="6019800" cy="45307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68313" indent="-468313" algn="just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Comparing the symbolic representations of the two interpretations, we see that the ambiguity results from whether the negation applies to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(the first interpretation) or to the entire statement </a:t>
            </a:r>
          </a:p>
          <a:p>
            <a:pPr marL="868363" lvl="1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for all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→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                     </a:t>
            </a:r>
          </a:p>
          <a:p>
            <a:pPr marL="868363" lvl="1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(the second interpretation). </a:t>
            </a:r>
          </a:p>
          <a:p>
            <a:pPr marL="868363" lvl="1" algn="just" eaLnBrk="1" hangingPunct="1">
              <a:buFontTx/>
              <a:buNone/>
              <a:defRPr/>
            </a:pPr>
            <a:r>
              <a:rPr lang="en-US" sz="2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6144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144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144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144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0672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6858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A Generalization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-228600" y="1905000"/>
            <a:ext cx="7696200" cy="2438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68313" indent="-468313" algn="just" eaLnBrk="1" hangingPunct="1">
              <a:buFontTx/>
              <a:buNone/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For positive statements, the words </a:t>
            </a:r>
          </a:p>
          <a:p>
            <a:pPr marL="468313" indent="-468313" algn="just" eaLnBrk="1" hangingPunct="1">
              <a:buFontTx/>
              <a:buNone/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"any," "all," "each," and "every" </a:t>
            </a:r>
          </a:p>
          <a:p>
            <a:pPr marL="468313" indent="-468313" algn="just" eaLnBrk="1" hangingPunct="1">
              <a:buFontTx/>
              <a:buNone/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have the same meaning. </a:t>
            </a:r>
          </a:p>
        </p:txBody>
      </p:sp>
      <p:sp>
        <p:nvSpPr>
          <p:cNvPr id="6246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246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247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247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228600"/>
            <a:ext cx="6781800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A Generalization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-304800" y="1219200"/>
            <a:ext cx="8229600" cy="5257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68313" indent="-4683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In negative statements, the situation changes.  The statements </a:t>
            </a:r>
          </a:p>
          <a:p>
            <a:pPr marL="468313" indent="-4683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Not all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is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 </a:t>
            </a:r>
          </a:p>
          <a:p>
            <a:pPr marL="468313" indent="-4683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Not each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is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 </a:t>
            </a:r>
          </a:p>
          <a:p>
            <a:pPr marL="468313" indent="-4683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Not every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is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 </a:t>
            </a:r>
          </a:p>
          <a:p>
            <a:pPr marL="468313" indent="-4683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are considered to have the same meaning as </a:t>
            </a:r>
          </a:p>
          <a:p>
            <a:pPr marL="468313" indent="-4683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Some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is not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2.</a:t>
            </a:r>
          </a:p>
          <a:p>
            <a:pPr marL="468313" indent="-4683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whereas   Not any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is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 </a:t>
            </a:r>
          </a:p>
          <a:p>
            <a:pPr marL="468313" indent="-468313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means	No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 is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2 .</a:t>
            </a: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28600" y="1371600"/>
            <a:ext cx="6858000" cy="5029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lnSpc>
                <a:spcPct val="90000"/>
              </a:lnSpc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Suppose that the domain of discourse is the set of real numbers. 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Consider the statement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x, for some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0.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meaning of this statement is that for any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whatsoever, there is at least one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which may depend on the choice of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such that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0. 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We can show that the statement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x, for some 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0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true.</a:t>
            </a: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6451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451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451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451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2719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67818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371600"/>
            <a:ext cx="7239000" cy="4648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lnSpc>
                <a:spcPct val="90000"/>
              </a:lnSpc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any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we can find at least one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namely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-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such that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0 is true.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Suppose that we revise the above statement to read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  for some y, for every x,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0.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If this statement is true, then it is possible to select some value of y such that the statement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 every 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0</a:t>
            </a:r>
          </a:p>
          <a:p>
            <a:pPr marL="404813" indent="-404813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true. </a:t>
            </a:r>
          </a:p>
        </p:txBody>
      </p:sp>
      <p:sp>
        <p:nvSpPr>
          <p:cNvPr id="6553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554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554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554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3738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28600" y="1524000"/>
            <a:ext cx="6781800" cy="4572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However, we can disprove this last statement with a counterexample. </a:t>
            </a:r>
          </a:p>
          <a:p>
            <a:pPr marL="404813" indent="-404813" algn="just" eaLnBrk="1" hangingPunct="1"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example, we might take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1 –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We then obtain the false statement</a:t>
            </a:r>
          </a:p>
          <a:p>
            <a:pPr marL="404813" indent="-404813" algn="just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1 –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0.</a:t>
            </a:r>
          </a:p>
          <a:p>
            <a:pPr marL="404813" indent="-404813" algn="just" eaLnBrk="1" hangingPunct="1"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Therefore the statement</a:t>
            </a:r>
          </a:p>
          <a:p>
            <a:pPr marL="404813" indent="-404813" algn="just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for some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for every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+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0</a:t>
            </a:r>
          </a:p>
          <a:p>
            <a:pPr marL="404813" indent="-404813" algn="just" eaLnBrk="1" hangingPunct="1"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false.</a:t>
            </a:r>
          </a:p>
        </p:txBody>
      </p:sp>
      <p:sp>
        <p:nvSpPr>
          <p:cNvPr id="6656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656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656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476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838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28600" y="1447800"/>
            <a:ext cx="7467600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algn="just" eaLnBrk="1" hangingPunct="1">
              <a:lnSpc>
                <a:spcPct val="90000"/>
              </a:lnSpc>
              <a:buSzPct val="70000"/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Let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be the statement</a:t>
            </a:r>
          </a:p>
          <a:p>
            <a:pPr marL="404813" indent="-404813" algn="just" eaLnBrk="1" hangingPunct="1">
              <a:lnSpc>
                <a:spcPct val="90000"/>
              </a:lnSpc>
              <a:buSzPct val="70000"/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if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&lt;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&lt;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			</a:t>
            </a:r>
          </a:p>
          <a:p>
            <a:pPr marL="404813" indent="-404813" algn="just" eaLnBrk="1" hangingPunct="1">
              <a:lnSpc>
                <a:spcPct val="90000"/>
              </a:lnSpc>
              <a:buSzPct val="70000"/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This statement has its domain of discourse the set of real numbers. </a:t>
            </a:r>
          </a:p>
          <a:p>
            <a:pPr marL="404813" indent="-404813" algn="just" eaLnBrk="1" hangingPunct="1">
              <a:lnSpc>
                <a:spcPct val="90000"/>
              </a:lnSpc>
              <a:buSzPct val="70000"/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Now, the statement </a:t>
            </a:r>
            <a:endParaRPr lang="en-US" sz="2800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algn="just" eaLnBrk="1" hangingPunct="1">
              <a:lnSpc>
                <a:spcPct val="90000"/>
              </a:lnSpc>
              <a:buSzPct val="70000"/>
              <a:buFontTx/>
              <a:buNone/>
              <a:defRPr/>
            </a:pP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for every x, for every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</a:p>
          <a:p>
            <a:pPr marL="404813" indent="-404813" algn="just" eaLnBrk="1" hangingPunct="1">
              <a:lnSpc>
                <a:spcPct val="90000"/>
              </a:lnSpc>
              <a:buSzPct val="70000"/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false. </a:t>
            </a:r>
          </a:p>
          <a:p>
            <a:pPr marL="404813" indent="-404813" algn="just" eaLnBrk="1" hangingPunct="1">
              <a:lnSpc>
                <a:spcPct val="90000"/>
              </a:lnSpc>
              <a:buSzPct val="70000"/>
              <a:buFontTx/>
              <a:buBlip>
                <a:blip r:embed="rId2"/>
              </a:buBlip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 counterexample is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1, </a:t>
            </a:r>
            <a:r>
              <a:rPr lang="en-US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= -2. In this case, we obtain the false proposition </a:t>
            </a:r>
          </a:p>
          <a:p>
            <a:pPr marL="404813" indent="-404813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if 1</a:t>
            </a:r>
            <a:r>
              <a:rPr lang="en-US" sz="2800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&lt; (-2) </a:t>
            </a:r>
            <a:r>
              <a:rPr lang="en-US" sz="2800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1 &lt; -2. </a:t>
            </a:r>
          </a:p>
        </p:txBody>
      </p:sp>
      <p:sp>
        <p:nvSpPr>
          <p:cNvPr id="6758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758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758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759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5786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9144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52400" y="1219200"/>
            <a:ext cx="7696200" cy="5029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statement 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buSzPct val="70000"/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x, for some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	</a:t>
            </a:r>
          </a:p>
          <a:p>
            <a:pPr marL="404813" indent="-404813" eaLnBrk="1" hangingPunct="1">
              <a:buSzPct val="70000"/>
              <a:buFontTx/>
              <a:buNone/>
              <a:defRPr/>
            </a:pPr>
            <a:r>
              <a:rPr lang="en-US" sz="3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true. </a:t>
            </a:r>
          </a:p>
          <a:p>
            <a:pPr marL="404813" indent="-404813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To prove this, we need to show that for every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 proposition 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for some y, if x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&lt; y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x &lt; y </a:t>
            </a: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true by exhibiting a value of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for which 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if x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&lt; y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x &lt; y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true.</a:t>
            </a:r>
          </a:p>
          <a:p>
            <a:pPr marL="404813" indent="-404813" eaLnBrk="1" hangingPunct="1">
              <a:buFontTx/>
              <a:buNone/>
              <a:defRPr/>
            </a:pP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1116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662113"/>
            <a:ext cx="7467600" cy="43576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Indeed, if we set y = 0, we obtain the true proposition</a:t>
            </a:r>
            <a:endParaRPr lang="en-US" sz="3600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buSzPct val="70000"/>
              <a:buFontTx/>
              <a:buNone/>
              <a:defRPr/>
            </a:pP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if x</a:t>
            </a:r>
            <a:r>
              <a:rPr lang="en-US" sz="3600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&lt; 0, then x &lt; 0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  <a:p>
            <a:pPr marL="404813" indent="-404813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conditional proposition is true, because the hypothesis    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 &lt; 0 is false.</a:t>
            </a:r>
          </a:p>
          <a:p>
            <a:pPr marL="404813" indent="-404813" eaLnBrk="1" hangingPunct="1">
              <a:buFontTx/>
              <a:buNone/>
              <a:defRPr/>
            </a:pP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11264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304800" y="1295400"/>
            <a:ext cx="6934200" cy="533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statement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buSzPct val="70000"/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 for every y, for some x, P(x, y) 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 true. </a:t>
            </a:r>
          </a:p>
          <a:p>
            <a:pPr marL="404813" indent="-404813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To justify this, we show that for every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 proposition 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for some x, if x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&lt; y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x &lt; y </a:t>
            </a: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true by exhibiting a value of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for which 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04813" indent="-404813" eaLnBrk="1" hangingPunct="1"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if x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&lt; y</a:t>
            </a:r>
            <a:r>
              <a:rPr lang="en-US" i="1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x &lt; y 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true. </a:t>
            </a:r>
          </a:p>
          <a:p>
            <a:pPr marL="404813" indent="-404813" eaLnBrk="1" hangingPunct="1">
              <a:buFontTx/>
              <a:buNone/>
              <a:defRPr/>
            </a:pP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065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066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066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066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7834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0" y="76200"/>
            <a:ext cx="6858000" cy="9906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371600"/>
            <a:ext cx="7772400" cy="3276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404813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Indeed, if we set x = |y|  + 1, we obtain the true proposition </a:t>
            </a:r>
          </a:p>
          <a:p>
            <a:pPr marL="404813" indent="-404813" eaLnBrk="1" hangingPunct="1">
              <a:buSzPct val="70000"/>
              <a:buFontTx/>
              <a:buNone/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if (|y| + 1)</a:t>
            </a:r>
            <a:r>
              <a:rPr lang="en-US" sz="3600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&lt;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3600" baseline="30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then |y|  + 1 &lt;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</a:p>
          <a:p>
            <a:pPr marL="404813" indent="-404813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conditional proposition is true, because the hypothesis is false.</a:t>
            </a: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11367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GDML</a:t>
            </a:r>
            <a:r>
              <a:rPr 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: Example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152400"/>
            <a:ext cx="67818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Rule 1: Proving / Disproving quantified statements</a:t>
            </a:r>
            <a:r>
              <a:rPr lang="en-US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524000"/>
            <a:ext cx="7467600" cy="533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68313" indent="-468313" algn="just" eaLnBrk="1" hangingPunct="1">
              <a:lnSpc>
                <a:spcPct val="90000"/>
              </a:lnSpc>
              <a:buSzPct val="6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To prove that the universally quantified statement 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68313" indent="-468313" eaLnBrk="1" hangingPunct="1">
              <a:lnSpc>
                <a:spcPct val="90000"/>
              </a:lnSpc>
              <a:buSzPct val="60000"/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every 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</a:p>
          <a:p>
            <a:pPr marL="468313" indent="-468313" algn="just" eaLnBrk="1" hangingPunct="1">
              <a:lnSpc>
                <a:spcPct val="90000"/>
              </a:lnSpc>
              <a:buSzPct val="60000"/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true, show that for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every 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in the domain of discourse, the proposition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true. </a:t>
            </a:r>
          </a:p>
          <a:p>
            <a:pPr marL="468313" indent="-468313" algn="just" eaLnBrk="1" hangingPunct="1">
              <a:lnSpc>
                <a:spcPct val="90000"/>
              </a:lnSpc>
              <a:buSzPct val="6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Showing that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is true for a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particular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value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does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not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prove that </a:t>
            </a:r>
          </a:p>
          <a:p>
            <a:pPr marL="468313" indent="-468313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every x,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</a:p>
          <a:p>
            <a:pPr marL="468313" indent="-468313" eaLnBrk="1" hangingPunct="1">
              <a:lnSpc>
                <a:spcPct val="90000"/>
              </a:lnSpc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true. </a:t>
            </a:r>
          </a:p>
        </p:txBody>
      </p:sp>
      <p:sp>
        <p:nvSpPr>
          <p:cNvPr id="7270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270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27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271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0" y="1752600"/>
            <a:ext cx="7086600" cy="472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68313" indent="-468313" algn="just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To prove that the existentially quantified statement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68313" indent="-468313" eaLnBrk="1" hangingPunct="1">
              <a:buSzPct val="70000"/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some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marL="468313" indent="-468313" algn="just" eaLnBrk="1" hangingPunct="1">
              <a:buSzPct val="70000"/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true, find one value of x in the domain of discourse for which P(x) is true. </a:t>
            </a:r>
          </a:p>
          <a:p>
            <a:pPr marL="468313" indent="-468313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One value suffices.</a:t>
            </a:r>
          </a:p>
        </p:txBody>
      </p:sp>
      <p:sp>
        <p:nvSpPr>
          <p:cNvPr id="7373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373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373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373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988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68580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Rule 2: Proving / Disproving quantified statements</a:t>
            </a:r>
            <a:r>
              <a:rPr lang="en-US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76200"/>
            <a:ext cx="70866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Rule 3 : Proving/Disproving quantified statements</a:t>
            </a:r>
            <a:r>
              <a:rPr lang="en-US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52400" y="1676400"/>
            <a:ext cx="6824663" cy="533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68313" indent="-468313" algn="just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To prove that the universally quantified statement</a:t>
            </a:r>
            <a:endParaRPr lang="en-US" sz="3600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68313" indent="-468313" algn="just" eaLnBrk="1" hangingPunct="1">
              <a:buFontTx/>
              <a:buNone/>
              <a:defRPr/>
            </a:pP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every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36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</a:p>
          <a:p>
            <a:pPr marL="468313" indent="-468313" algn="just" eaLnBrk="1" hangingPunct="1">
              <a:buFontTx/>
              <a:buNone/>
              <a:defRPr/>
            </a:pPr>
            <a:r>
              <a:rPr lang="en-US" sz="36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false, find one value of x (a counterexample) in the domain of discourse for which P(x) is false.</a:t>
            </a:r>
          </a:p>
        </p:txBody>
      </p:sp>
      <p:sp>
        <p:nvSpPr>
          <p:cNvPr id="7475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475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475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475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70866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00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maneste" pitchFamily="34" charset="0"/>
              </a:rPr>
              <a:t>Rule 4: Proving/Disproving quantified statements</a:t>
            </a:r>
            <a:r>
              <a:rPr lang="en-US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" y="1600200"/>
            <a:ext cx="8610600" cy="533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 algn="just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To prove that the existentially quantified statement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39725" indent="-339725" algn="just" eaLnBrk="1" hangingPunct="1">
              <a:buSzPct val="70000"/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some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</a:p>
          <a:p>
            <a:pPr marL="339725" indent="-339725" algn="just" eaLnBrk="1" hangingPunct="1">
              <a:buSzPct val="70000"/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false, show that for every x in the domain of discourse, the proposition P(x) is false. </a:t>
            </a:r>
          </a:p>
          <a:p>
            <a:pPr marL="339725" indent="-339725" algn="just" eaLnBrk="1" hangingPunct="1">
              <a:buSzPct val="70000"/>
              <a:buFontTx/>
              <a:buBlip>
                <a:blip r:embed="rId2"/>
              </a:buBlip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Showing that P(x) is false for a particular value of x does not prove that</a:t>
            </a:r>
            <a:endParaRPr lang="en-US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39725" indent="-339725" algn="just" eaLnBrk="1" hangingPunct="1">
              <a:buFontTx/>
              <a:buNone/>
              <a:defRPr/>
            </a:pP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		for some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</a:p>
          <a:p>
            <a:pPr marL="339725" indent="-339725" algn="just" eaLnBrk="1" hangingPunct="1">
              <a:buFontTx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is false.</a:t>
            </a:r>
          </a:p>
        </p:txBody>
      </p:sp>
      <p:sp>
        <p:nvSpPr>
          <p:cNvPr id="7578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578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578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  <p:sp>
        <p:nvSpPr>
          <p:cNvPr id="7578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PH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1908</TotalTime>
  <Words>1425</Words>
  <Application>Microsoft Office PowerPoint</Application>
  <PresentationFormat>On-screen Show (4:3)</PresentationFormat>
  <Paragraphs>369</Paragraphs>
  <Slides>66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5" baseType="lpstr">
      <vt:lpstr>Times New Roman</vt:lpstr>
      <vt:lpstr>Arial</vt:lpstr>
      <vt:lpstr>Romaneste</vt:lpstr>
      <vt:lpstr>Symbol</vt:lpstr>
      <vt:lpstr>Wingdings</vt:lpstr>
      <vt:lpstr>Georgia</vt:lpstr>
      <vt:lpstr>Tahoma</vt:lpstr>
      <vt:lpstr>Modèle par défaut</vt:lpstr>
      <vt:lpstr>Microsoft Equation 3.0</vt:lpstr>
      <vt:lpstr>PowerPoint Presentation</vt:lpstr>
      <vt:lpstr>Introduction</vt:lpstr>
      <vt:lpstr>Introduction</vt:lpstr>
      <vt:lpstr>Domain of Discourse</vt:lpstr>
      <vt:lpstr>Domain of Discourse : Example</vt:lpstr>
      <vt:lpstr>Domain of Discourse : Example</vt:lpstr>
      <vt:lpstr>Propositional Function</vt:lpstr>
      <vt:lpstr>Propositional Function</vt:lpstr>
      <vt:lpstr>Examples of Propositional Function</vt:lpstr>
      <vt:lpstr>Examples of Propositional Function</vt:lpstr>
      <vt:lpstr>Universal and Existential Quantifiers</vt:lpstr>
      <vt:lpstr>Universal Quantifiers</vt:lpstr>
      <vt:lpstr>Universal Quantifiers</vt:lpstr>
      <vt:lpstr>Existential Quantifiers</vt:lpstr>
      <vt:lpstr>Existential Quantifiers</vt:lpstr>
      <vt:lpstr>Remarks on definition of Quantifiers</vt:lpstr>
      <vt:lpstr>Remarks on definition of Quantifiers</vt:lpstr>
      <vt:lpstr>Remarks on definition of Quantifiers</vt:lpstr>
      <vt:lpstr>Remarks on definition of Quantifiers</vt:lpstr>
      <vt:lpstr>Quantifiers : Example1</vt:lpstr>
      <vt:lpstr>PowerPoint Presentation</vt:lpstr>
      <vt:lpstr>Quantifiers : Example2</vt:lpstr>
      <vt:lpstr>Quantifiers : Example 2</vt:lpstr>
      <vt:lpstr>Quantifiers : Example 2</vt:lpstr>
      <vt:lpstr>Quantifiers : Example 3</vt:lpstr>
      <vt:lpstr>Quantifiers : Example 3</vt:lpstr>
      <vt:lpstr>Quantifiers : Example 3</vt:lpstr>
      <vt:lpstr>Quantifiers : Example 4</vt:lpstr>
      <vt:lpstr>Quantifiers : Example 4</vt:lpstr>
      <vt:lpstr>Quantifiers : Example 5</vt:lpstr>
      <vt:lpstr>Quantifiers : Example 5</vt:lpstr>
      <vt:lpstr>Quantifiers : Example 6</vt:lpstr>
      <vt:lpstr>Quantifiers : Example 6</vt:lpstr>
      <vt:lpstr>Quantifiers : Example 6</vt:lpstr>
      <vt:lpstr>Quantifiers : Example 6</vt:lpstr>
      <vt:lpstr>Generalized De Morgan Laws for Logic </vt:lpstr>
      <vt:lpstr>Generalized De Morgan Laws for Logic </vt:lpstr>
      <vt:lpstr>Generalized De Morgan Laws for Logic </vt:lpstr>
      <vt:lpstr>Generalized De Morgan Laws for Logic : Example 7</vt:lpstr>
      <vt:lpstr>Generalized De Morgan Laws for Logic : Example 7</vt:lpstr>
      <vt:lpstr>Generalized De Morgan Laws for Logic : Example 7</vt:lpstr>
      <vt:lpstr>Generalized De Morgan Laws for Logic : Example 7</vt:lpstr>
      <vt:lpstr>Generalized De Morgan Laws for Logic : Example 7</vt:lpstr>
      <vt:lpstr>Generalized De Morgan Laws for Logic : Example 7</vt:lpstr>
      <vt:lpstr>Generalized De Morgan Laws for Logic : Example 7</vt:lpstr>
      <vt:lpstr>Generalized De Morgan Laws for Logic : Example 7</vt:lpstr>
      <vt:lpstr>GDML : Example 8</vt:lpstr>
      <vt:lpstr>GDML : Example 8</vt:lpstr>
      <vt:lpstr>GDML : Example 8</vt:lpstr>
      <vt:lpstr>GDML : Example 8</vt:lpstr>
      <vt:lpstr>GDML : Example 8</vt:lpstr>
      <vt:lpstr>GDML : Example 8</vt:lpstr>
      <vt:lpstr>A Generalization</vt:lpstr>
      <vt:lpstr>A Generalization</vt:lpstr>
      <vt:lpstr>GDML : Example 9</vt:lpstr>
      <vt:lpstr>GDML : Example 9</vt:lpstr>
      <vt:lpstr>GDML : Example 9</vt:lpstr>
      <vt:lpstr>GDML : Example 10</vt:lpstr>
      <vt:lpstr>GDML : Example 10</vt:lpstr>
      <vt:lpstr>GDML : Example 10</vt:lpstr>
      <vt:lpstr>GDML : Example 10</vt:lpstr>
      <vt:lpstr>GDML : Example 10</vt:lpstr>
      <vt:lpstr>Rule 1: Proving / Disproving quantified statements </vt:lpstr>
      <vt:lpstr>Rule 2: Proving / Disproving quantified statements </vt:lpstr>
      <vt:lpstr>Rule 3 : Proving/Disproving quantified statements </vt:lpstr>
      <vt:lpstr>Rule 4: Proving/Disproving quantified statements </vt:lpstr>
    </vt:vector>
  </TitlesOfParts>
  <Company>LSU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DCST</dc:creator>
  <cp:lastModifiedBy>Reviewer</cp:lastModifiedBy>
  <cp:revision>156</cp:revision>
  <dcterms:created xsi:type="dcterms:W3CDTF">2004-08-03T15:03:53Z</dcterms:created>
  <dcterms:modified xsi:type="dcterms:W3CDTF">2023-04-03T00:17:09Z</dcterms:modified>
</cp:coreProperties>
</file>