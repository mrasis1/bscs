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8"/>
  </p:notesMasterIdLst>
  <p:sldIdLst>
    <p:sldId id="351" r:id="rId2"/>
    <p:sldId id="352" r:id="rId3"/>
    <p:sldId id="353" r:id="rId4"/>
    <p:sldId id="354" r:id="rId5"/>
    <p:sldId id="355" r:id="rId6"/>
    <p:sldId id="356" r:id="rId7"/>
    <p:sldId id="357" r:id="rId8"/>
    <p:sldId id="358" r:id="rId9"/>
    <p:sldId id="359" r:id="rId10"/>
    <p:sldId id="360" r:id="rId11"/>
    <p:sldId id="361" r:id="rId12"/>
    <p:sldId id="362" r:id="rId13"/>
    <p:sldId id="363" r:id="rId14"/>
    <p:sldId id="364" r:id="rId15"/>
    <p:sldId id="365" r:id="rId16"/>
    <p:sldId id="366" r:id="rId17"/>
    <p:sldId id="367" r:id="rId18"/>
    <p:sldId id="368" r:id="rId19"/>
    <p:sldId id="369" r:id="rId20"/>
    <p:sldId id="370" r:id="rId21"/>
    <p:sldId id="371" r:id="rId22"/>
    <p:sldId id="421" r:id="rId23"/>
    <p:sldId id="372" r:id="rId24"/>
    <p:sldId id="373" r:id="rId25"/>
    <p:sldId id="374" r:id="rId26"/>
    <p:sldId id="375" r:id="rId27"/>
    <p:sldId id="376" r:id="rId28"/>
    <p:sldId id="377" r:id="rId29"/>
    <p:sldId id="378" r:id="rId30"/>
    <p:sldId id="379" r:id="rId31"/>
    <p:sldId id="380" r:id="rId32"/>
    <p:sldId id="381" r:id="rId33"/>
    <p:sldId id="382" r:id="rId34"/>
    <p:sldId id="383" r:id="rId35"/>
    <p:sldId id="384" r:id="rId36"/>
    <p:sldId id="385" r:id="rId37"/>
    <p:sldId id="386" r:id="rId38"/>
    <p:sldId id="387" r:id="rId39"/>
    <p:sldId id="388" r:id="rId40"/>
    <p:sldId id="389" r:id="rId41"/>
    <p:sldId id="390" r:id="rId42"/>
    <p:sldId id="391" r:id="rId43"/>
    <p:sldId id="392" r:id="rId44"/>
    <p:sldId id="393" r:id="rId45"/>
    <p:sldId id="394" r:id="rId46"/>
    <p:sldId id="395" r:id="rId4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996600"/>
    <a:srgbClr val="00CC99"/>
    <a:srgbClr val="FF9900"/>
    <a:srgbClr val="0033CC"/>
    <a:srgbClr val="33CCCC"/>
    <a:srgbClr val="00CC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1" autoAdjust="0"/>
    <p:restoredTop sz="55476" autoAdjust="0"/>
  </p:normalViewPr>
  <p:slideViewPr>
    <p:cSldViewPr>
      <p:cViewPr varScale="1">
        <p:scale>
          <a:sx n="37" d="100"/>
          <a:sy n="37" d="100"/>
        </p:scale>
        <p:origin x="226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3.wmf"/><Relationship Id="rId5" Type="http://schemas.openxmlformats.org/officeDocument/2006/relationships/image" Target="../media/image12.wmf"/><Relationship Id="rId4"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6.wmf"/><Relationship Id="rId1" Type="http://schemas.openxmlformats.org/officeDocument/2006/relationships/image" Target="../media/image25.wmf"/><Relationship Id="rId5" Type="http://schemas.openxmlformats.org/officeDocument/2006/relationships/image" Target="../media/image28.wmf"/><Relationship Id="rId4"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29.wmf"/><Relationship Id="rId1" Type="http://schemas.openxmlformats.org/officeDocument/2006/relationships/image" Target="../media/image7.wmf"/><Relationship Id="rId4"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35.wmf"/><Relationship Id="rId4"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cs typeface="+mn-cs"/>
              </a:defRPr>
            </a:lvl1pPr>
          </a:lstStyle>
          <a:p>
            <a:pPr>
              <a:defRPr/>
            </a:pPr>
            <a:endParaRPr lang="en-US"/>
          </a:p>
        </p:txBody>
      </p:sp>
      <p:sp>
        <p:nvSpPr>
          <p:cNvPr id="12185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2186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cs typeface="+mn-cs"/>
              </a:defRPr>
            </a:lvl1pPr>
          </a:lstStyle>
          <a:p>
            <a:pPr>
              <a:defRPr/>
            </a:pPr>
            <a:endParaRPr lang="en-US"/>
          </a:p>
        </p:txBody>
      </p:sp>
      <p:sp>
        <p:nvSpPr>
          <p:cNvPr id="12186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cs typeface="+mn-cs"/>
              </a:defRPr>
            </a:lvl1pPr>
          </a:lstStyle>
          <a:p>
            <a:pPr>
              <a:defRPr/>
            </a:pPr>
            <a:fld id="{0FA8E715-3702-49E2-97DF-17E6A3D6C0E9}" type="slidenum">
              <a:rPr lang="en-US"/>
              <a:pPr>
                <a:defRPr/>
              </a:pPr>
              <a:t>‹#›</a:t>
            </a:fld>
            <a:endParaRPr lang="en-US"/>
          </a:p>
        </p:txBody>
      </p:sp>
    </p:spTree>
    <p:extLst>
      <p:ext uri="{BB962C8B-B14F-4D97-AF65-F5344CB8AC3E}">
        <p14:creationId xmlns:p14="http://schemas.microsoft.com/office/powerpoint/2010/main" val="16518378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smtClean="0"/>
              <a:t>Click to edit Master title style</a:t>
            </a:r>
            <a:endParaRPr lang="en-PH"/>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PH"/>
          </a:p>
        </p:txBody>
      </p:sp>
    </p:spTree>
    <p:extLst>
      <p:ext uri="{BB962C8B-B14F-4D97-AF65-F5344CB8AC3E}">
        <p14:creationId xmlns:p14="http://schemas.microsoft.com/office/powerpoint/2010/main" val="269014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1701721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smtClean="0"/>
              <a:t>Click to edit Master title style</a:t>
            </a:r>
            <a:endParaRPr lang="en-PH"/>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873466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351334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smtClean="0"/>
              <a:t>Click to edit Master title style</a:t>
            </a:r>
            <a:endParaRPr lang="en-PH"/>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2077443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Tree>
    <p:extLst>
      <p:ext uri="{BB962C8B-B14F-4D97-AF65-F5344CB8AC3E}">
        <p14:creationId xmlns:p14="http://schemas.microsoft.com/office/powerpoint/2010/main" val="1698794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77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smtClean="0"/>
              <a:t>Click to edit Master title style</a:t>
            </a:r>
            <a:endParaRPr lang="en-PH"/>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1280954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smtClean="0"/>
              <a:t>Click to edit Master title style</a:t>
            </a:r>
            <a:endParaRPr lang="en-PH"/>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PH" noProof="0" smtClean="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103329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833247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1214475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
        <p:nvSpPr>
          <p:cNvPr id="3" name="Text Placeholder 2"/>
          <p:cNvSpPr>
            <a:spLocks noGrp="1"/>
          </p:cNvSpPr>
          <p:nvPr>
            <p:ph type="body" sz="half" idx="1"/>
          </p:nvPr>
        </p:nvSpPr>
        <p:spPr>
          <a:xfrm>
            <a:off x="62865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quarter" idx="2"/>
          </p:nvPr>
        </p:nvSpPr>
        <p:spPr>
          <a:xfrm>
            <a:off x="4648200" y="1825625"/>
            <a:ext cx="3867150" cy="2098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Content Placeholder 4"/>
          <p:cNvSpPr>
            <a:spLocks noGrp="1"/>
          </p:cNvSpPr>
          <p:nvPr>
            <p:ph sz="quarter" idx="3"/>
          </p:nvPr>
        </p:nvSpPr>
        <p:spPr>
          <a:xfrm>
            <a:off x="4648200" y="4076700"/>
            <a:ext cx="3867150" cy="21002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14091903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quarter" idx="2"/>
          </p:nvPr>
        </p:nvSpPr>
        <p:spPr>
          <a:xfrm>
            <a:off x="4648200" y="1825625"/>
            <a:ext cx="3867150" cy="209867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Content Placeholder 4"/>
          <p:cNvSpPr>
            <a:spLocks noGrp="1"/>
          </p:cNvSpPr>
          <p:nvPr>
            <p:ph sz="quarter" idx="3"/>
          </p:nvPr>
        </p:nvSpPr>
        <p:spPr>
          <a:xfrm>
            <a:off x="4648200" y="4076700"/>
            <a:ext cx="3867150" cy="21002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3730310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
        <p:nvSpPr>
          <p:cNvPr id="3" name="Text Placeholder 2"/>
          <p:cNvSpPr>
            <a:spLocks noGrp="1"/>
          </p:cNvSpPr>
          <p:nvPr>
            <p:ph type="body" sz="half" idx="1"/>
          </p:nvPr>
        </p:nvSpPr>
        <p:spPr>
          <a:xfrm>
            <a:off x="62865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Tree>
    <p:extLst>
      <p:ext uri="{BB962C8B-B14F-4D97-AF65-F5344CB8AC3E}">
        <p14:creationId xmlns:p14="http://schemas.microsoft.com/office/powerpoint/2010/main" val="1903598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smtClean="0"/>
              <a:t>Click to edit Master title style</a:t>
            </a:r>
            <a:endParaRPr lang="en-PH"/>
          </a:p>
        </p:txBody>
      </p:sp>
      <p:sp>
        <p:nvSpPr>
          <p:cNvPr id="3" name="Table Placeholder 2"/>
          <p:cNvSpPr>
            <a:spLocks noGrp="1"/>
          </p:cNvSpPr>
          <p:nvPr>
            <p:ph type="tbl" idx="1"/>
          </p:nvPr>
        </p:nvSpPr>
        <p:spPr>
          <a:xfrm>
            <a:off x="628650" y="1825625"/>
            <a:ext cx="7886700" cy="4351338"/>
          </a:xfrm>
          <a:prstGeom prst="rect">
            <a:avLst/>
          </a:prstGeom>
        </p:spPr>
        <p:txBody>
          <a:bodyPr/>
          <a:lstStyle/>
          <a:p>
            <a:pPr lvl="0"/>
            <a:endParaRPr lang="en-PH" noProof="0" smtClean="0"/>
          </a:p>
        </p:txBody>
      </p:sp>
    </p:spTree>
    <p:extLst>
      <p:ext uri="{BB962C8B-B14F-4D97-AF65-F5344CB8AC3E}">
        <p14:creationId xmlns:p14="http://schemas.microsoft.com/office/powerpoint/2010/main" val="49974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http://www.powerpointstyles.com/" TargetMode="Externa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3348038" y="6237288"/>
            <a:ext cx="2990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defRPr/>
            </a:pPr>
            <a:r>
              <a:rPr lang="fr-FR" altLang="en-US" sz="1800" smtClean="0">
                <a:latin typeface="Arial" panose="020B0604020202020204" pitchFamily="34" charset="0"/>
                <a:hlinkClick r:id="rId17"/>
              </a:rPr>
              <a:t>Free Powerpoint Templates</a:t>
            </a:r>
            <a:endParaRPr lang="fr-FR" altLang="en-US" sz="1800" smtClean="0">
              <a:latin typeface="Arial" panose="020B0604020202020204" pitchFamily="34" charset="0"/>
            </a:endParaRPr>
          </a:p>
        </p:txBody>
      </p:sp>
      <p:pic>
        <p:nvPicPr>
          <p:cNvPr id="1027" name="Picture 3" descr="fddsf fsdf zfef"/>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Text Box 4"/>
          <p:cNvSpPr txBox="1">
            <a:spLocks noChangeArrowheads="1"/>
          </p:cNvSpPr>
          <p:nvPr/>
        </p:nvSpPr>
        <p:spPr bwMode="auto">
          <a:xfrm>
            <a:off x="8035925" y="6375400"/>
            <a:ext cx="10731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defRPr/>
            </a:pPr>
            <a:r>
              <a:rPr lang="fr-FR" altLang="en-US" sz="1800" b="1" smtClean="0">
                <a:solidFill>
                  <a:schemeClr val="bg1"/>
                </a:solidFill>
                <a:latin typeface="Arial" panose="020B0604020202020204" pitchFamily="34" charset="0"/>
              </a:rPr>
              <a:t>Page </a:t>
            </a:r>
            <a:fld id="{8887FA8C-175D-4D0A-BD1E-96CE9B372282}" type="slidenum">
              <a:rPr lang="fr-FR" altLang="en-US" sz="1800" b="1" smtClean="0">
                <a:solidFill>
                  <a:schemeClr val="bg1"/>
                </a:solidFill>
                <a:latin typeface="Arial" panose="020B0604020202020204" pitchFamily="34" charset="0"/>
              </a:rPr>
              <a:pPr eaLnBrk="1" hangingPunct="1">
                <a:defRPr/>
              </a:pPr>
              <a:t>‹#›</a:t>
            </a:fld>
            <a:endParaRPr lang="fr-FR" altLang="en-US" sz="1800" b="1" smtClean="0">
              <a:solidFill>
                <a:schemeClr val="bg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4.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7.wmf"/><Relationship Id="rId5" Type="http://schemas.openxmlformats.org/officeDocument/2006/relationships/oleObject" Target="../embeddings/oleObject8.bin"/><Relationship Id="rId4" Type="http://schemas.openxmlformats.org/officeDocument/2006/relationships/image" Target="../media/image3.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oleObject" Target="../embeddings/oleObject11.bin"/><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wmf"/><Relationship Id="rId5" Type="http://schemas.openxmlformats.org/officeDocument/2006/relationships/oleObject" Target="../embeddings/oleObject13.bin"/><Relationship Id="rId4" Type="http://schemas.openxmlformats.org/officeDocument/2006/relationships/image" Target="../media/image3.wmf"/></Relationships>
</file>

<file path=ppt/slides/_rels/slide20.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image" Target="../media/image12.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9.wmf"/><Relationship Id="rId11" Type="http://schemas.openxmlformats.org/officeDocument/2006/relationships/image" Target="../media/image11.wmf"/><Relationship Id="rId5" Type="http://schemas.openxmlformats.org/officeDocument/2006/relationships/oleObject" Target="../embeddings/oleObject16.bin"/><Relationship Id="rId10" Type="http://schemas.openxmlformats.org/officeDocument/2006/relationships/oleObject" Target="../embeddings/oleObject19.bin"/><Relationship Id="rId4" Type="http://schemas.openxmlformats.org/officeDocument/2006/relationships/image" Target="../media/image3.wmf"/><Relationship Id="rId9" Type="http://schemas.openxmlformats.org/officeDocument/2006/relationships/oleObject" Target="../embeddings/oleObject18.bin"/></Relationships>
</file>

<file path=ppt/slides/_rels/slide21.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4.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24.bin"/><Relationship Id="rId14" Type="http://schemas.openxmlformats.org/officeDocument/2006/relationships/image" Target="../media/image18.wmf"/></Relationships>
</file>

<file path=ppt/slides/_rels/slide22.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0.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30.bin"/><Relationship Id="rId14" Type="http://schemas.openxmlformats.org/officeDocument/2006/relationships/image" Target="../media/image24.wmf"/></Relationships>
</file>

<file path=ppt/slides/_rels/slide23.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28.wmf"/><Relationship Id="rId2" Type="http://schemas.openxmlformats.org/officeDocument/2006/relationships/slideLayout" Target="../slideLayouts/slideLayout14.xml"/><Relationship Id="rId1" Type="http://schemas.openxmlformats.org/officeDocument/2006/relationships/vmlDrawing" Target="../drawings/vmlDrawing11.vml"/><Relationship Id="rId6" Type="http://schemas.openxmlformats.org/officeDocument/2006/relationships/image" Target="../media/image26.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27.wmf"/><Relationship Id="rId4" Type="http://schemas.openxmlformats.org/officeDocument/2006/relationships/image" Target="../media/image25.wmf"/><Relationship Id="rId9" Type="http://schemas.openxmlformats.org/officeDocument/2006/relationships/oleObject" Target="../embeddings/oleObject36.bin"/></Relationships>
</file>

<file path=ppt/slides/_rels/slide2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14.xml"/><Relationship Id="rId1" Type="http://schemas.openxmlformats.org/officeDocument/2006/relationships/vmlDrawing" Target="../drawings/vmlDrawing12.vml"/><Relationship Id="rId6" Type="http://schemas.openxmlformats.org/officeDocument/2006/relationships/image" Target="../media/image29.wmf"/><Relationship Id="rId11" Type="http://schemas.openxmlformats.org/officeDocument/2006/relationships/image" Target="../media/image30.wmf"/><Relationship Id="rId5" Type="http://schemas.openxmlformats.org/officeDocument/2006/relationships/oleObject" Target="../embeddings/oleObject39.bin"/><Relationship Id="rId10" Type="http://schemas.openxmlformats.org/officeDocument/2006/relationships/oleObject" Target="../embeddings/oleObject42.bin"/><Relationship Id="rId4" Type="http://schemas.openxmlformats.org/officeDocument/2006/relationships/image" Target="../media/image7.wmf"/><Relationship Id="rId9" Type="http://schemas.openxmlformats.org/officeDocument/2006/relationships/oleObject" Target="../embeddings/oleObject41.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35.wmf"/><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image" Target="../media/image32.w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46.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WordArt 3"/>
          <p:cNvSpPr>
            <a:spLocks noChangeArrowheads="1" noChangeShapeType="1" noTextEdit="1"/>
          </p:cNvSpPr>
          <p:nvPr/>
        </p:nvSpPr>
        <p:spPr bwMode="auto">
          <a:xfrm>
            <a:off x="228600" y="2590800"/>
            <a:ext cx="6705600" cy="9144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PH" sz="3600" kern="10" spc="720">
                <a:gradFill rotWithShape="1">
                  <a:gsLst>
                    <a:gs pos="0">
                      <a:srgbClr val="AAAAAA"/>
                    </a:gs>
                    <a:gs pos="100000">
                      <a:srgbClr val="FFFFFF"/>
                    </a:gs>
                  </a:gsLst>
                  <a:lin ang="5400000" scaled="1"/>
                </a:gradFill>
                <a:effectLst>
                  <a:outerShdw dist="45791" dir="3378596" algn="ctr" rotWithShape="0">
                    <a:srgbClr val="4D4D4D">
                      <a:alpha val="79999"/>
                    </a:srgbClr>
                  </a:outerShdw>
                </a:effectLst>
                <a:latin typeface="Arial Black" panose="020B0A04020102020204" pitchFamily="34" charset="0"/>
              </a:rPr>
              <a:t>DEDUCTIVE REASONING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bwMode="auto">
          <a:xfrm>
            <a:off x="76200" y="228600"/>
            <a:ext cx="7010400"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Deductive Reasoning</a:t>
            </a:r>
            <a:r>
              <a:rPr lang="en-US" smtClean="0">
                <a:solidFill>
                  <a:srgbClr val="000099"/>
                </a:solidFill>
                <a:effectLst>
                  <a:outerShdw blurRad="38100" dist="38100" dir="2700000" algn="tl">
                    <a:srgbClr val="C0C0C0"/>
                  </a:outerShdw>
                </a:effectLst>
              </a:rPr>
              <a:t> </a:t>
            </a:r>
          </a:p>
        </p:txBody>
      </p:sp>
      <p:sp>
        <p:nvSpPr>
          <p:cNvPr id="149507" name="Rectangle 3"/>
          <p:cNvSpPr>
            <a:spLocks noGrp="1" noChangeArrowheads="1"/>
          </p:cNvSpPr>
          <p:nvPr>
            <p:ph type="body" idx="1"/>
          </p:nvPr>
        </p:nvSpPr>
        <p:spPr bwMode="auto">
          <a:xfrm>
            <a:off x="304800" y="1600200"/>
            <a:ext cx="67818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mtClean="0">
                <a:effectLst>
                  <a:outerShdw blurRad="38100" dist="38100" dir="2700000" algn="tl">
                    <a:srgbClr val="C0C0C0"/>
                  </a:outerShdw>
                </a:effectLst>
              </a:rPr>
              <a:t>	In constructing a proof, we must be sure that the arguments used are valid. In this section we make precise the concept of a valid argument and explore this concept in some detail.</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bwMode="auto">
          <a:xfrm>
            <a:off x="76200" y="152400"/>
            <a:ext cx="7162800"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Deductive Reasoning</a:t>
            </a:r>
          </a:p>
        </p:txBody>
      </p:sp>
      <p:sp>
        <p:nvSpPr>
          <p:cNvPr id="150531" name="Rectangle 3"/>
          <p:cNvSpPr>
            <a:spLocks noGrp="1" noChangeArrowheads="1"/>
          </p:cNvSpPr>
          <p:nvPr>
            <p:ph type="body" idx="1"/>
          </p:nvPr>
        </p:nvSpPr>
        <p:spPr bwMode="auto">
          <a:xfrm>
            <a:off x="76200" y="1447800"/>
            <a:ext cx="8229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Consider the following sequence of propositions.</a:t>
            </a:r>
          </a:p>
          <a:p>
            <a:pPr eaLnBrk="1" hangingPunct="1">
              <a:buClr>
                <a:srgbClr val="996600"/>
              </a:buClr>
              <a:buSzPct val="60000"/>
              <a:buFont typeface="Wingdings" panose="05000000000000000000" pitchFamily="2" charset="2"/>
              <a:buNone/>
              <a:defRPr/>
            </a:pPr>
            <a:r>
              <a:rPr lang="en-US" sz="2800" smtClean="0">
                <a:effectLst>
                  <a:outerShdw blurRad="38100" dist="38100" dir="2700000" algn="tl">
                    <a:srgbClr val="C0C0C0"/>
                  </a:outerShdw>
                </a:effectLst>
              </a:rPr>
              <a:t>	The bug is either in module 17 or in module 81.</a:t>
            </a:r>
          </a:p>
          <a:p>
            <a:pPr eaLnBrk="1" hangingPunct="1">
              <a:buClr>
                <a:srgbClr val="996600"/>
              </a:buClr>
              <a:buSzPct val="60000"/>
              <a:buFont typeface="Wingdings" panose="05000000000000000000" pitchFamily="2" charset="2"/>
              <a:buNone/>
              <a:defRPr/>
            </a:pPr>
            <a:r>
              <a:rPr lang="en-US" sz="2800" smtClean="0">
                <a:effectLst>
                  <a:outerShdw blurRad="38100" dist="38100" dir="2700000" algn="tl">
                    <a:srgbClr val="C0C0C0"/>
                  </a:outerShdw>
                </a:effectLst>
              </a:rPr>
              <a:t>	The bug is a numerical error.</a:t>
            </a:r>
          </a:p>
          <a:p>
            <a:pPr eaLnBrk="1" hangingPunct="1">
              <a:buClr>
                <a:srgbClr val="996600"/>
              </a:buClr>
              <a:buSzPct val="60000"/>
              <a:buFont typeface="Wingdings" panose="05000000000000000000" pitchFamily="2" charset="2"/>
              <a:buNone/>
              <a:defRPr/>
            </a:pPr>
            <a:r>
              <a:rPr lang="en-US" sz="2800" smtClean="0">
                <a:effectLst>
                  <a:outerShdw blurRad="38100" dist="38100" dir="2700000" algn="tl">
                    <a:srgbClr val="C0C0C0"/>
                  </a:outerShdw>
                </a:effectLst>
              </a:rPr>
              <a:t>	Module 81 has no numerical error.		(1)</a:t>
            </a:r>
          </a:p>
          <a:p>
            <a:pPr eaLnBrk="1" hangingPunct="1">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Assuming these statements are true, it is reasonable to conclude:</a:t>
            </a:r>
          </a:p>
          <a:p>
            <a:pPr eaLnBrk="1" hangingPunct="1">
              <a:buClr>
                <a:srgbClr val="996600"/>
              </a:buClr>
              <a:buSzPct val="60000"/>
              <a:buFont typeface="Wingdings" panose="05000000000000000000" pitchFamily="2" charset="2"/>
              <a:buNone/>
              <a:defRPr/>
            </a:pPr>
            <a:r>
              <a:rPr lang="en-US" sz="2800" smtClean="0">
                <a:effectLst>
                  <a:outerShdw blurRad="38100" dist="38100" dir="2700000" algn="tl">
                    <a:srgbClr val="C0C0C0"/>
                  </a:outerShdw>
                </a:effectLst>
              </a:rPr>
              <a:t>	The bug is in module 17.				(2)</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body" idx="1"/>
          </p:nvPr>
        </p:nvSpPr>
        <p:spPr bwMode="auto">
          <a:xfrm>
            <a:off x="76200" y="1371600"/>
            <a:ext cx="73152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This process of drawing a conclusion from a sequence of proposition is called </a:t>
            </a:r>
            <a:r>
              <a:rPr lang="en-US" sz="2800" b="1" smtClean="0">
                <a:solidFill>
                  <a:srgbClr val="990000"/>
                </a:solidFill>
                <a:effectLst>
                  <a:outerShdw blurRad="38100" dist="38100" dir="2700000" algn="tl">
                    <a:srgbClr val="C0C0C0"/>
                  </a:outerShdw>
                </a:effectLst>
              </a:rPr>
              <a:t>deductive reasoning</a:t>
            </a:r>
            <a:r>
              <a:rPr lang="en-US" sz="2800" smtClean="0">
                <a:effectLst>
                  <a:outerShdw blurRad="38100" dist="38100" dir="2700000" algn="tl">
                    <a:srgbClr val="C0C0C0"/>
                  </a:outerShdw>
                </a:effectLst>
              </a:rPr>
              <a:t>. </a:t>
            </a:r>
          </a:p>
          <a:p>
            <a:pPr algn="just" eaLnBrk="1" hangingPunct="1">
              <a:lnSpc>
                <a:spcPct val="80000"/>
              </a:lnSpc>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The given propositions, such as (1), are called </a:t>
            </a:r>
            <a:r>
              <a:rPr lang="en-US" sz="2800" smtClean="0">
                <a:solidFill>
                  <a:srgbClr val="990000"/>
                </a:solidFill>
                <a:effectLst>
                  <a:outerShdw blurRad="38100" dist="38100" dir="2700000" algn="tl">
                    <a:srgbClr val="C0C0C0"/>
                  </a:outerShdw>
                </a:effectLst>
              </a:rPr>
              <a:t>hypotheses or premises</a:t>
            </a:r>
            <a:r>
              <a:rPr lang="en-US" sz="2800" smtClean="0">
                <a:solidFill>
                  <a:srgbClr val="FFFF00"/>
                </a:solidFill>
                <a:effectLst>
                  <a:outerShdw blurRad="38100" dist="38100" dir="2700000" algn="tl">
                    <a:srgbClr val="C0C0C0"/>
                  </a:outerShdw>
                </a:effectLst>
              </a:rPr>
              <a:t>.</a:t>
            </a:r>
          </a:p>
          <a:p>
            <a:pPr algn="just" eaLnBrk="1" hangingPunct="1">
              <a:lnSpc>
                <a:spcPct val="80000"/>
              </a:lnSpc>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The proposition that follows from the hypotheses, like (2), is called the </a:t>
            </a:r>
            <a:r>
              <a:rPr lang="en-US" sz="2800" smtClean="0">
                <a:solidFill>
                  <a:srgbClr val="990000"/>
                </a:solidFill>
                <a:effectLst>
                  <a:outerShdw blurRad="38100" dist="38100" dir="2700000" algn="tl">
                    <a:srgbClr val="C0C0C0"/>
                  </a:outerShdw>
                </a:effectLst>
              </a:rPr>
              <a:t>conclusion</a:t>
            </a:r>
            <a:r>
              <a:rPr lang="en-US" sz="2800" smtClean="0">
                <a:effectLst>
                  <a:outerShdw blurRad="38100" dist="38100" dir="2700000" algn="tl">
                    <a:srgbClr val="C0C0C0"/>
                  </a:outerShdw>
                </a:effectLst>
              </a:rPr>
              <a:t>. </a:t>
            </a:r>
          </a:p>
          <a:p>
            <a:pPr algn="just" eaLnBrk="1" hangingPunct="1">
              <a:lnSpc>
                <a:spcPct val="80000"/>
              </a:lnSpc>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A (</a:t>
            </a:r>
            <a:r>
              <a:rPr lang="en-US" sz="2800" b="1" smtClean="0">
                <a:effectLst>
                  <a:outerShdw blurRad="38100" dist="38100" dir="2700000" algn="tl">
                    <a:srgbClr val="C0C0C0"/>
                  </a:outerShdw>
                </a:effectLst>
              </a:rPr>
              <a:t>deductive</a:t>
            </a:r>
            <a:r>
              <a:rPr lang="en-US" sz="2800" smtClean="0">
                <a:effectLst>
                  <a:outerShdw blurRad="38100" dist="38100" dir="2700000" algn="tl">
                    <a:srgbClr val="C0C0C0"/>
                  </a:outerShdw>
                </a:effectLst>
              </a:rPr>
              <a:t>) </a:t>
            </a:r>
            <a:r>
              <a:rPr lang="en-US" sz="2800" b="1" smtClean="0">
                <a:solidFill>
                  <a:srgbClr val="990000"/>
                </a:solidFill>
                <a:effectLst>
                  <a:outerShdw blurRad="38100" dist="38100" dir="2700000" algn="tl">
                    <a:srgbClr val="C0C0C0"/>
                  </a:outerShdw>
                </a:effectLst>
              </a:rPr>
              <a:t>argument</a:t>
            </a:r>
            <a:r>
              <a:rPr lang="en-US" sz="2800" smtClean="0">
                <a:effectLst>
                  <a:outerShdw blurRad="38100" dist="38100" dir="2700000" algn="tl">
                    <a:srgbClr val="C0C0C0"/>
                  </a:outerShdw>
                </a:effectLst>
              </a:rPr>
              <a:t> consists of hypotheses together with a conclusion. Many proofs in mathematics and computer science are deductive arguments.</a:t>
            </a:r>
          </a:p>
        </p:txBody>
      </p:sp>
      <p:sp>
        <p:nvSpPr>
          <p:cNvPr id="151556" name="Rectangle 4"/>
          <p:cNvSpPr>
            <a:spLocks noChangeArrowheads="1"/>
          </p:cNvSpPr>
          <p:nvPr/>
        </p:nvSpPr>
        <p:spPr bwMode="auto">
          <a:xfrm>
            <a:off x="76200" y="152400"/>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Deductive Reasoning</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body" idx="1"/>
          </p:nvPr>
        </p:nvSpPr>
        <p:spPr bwMode="auto">
          <a:xfrm>
            <a:off x="152400" y="1524000"/>
            <a:ext cx="72390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Any argument has the form</a:t>
            </a:r>
          </a:p>
          <a:p>
            <a:pPr algn="just" eaLnBrk="1" hangingPunct="1">
              <a:buClr>
                <a:srgbClr val="996600"/>
              </a:buClr>
              <a:buSzPct val="60000"/>
              <a:buFont typeface="Wingdings" panose="05000000000000000000" pitchFamily="2" charset="2"/>
              <a:buNone/>
              <a:defRPr/>
            </a:pPr>
            <a:r>
              <a:rPr lang="en-US" sz="2800" smtClean="0">
                <a:effectLst>
                  <a:outerShdw blurRad="38100" dist="38100" dir="2700000" algn="tl">
                    <a:srgbClr val="C0C0C0"/>
                  </a:outerShdw>
                </a:effectLst>
              </a:rPr>
              <a:t>	   If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1 and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2 and . . . and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n, then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(3)</a:t>
            </a:r>
          </a:p>
          <a:p>
            <a:pPr algn="just" eaLnBrk="1" hangingPunct="1">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Argument (3) is said to be valid if the conclusion follows from the hypotheses: that is, if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1 and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2 and . . . and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n are true, then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must also be true. This discussion motivates the following definition.</a:t>
            </a:r>
          </a:p>
        </p:txBody>
      </p:sp>
      <p:sp>
        <p:nvSpPr>
          <p:cNvPr id="152580" name="Rectangle 4"/>
          <p:cNvSpPr>
            <a:spLocks noChangeArrowheads="1"/>
          </p:cNvSpPr>
          <p:nvPr/>
        </p:nvSpPr>
        <p:spPr bwMode="auto">
          <a:xfrm>
            <a:off x="76200" y="152400"/>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Deductive Reasoning</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body" sz="half" idx="1"/>
          </p:nvPr>
        </p:nvSpPr>
        <p:spPr bwMode="auto">
          <a:xfrm>
            <a:off x="152400" y="1447800"/>
            <a:ext cx="7848600" cy="4038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996600"/>
              </a:buClr>
              <a:buSzPct val="60000"/>
              <a:buFont typeface="Wingdings" panose="05000000000000000000" pitchFamily="2" charset="2"/>
              <a:buChar char="q"/>
              <a:defRPr/>
            </a:pPr>
            <a:r>
              <a:rPr lang="en-US" smtClean="0">
                <a:effectLst>
                  <a:outerShdw blurRad="38100" dist="38100" dir="2700000" algn="tl">
                    <a:srgbClr val="C0C0C0"/>
                  </a:outerShdw>
                </a:effectLst>
              </a:rPr>
              <a:t>An argument is a sequence of propositions written</a:t>
            </a:r>
            <a:endParaRPr lang="en-US" b="1" smtClean="0">
              <a:effectLst>
                <a:outerShdw blurRad="38100" dist="38100" dir="2700000" algn="tl">
                  <a:srgbClr val="C0C0C0"/>
                </a:outerShdw>
              </a:effectLst>
            </a:endParaRPr>
          </a:p>
          <a:p>
            <a:pPr eaLnBrk="1" hangingPunct="1">
              <a:buFontTx/>
              <a:buNone/>
              <a:defRPr/>
            </a:pPr>
            <a:r>
              <a:rPr lang="en-US" smtClean="0">
                <a:effectLst>
                  <a:outerShdw blurRad="38100" dist="38100" dir="2700000" algn="tl">
                    <a:srgbClr val="C0C0C0"/>
                  </a:outerShdw>
                </a:effectLst>
              </a:rPr>
              <a:t>					</a:t>
            </a:r>
            <a:r>
              <a:rPr lang="en-US" i="1" smtClean="0">
                <a:effectLst>
                  <a:outerShdw blurRad="38100" dist="38100" dir="2700000" algn="tl">
                    <a:srgbClr val="C0C0C0"/>
                  </a:outerShdw>
                </a:effectLst>
              </a:rPr>
              <a:t>p</a:t>
            </a:r>
            <a:r>
              <a:rPr lang="en-US" baseline="-25000" smtClean="0">
                <a:effectLst>
                  <a:outerShdw blurRad="38100" dist="38100" dir="2700000" algn="tl">
                    <a:srgbClr val="C0C0C0"/>
                  </a:outerShdw>
                </a:effectLst>
              </a:rPr>
              <a:t>1</a:t>
            </a:r>
          </a:p>
          <a:p>
            <a:pPr eaLnBrk="1" hangingPunct="1">
              <a:buFontTx/>
              <a:buNone/>
              <a:defRPr/>
            </a:pPr>
            <a:r>
              <a:rPr lang="en-US" smtClean="0">
                <a:effectLst>
                  <a:outerShdw blurRad="38100" dist="38100" dir="2700000" algn="tl">
                    <a:srgbClr val="C0C0C0"/>
                  </a:outerShdw>
                </a:effectLst>
              </a:rPr>
              <a:t>					</a:t>
            </a:r>
            <a:r>
              <a:rPr lang="en-US" i="1" smtClean="0">
                <a:effectLst>
                  <a:outerShdw blurRad="38100" dist="38100" dir="2700000" algn="tl">
                    <a:srgbClr val="C0C0C0"/>
                  </a:outerShdw>
                </a:effectLst>
              </a:rPr>
              <a:t>p</a:t>
            </a:r>
            <a:r>
              <a:rPr lang="en-US" baseline="-25000" smtClean="0">
                <a:effectLst>
                  <a:outerShdw blurRad="38100" dist="38100" dir="2700000" algn="tl">
                    <a:srgbClr val="C0C0C0"/>
                  </a:outerShdw>
                </a:effectLst>
              </a:rPr>
              <a:t>2</a:t>
            </a:r>
          </a:p>
          <a:p>
            <a:pPr eaLnBrk="1" hangingPunct="1">
              <a:buFontTx/>
              <a:buNone/>
              <a:defRPr/>
            </a:pPr>
            <a:r>
              <a:rPr lang="en-US" smtClean="0">
                <a:effectLst>
                  <a:outerShdw blurRad="38100" dist="38100" dir="2700000" algn="tl">
                    <a:srgbClr val="C0C0C0"/>
                  </a:outerShdw>
                </a:effectLst>
              </a:rPr>
              <a:t>					 :								</a:t>
            </a:r>
            <a:r>
              <a:rPr lang="en-US" i="1" smtClean="0">
                <a:effectLst>
                  <a:outerShdw blurRad="38100" dist="38100" dir="2700000" algn="tl">
                    <a:srgbClr val="C0C0C0"/>
                  </a:outerShdw>
                </a:effectLst>
              </a:rPr>
              <a:t>p</a:t>
            </a:r>
            <a:r>
              <a:rPr lang="en-US" baseline="-25000" smtClean="0">
                <a:effectLst>
                  <a:outerShdw blurRad="38100" dist="38100" dir="2700000" algn="tl">
                    <a:srgbClr val="C0C0C0"/>
                  </a:outerShdw>
                </a:effectLst>
              </a:rPr>
              <a:t>n</a:t>
            </a:r>
            <a:r>
              <a:rPr lang="en-US" smtClean="0">
                <a:effectLst>
                  <a:outerShdw blurRad="38100" dist="38100" dir="2700000" algn="tl">
                    <a:srgbClr val="C0C0C0"/>
                  </a:outerShdw>
                </a:effectLst>
              </a:rPr>
              <a:t>	or</a:t>
            </a:r>
          </a:p>
          <a:p>
            <a:pPr eaLnBrk="1" hangingPunct="1">
              <a:buFontTx/>
              <a:buNone/>
              <a:defRPr/>
            </a:pPr>
            <a:r>
              <a:rPr lang="en-US" smtClean="0">
                <a:effectLst>
                  <a:outerShdw blurRad="38100" dist="38100" dir="2700000" algn="tl">
                    <a:srgbClr val="C0C0C0"/>
                  </a:outerShdw>
                </a:effectLst>
              </a:rPr>
              <a:t>				</a:t>
            </a:r>
            <a:r>
              <a:rPr lang="en-US" i="1" smtClean="0">
                <a:effectLst>
                  <a:outerShdw blurRad="38100" dist="38100" dir="2700000" algn="tl">
                    <a:srgbClr val="C0C0C0"/>
                  </a:outerShdw>
                </a:effectLst>
              </a:rPr>
              <a:t>p</a:t>
            </a:r>
            <a:r>
              <a:rPr lang="en-US" baseline="-25000" smtClean="0">
                <a:effectLst>
                  <a:outerShdw blurRad="38100" dist="38100" dir="2700000" algn="tl">
                    <a:srgbClr val="C0C0C0"/>
                  </a:outerShdw>
                </a:effectLst>
              </a:rPr>
              <a:t>1</a:t>
            </a:r>
            <a:r>
              <a:rPr lang="en-US" smtClean="0">
                <a:effectLst>
                  <a:outerShdw blurRad="38100" dist="38100" dir="2700000" algn="tl">
                    <a:srgbClr val="C0C0C0"/>
                  </a:outerShdw>
                </a:effectLst>
              </a:rPr>
              <a:t> and </a:t>
            </a:r>
            <a:r>
              <a:rPr lang="en-US" i="1" smtClean="0">
                <a:effectLst>
                  <a:outerShdw blurRad="38100" dist="38100" dir="2700000" algn="tl">
                    <a:srgbClr val="C0C0C0"/>
                  </a:outerShdw>
                </a:effectLst>
              </a:rPr>
              <a:t>p</a:t>
            </a:r>
            <a:r>
              <a:rPr lang="en-US" baseline="-25000" smtClean="0">
                <a:effectLst>
                  <a:outerShdw blurRad="38100" dist="38100" dir="2700000" algn="tl">
                    <a:srgbClr val="C0C0C0"/>
                  </a:outerShdw>
                </a:effectLst>
              </a:rPr>
              <a:t>2</a:t>
            </a:r>
            <a:r>
              <a:rPr lang="en-US" smtClean="0">
                <a:effectLst>
                  <a:outerShdw blurRad="38100" dist="38100" dir="2700000" algn="tl">
                    <a:srgbClr val="C0C0C0"/>
                  </a:outerShdw>
                </a:effectLst>
              </a:rPr>
              <a:t> , . . . , </a:t>
            </a:r>
            <a:r>
              <a:rPr lang="en-US" i="1" smtClean="0">
                <a:effectLst>
                  <a:outerShdw blurRad="38100" dist="38100" dir="2700000" algn="tl">
                    <a:srgbClr val="C0C0C0"/>
                  </a:outerShdw>
                </a:effectLst>
              </a:rPr>
              <a:t>p</a:t>
            </a:r>
            <a:r>
              <a:rPr lang="en-US" baseline="-25000" smtClean="0">
                <a:effectLst>
                  <a:outerShdw blurRad="38100" dist="38100" dir="2700000" algn="tl">
                    <a:srgbClr val="C0C0C0"/>
                  </a:outerShdw>
                </a:effectLst>
              </a:rPr>
              <a:t>n</a:t>
            </a:r>
            <a:r>
              <a:rPr lang="en-US" smtClean="0">
                <a:effectLst>
                  <a:outerShdw blurRad="38100" dist="38100" dir="2700000" algn="tl">
                    <a:srgbClr val="C0C0C0"/>
                  </a:outerShdw>
                </a:effectLst>
              </a:rPr>
              <a:t> /</a:t>
            </a:r>
            <a:endParaRPr lang="en-US" smtClean="0">
              <a:solidFill>
                <a:srgbClr val="FFFF00"/>
              </a:solidFill>
              <a:effectLst>
                <a:outerShdw blurRad="38100" dist="38100" dir="2700000" algn="tl">
                  <a:srgbClr val="C0C0C0"/>
                </a:outerShdw>
              </a:effectLst>
            </a:endParaRPr>
          </a:p>
        </p:txBody>
      </p:sp>
      <p:graphicFrame>
        <p:nvGraphicFramePr>
          <p:cNvPr id="106499" name="Object 3"/>
          <p:cNvGraphicFramePr>
            <a:graphicFrameLocks noGrp="1" noChangeAspect="1"/>
          </p:cNvGraphicFramePr>
          <p:nvPr>
            <p:ph sz="half" idx="2"/>
          </p:nvPr>
        </p:nvGraphicFramePr>
        <p:xfrm>
          <a:off x="6477000" y="4906963"/>
          <a:ext cx="615950" cy="427037"/>
        </p:xfrm>
        <a:graphic>
          <a:graphicData uri="http://schemas.openxmlformats.org/presentationml/2006/ole">
            <mc:AlternateContent xmlns:mc="http://schemas.openxmlformats.org/markup-compatibility/2006">
              <mc:Choice xmlns:v="urn:schemas-microsoft-com:vml" Requires="v">
                <p:oleObj spid="_x0000_s106505" name="Equation" r:id="rId3" imgW="406048" imgH="253780" progId="Equation.3">
                  <p:embed/>
                </p:oleObj>
              </mc:Choice>
              <mc:Fallback>
                <p:oleObj name="Equation" r:id="rId3" imgW="406048" imgH="2537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4906963"/>
                        <a:ext cx="615950" cy="4270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06" name="Rectangle 6"/>
          <p:cNvSpPr>
            <a:spLocks noGrp="1" noChangeArrowheads="1"/>
          </p:cNvSpPr>
          <p:nvPr>
            <p:ph type="title"/>
          </p:nvPr>
        </p:nvSpPr>
        <p:spPr bwMode="auto">
          <a:xfrm>
            <a:off x="76200" y="152400"/>
            <a:ext cx="7162800"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Deductive Reasoning</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bwMode="auto">
          <a:xfrm>
            <a:off x="228600" y="1493838"/>
            <a:ext cx="6934200" cy="45259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Clr>
                <a:srgbClr val="996600"/>
              </a:buClr>
              <a:buSzPct val="60000"/>
              <a:buFont typeface="Wingdings" panose="05000000000000000000" pitchFamily="2" charset="2"/>
              <a:buChar char="q"/>
              <a:defRPr/>
            </a:pPr>
            <a:r>
              <a:rPr lang="en-US" smtClean="0">
                <a:effectLst>
                  <a:outerShdw blurRad="38100" dist="38100" dir="2700000" algn="tl">
                    <a:srgbClr val="C0C0C0"/>
                  </a:outerShdw>
                </a:effectLst>
              </a:rPr>
              <a:t>The propositions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1 and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2 , . . . ,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n are called the </a:t>
            </a:r>
            <a:r>
              <a:rPr lang="en-US" b="1" smtClean="0">
                <a:solidFill>
                  <a:srgbClr val="990000"/>
                </a:solidFill>
                <a:effectLst>
                  <a:outerShdw blurRad="38100" dist="38100" dir="2700000" algn="tl">
                    <a:srgbClr val="C0C0C0"/>
                  </a:outerShdw>
                </a:effectLst>
              </a:rPr>
              <a:t>hypotheses</a:t>
            </a:r>
            <a:r>
              <a:rPr lang="en-US" smtClean="0">
                <a:solidFill>
                  <a:srgbClr val="990000"/>
                </a:solidFill>
                <a:effectLst>
                  <a:outerShdw blurRad="38100" dist="38100" dir="2700000" algn="tl">
                    <a:srgbClr val="C0C0C0"/>
                  </a:outerShdw>
                </a:effectLst>
              </a:rPr>
              <a:t> (or </a:t>
            </a:r>
            <a:r>
              <a:rPr lang="en-US" b="1" smtClean="0">
                <a:solidFill>
                  <a:srgbClr val="990000"/>
                </a:solidFill>
                <a:effectLst>
                  <a:outerShdw blurRad="38100" dist="38100" dir="2700000" algn="tl">
                    <a:srgbClr val="C0C0C0"/>
                  </a:outerShdw>
                </a:effectLst>
              </a:rPr>
              <a:t>premises</a:t>
            </a:r>
            <a:r>
              <a:rPr lang="en-US" smtClean="0">
                <a:solidFill>
                  <a:srgbClr val="990000"/>
                </a:solidFill>
                <a:effectLst>
                  <a:outerShdw blurRad="38100" dist="38100" dir="2700000" algn="tl">
                    <a:srgbClr val="C0C0C0"/>
                  </a:outerShdw>
                </a:effectLst>
              </a:rPr>
              <a:t>)</a:t>
            </a:r>
            <a:r>
              <a:rPr lang="en-US" smtClean="0">
                <a:effectLst>
                  <a:outerShdw blurRad="38100" dist="38100" dir="2700000" algn="tl">
                    <a:srgbClr val="C0C0C0"/>
                  </a:outerShdw>
                </a:effectLst>
              </a:rPr>
              <a:t> and the proposition </a:t>
            </a:r>
            <a:r>
              <a:rPr lang="en-US" i="1" smtClean="0">
                <a:effectLst>
                  <a:outerShdw blurRad="38100" dist="38100" dir="2700000" algn="tl">
                    <a:srgbClr val="C0C0C0"/>
                  </a:outerShdw>
                </a:effectLst>
              </a:rPr>
              <a:t>q</a:t>
            </a:r>
            <a:r>
              <a:rPr lang="en-US" smtClean="0">
                <a:effectLst>
                  <a:outerShdw blurRad="38100" dist="38100" dir="2700000" algn="tl">
                    <a:srgbClr val="C0C0C0"/>
                  </a:outerShdw>
                </a:effectLst>
              </a:rPr>
              <a:t> is called the </a:t>
            </a:r>
            <a:r>
              <a:rPr lang="en-US" b="1" smtClean="0">
                <a:solidFill>
                  <a:srgbClr val="990000"/>
                </a:solidFill>
                <a:effectLst>
                  <a:outerShdw blurRad="38100" dist="38100" dir="2700000" algn="tl">
                    <a:srgbClr val="C0C0C0"/>
                  </a:outerShdw>
                </a:effectLst>
              </a:rPr>
              <a:t>conclusion</a:t>
            </a:r>
            <a:r>
              <a:rPr lang="en-US" smtClean="0">
                <a:effectLst>
                  <a:outerShdw blurRad="38100" dist="38100" dir="2700000" algn="tl">
                    <a:srgbClr val="C0C0C0"/>
                  </a:outerShdw>
                </a:effectLst>
              </a:rPr>
              <a:t>. </a:t>
            </a:r>
          </a:p>
          <a:p>
            <a:pPr algn="just" eaLnBrk="1" hangingPunct="1">
              <a:lnSpc>
                <a:spcPct val="90000"/>
              </a:lnSpc>
              <a:buClr>
                <a:srgbClr val="996600"/>
              </a:buClr>
              <a:buSzPct val="60000"/>
              <a:buFont typeface="Wingdings" panose="05000000000000000000" pitchFamily="2" charset="2"/>
              <a:buChar char="q"/>
              <a:defRPr/>
            </a:pPr>
            <a:r>
              <a:rPr lang="en-US" smtClean="0">
                <a:effectLst>
                  <a:outerShdw blurRad="38100" dist="38100" dir="2700000" algn="tl">
                    <a:srgbClr val="C0C0C0"/>
                  </a:outerShdw>
                </a:effectLst>
              </a:rPr>
              <a:t>The argument is </a:t>
            </a:r>
            <a:r>
              <a:rPr lang="en-US" b="1" smtClean="0">
                <a:solidFill>
                  <a:srgbClr val="990000"/>
                </a:solidFill>
                <a:effectLst>
                  <a:outerShdw blurRad="38100" dist="38100" dir="2700000" algn="tl">
                    <a:srgbClr val="C0C0C0"/>
                  </a:outerShdw>
                </a:effectLst>
              </a:rPr>
              <a:t>valid</a:t>
            </a:r>
            <a:r>
              <a:rPr lang="en-US" smtClean="0">
                <a:effectLst>
                  <a:outerShdw blurRad="38100" dist="38100" dir="2700000" algn="tl">
                    <a:srgbClr val="C0C0C0"/>
                  </a:outerShdw>
                </a:effectLst>
              </a:rPr>
              <a:t> provided that if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1 and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2 and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3. . . and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n are all true, then </a:t>
            </a:r>
            <a:r>
              <a:rPr lang="en-US" i="1" smtClean="0">
                <a:effectLst>
                  <a:outerShdw blurRad="38100" dist="38100" dir="2700000" algn="tl">
                    <a:srgbClr val="C0C0C0"/>
                  </a:outerShdw>
                </a:effectLst>
              </a:rPr>
              <a:t>q</a:t>
            </a:r>
            <a:r>
              <a:rPr lang="en-US" smtClean="0">
                <a:effectLst>
                  <a:outerShdw blurRad="38100" dist="38100" dir="2700000" algn="tl">
                    <a:srgbClr val="C0C0C0"/>
                  </a:outerShdw>
                </a:effectLst>
              </a:rPr>
              <a:t> must also be true; otherwise, the argument is </a:t>
            </a:r>
            <a:r>
              <a:rPr lang="en-US" b="1" smtClean="0">
                <a:effectLst>
                  <a:outerShdw blurRad="38100" dist="38100" dir="2700000" algn="tl">
                    <a:srgbClr val="C0C0C0"/>
                  </a:outerShdw>
                </a:effectLst>
              </a:rPr>
              <a:t>invalid </a:t>
            </a:r>
            <a:r>
              <a:rPr lang="en-US" smtClean="0">
                <a:solidFill>
                  <a:srgbClr val="990000"/>
                </a:solidFill>
                <a:effectLst>
                  <a:outerShdw blurRad="38100" dist="38100" dir="2700000" algn="tl">
                    <a:srgbClr val="C0C0C0"/>
                  </a:outerShdw>
                </a:effectLst>
              </a:rPr>
              <a:t>(or a </a:t>
            </a:r>
            <a:r>
              <a:rPr lang="en-US" b="1" smtClean="0">
                <a:solidFill>
                  <a:srgbClr val="990000"/>
                </a:solidFill>
                <a:effectLst>
                  <a:outerShdw blurRad="38100" dist="38100" dir="2700000" algn="tl">
                    <a:srgbClr val="C0C0C0"/>
                  </a:outerShdw>
                </a:effectLst>
              </a:rPr>
              <a:t>fallacy</a:t>
            </a:r>
            <a:r>
              <a:rPr lang="en-US" smtClean="0">
                <a:solidFill>
                  <a:srgbClr val="990000"/>
                </a:solidFill>
                <a:effectLst>
                  <a:outerShdw blurRad="38100" dist="38100" dir="2700000" algn="tl">
                    <a:srgbClr val="C0C0C0"/>
                  </a:outerShdw>
                </a:effectLst>
              </a:rPr>
              <a:t>)</a:t>
            </a:r>
            <a:r>
              <a:rPr lang="en-US" smtClean="0">
                <a:solidFill>
                  <a:srgbClr val="FFFF00"/>
                </a:solidFill>
                <a:effectLst>
                  <a:outerShdw blurRad="38100" dist="38100" dir="2700000" algn="tl">
                    <a:srgbClr val="C0C0C0"/>
                  </a:outerShdw>
                </a:effectLst>
              </a:rPr>
              <a:t>.</a:t>
            </a:r>
          </a:p>
        </p:txBody>
      </p:sp>
      <p:sp>
        <p:nvSpPr>
          <p:cNvPr id="154629" name="Rectangle 5"/>
          <p:cNvSpPr>
            <a:spLocks noChangeArrowheads="1"/>
          </p:cNvSpPr>
          <p:nvPr/>
        </p:nvSpPr>
        <p:spPr bwMode="auto">
          <a:xfrm>
            <a:off x="76200" y="152400"/>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Deductive Reasoning</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body" idx="1"/>
          </p:nvPr>
        </p:nvSpPr>
        <p:spPr bwMode="auto">
          <a:xfrm>
            <a:off x="152400" y="1371600"/>
            <a:ext cx="70104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Clr>
                <a:srgbClr val="996600"/>
              </a:buClr>
              <a:buSzPct val="60000"/>
              <a:buFont typeface="Wingdings" panose="05000000000000000000" pitchFamily="2" charset="2"/>
              <a:buChar char="q"/>
              <a:defRPr/>
            </a:pPr>
            <a:r>
              <a:rPr lang="en-US" smtClean="0">
                <a:effectLst>
                  <a:outerShdw blurRad="38100" dist="38100" dir="2700000" algn="tl">
                    <a:srgbClr val="C0C0C0"/>
                  </a:outerShdw>
                </a:effectLst>
              </a:rPr>
              <a:t>In a valid argument, we sometimes say that the conclusion follows from the hypotheses. Notice that we are not saying that the conclusion is true; we are only saying that if you grant the hypotheses, you must also grant the conclusion. An argument is valid because of its form, not because of its content.</a:t>
            </a:r>
          </a:p>
        </p:txBody>
      </p:sp>
      <p:sp>
        <p:nvSpPr>
          <p:cNvPr id="155653" name="Rectangle 5"/>
          <p:cNvSpPr>
            <a:spLocks noChangeArrowheads="1"/>
          </p:cNvSpPr>
          <p:nvPr/>
        </p:nvSpPr>
        <p:spPr bwMode="auto">
          <a:xfrm>
            <a:off x="76200" y="152400"/>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Deductive Reasoning</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1447800" y="2819400"/>
            <a:ext cx="2209800" cy="2133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sp>
        <p:nvSpPr>
          <p:cNvPr id="156676" name="Rectangle 4"/>
          <p:cNvSpPr>
            <a:spLocks noGrp="1" noChangeArrowheads="1"/>
          </p:cNvSpPr>
          <p:nvPr>
            <p:ph type="body" sz="half" idx="1"/>
          </p:nvPr>
        </p:nvSpPr>
        <p:spPr bwMode="auto">
          <a:xfrm>
            <a:off x="304800" y="1655763"/>
            <a:ext cx="6781800" cy="44402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Determine whether the argument  </a:t>
            </a:r>
            <a:endParaRPr lang="en-US" sz="2800" b="1" smtClean="0">
              <a:effectLst>
                <a:outerShdw blurRad="38100" dist="38100" dir="2700000" algn="tl">
                  <a:srgbClr val="C0C0C0"/>
                </a:outerShdw>
              </a:effectLst>
            </a:endParaRPr>
          </a:p>
          <a:p>
            <a:pPr eaLnBrk="1" hangingPunct="1">
              <a:buClr>
                <a:srgbClr val="996600"/>
              </a:buClr>
              <a:buSzPct val="60000"/>
              <a:buFont typeface="Wingdings" panose="05000000000000000000" pitchFamily="2" charset="2"/>
              <a:buNone/>
              <a:defRPr/>
            </a:pPr>
            <a:r>
              <a:rPr lang="en-US" sz="2800" smtClean="0">
                <a:effectLst>
                  <a:outerShdw blurRad="38100" dist="38100" dir="2700000" algn="tl">
                    <a:srgbClr val="C0C0C0"/>
                  </a:outerShdw>
                </a:effectLst>
              </a:rPr>
              <a:t>										</a:t>
            </a:r>
          </a:p>
          <a:p>
            <a:pPr eaLnBrk="1" hangingPunct="1">
              <a:buClr>
                <a:srgbClr val="996600"/>
              </a:buClr>
              <a:buSzPct val="60000"/>
              <a:buFont typeface="Wingdings" panose="05000000000000000000" pitchFamily="2" charset="2"/>
              <a:buChar char="q"/>
              <a:defRPr/>
            </a:pPr>
            <a:endParaRPr lang="en-US" sz="2800" smtClean="0">
              <a:effectLst>
                <a:outerShdw blurRad="38100" dist="38100" dir="2700000" algn="tl">
                  <a:srgbClr val="C0C0C0"/>
                </a:outerShdw>
              </a:effectLst>
            </a:endParaRPr>
          </a:p>
          <a:p>
            <a:pPr eaLnBrk="1" hangingPunct="1">
              <a:buClr>
                <a:srgbClr val="996600"/>
              </a:buClr>
              <a:buSzPct val="60000"/>
              <a:buFont typeface="Wingdings" panose="05000000000000000000" pitchFamily="2" charset="2"/>
              <a:buChar char="q"/>
              <a:defRPr/>
            </a:pPr>
            <a:endParaRPr lang="en-US" sz="2800" smtClean="0">
              <a:effectLst>
                <a:outerShdw blurRad="38100" dist="38100" dir="2700000" algn="tl">
                  <a:srgbClr val="C0C0C0"/>
                </a:outerShdw>
              </a:effectLst>
            </a:endParaRPr>
          </a:p>
          <a:p>
            <a:pPr eaLnBrk="1" hangingPunct="1">
              <a:buClr>
                <a:srgbClr val="996600"/>
              </a:buClr>
              <a:buSzPct val="60000"/>
              <a:buFont typeface="Wingdings" panose="05000000000000000000" pitchFamily="2" charset="2"/>
              <a:buChar char="q"/>
              <a:defRPr/>
            </a:pPr>
            <a:endParaRPr lang="en-US" sz="2800" smtClean="0">
              <a:effectLst>
                <a:outerShdw blurRad="38100" dist="38100" dir="2700000" algn="tl">
                  <a:srgbClr val="C0C0C0"/>
                </a:outerShdw>
              </a:effectLst>
            </a:endParaRPr>
          </a:p>
          <a:p>
            <a:pPr eaLnBrk="1" hangingPunct="1">
              <a:buClr>
                <a:srgbClr val="996600"/>
              </a:buClr>
              <a:buSzPct val="60000"/>
              <a:buFont typeface="Wingdings" panose="05000000000000000000" pitchFamily="2" charset="2"/>
              <a:buChar char="q"/>
              <a:defRPr/>
            </a:pPr>
            <a:endParaRPr lang="en-US" sz="2800" smtClean="0">
              <a:effectLst>
                <a:outerShdw blurRad="38100" dist="38100" dir="2700000" algn="tl">
                  <a:srgbClr val="C0C0C0"/>
                </a:outerShdw>
              </a:effectLst>
            </a:endParaRPr>
          </a:p>
          <a:p>
            <a:pPr eaLnBrk="1" hangingPunct="1">
              <a:buClr>
                <a:srgbClr val="996600"/>
              </a:buClr>
              <a:buSzPct val="60000"/>
              <a:buFont typeface="Wingdings" panose="05000000000000000000" pitchFamily="2" charset="2"/>
              <a:buNone/>
              <a:defRPr/>
            </a:pPr>
            <a:r>
              <a:rPr lang="en-US" sz="2800" smtClean="0">
                <a:effectLst>
                  <a:outerShdw blurRad="38100" dist="38100" dir="2700000" algn="tl">
                    <a:srgbClr val="C0C0C0"/>
                  </a:outerShdw>
                </a:effectLst>
              </a:rPr>
              <a:t>	is valid.</a:t>
            </a:r>
          </a:p>
        </p:txBody>
      </p:sp>
      <p:graphicFrame>
        <p:nvGraphicFramePr>
          <p:cNvPr id="109572" name="Object 5"/>
          <p:cNvGraphicFramePr>
            <a:graphicFrameLocks noGrp="1" noChangeAspect="1"/>
          </p:cNvGraphicFramePr>
          <p:nvPr>
            <p:ph sz="quarter" idx="2"/>
          </p:nvPr>
        </p:nvGraphicFramePr>
        <p:xfrm>
          <a:off x="1765300" y="2965450"/>
          <a:ext cx="1460500" cy="541338"/>
        </p:xfrm>
        <a:graphic>
          <a:graphicData uri="http://schemas.openxmlformats.org/presentationml/2006/ole">
            <mc:AlternateContent xmlns:mc="http://schemas.openxmlformats.org/markup-compatibility/2006">
              <mc:Choice xmlns:v="urn:schemas-microsoft-com:vml" Requires="v">
                <p:oleObj spid="_x0000_s109589" name="Equation" r:id="rId3" imgW="761669" imgH="253890" progId="Equation.3">
                  <p:embed/>
                </p:oleObj>
              </mc:Choice>
              <mc:Fallback>
                <p:oleObj name="Equation" r:id="rId3" imgW="761669" imgH="25389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300" y="2965450"/>
                        <a:ext cx="1460500" cy="5413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3" name="Object 6"/>
          <p:cNvGraphicFramePr>
            <a:graphicFrameLocks noGrp="1" noChangeAspect="1"/>
          </p:cNvGraphicFramePr>
          <p:nvPr>
            <p:ph sz="quarter" idx="3"/>
          </p:nvPr>
        </p:nvGraphicFramePr>
        <p:xfrm>
          <a:off x="1841500" y="3692525"/>
          <a:ext cx="363538" cy="425450"/>
        </p:xfrm>
        <a:graphic>
          <a:graphicData uri="http://schemas.openxmlformats.org/presentationml/2006/ole">
            <mc:AlternateContent xmlns:mc="http://schemas.openxmlformats.org/markup-compatibility/2006">
              <mc:Choice xmlns:v="urn:schemas-microsoft-com:vml" Requires="v">
                <p:oleObj spid="_x0000_s109590" name="Equation" r:id="rId5" imgW="228600" imgH="241300" progId="Equation.3">
                  <p:embed/>
                </p:oleObj>
              </mc:Choice>
              <mc:Fallback>
                <p:oleObj name="Equation" r:id="rId5" imgW="228600" imgH="2413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1500" y="3692525"/>
                        <a:ext cx="363538" cy="4254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4" name="Object 7"/>
          <p:cNvGraphicFramePr>
            <a:graphicFrameLocks noChangeAspect="1"/>
          </p:cNvGraphicFramePr>
          <p:nvPr/>
        </p:nvGraphicFramePr>
        <p:xfrm>
          <a:off x="2362200" y="4343400"/>
          <a:ext cx="765175" cy="481013"/>
        </p:xfrm>
        <a:graphic>
          <a:graphicData uri="http://schemas.openxmlformats.org/presentationml/2006/ole">
            <mc:AlternateContent xmlns:mc="http://schemas.openxmlformats.org/markup-compatibility/2006">
              <mc:Choice xmlns:v="urn:schemas-microsoft-com:vml" Requires="v">
                <p:oleObj spid="_x0000_s109591" name="Equation" r:id="rId7" imgW="406048" imgH="253780" progId="Equation.3">
                  <p:embed/>
                </p:oleObj>
              </mc:Choice>
              <mc:Fallback>
                <p:oleObj name="Equation" r:id="rId7" imgW="406048" imgH="25378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4343400"/>
                        <a:ext cx="765175" cy="4810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5" name="Line 8"/>
          <p:cNvSpPr>
            <a:spLocks noChangeShapeType="1"/>
          </p:cNvSpPr>
          <p:nvPr/>
        </p:nvSpPr>
        <p:spPr bwMode="auto">
          <a:xfrm>
            <a:off x="1752600" y="41910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56681" name="Rectangle 9"/>
          <p:cNvSpPr>
            <a:spLocks noChangeArrowheads="1"/>
          </p:cNvSpPr>
          <p:nvPr/>
        </p:nvSpPr>
        <p:spPr bwMode="auto">
          <a:xfrm>
            <a:off x="76200" y="152400"/>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bwMode="auto">
          <a:xfrm>
            <a:off x="76200" y="274638"/>
            <a:ext cx="7010400" cy="7921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Example 1</a:t>
            </a:r>
          </a:p>
        </p:txBody>
      </p:sp>
      <p:sp>
        <p:nvSpPr>
          <p:cNvPr id="157699" name="Rectangle 3"/>
          <p:cNvSpPr>
            <a:spLocks noGrp="1" noChangeArrowheads="1"/>
          </p:cNvSpPr>
          <p:nvPr>
            <p:ph type="body" sz="half" idx="1"/>
          </p:nvPr>
        </p:nvSpPr>
        <p:spPr bwMode="auto">
          <a:xfrm>
            <a:off x="0" y="1600200"/>
            <a:ext cx="72390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[First solution.] We construct a truth table for all the propositions involved: </a:t>
            </a:r>
          </a:p>
        </p:txBody>
      </p:sp>
      <p:graphicFrame>
        <p:nvGraphicFramePr>
          <p:cNvPr id="157700" name="Group 4"/>
          <p:cNvGraphicFramePr>
            <a:graphicFrameLocks noGrp="1"/>
          </p:cNvGraphicFramePr>
          <p:nvPr>
            <p:ph sz="quarter" idx="2"/>
          </p:nvPr>
        </p:nvGraphicFramePr>
        <p:xfrm>
          <a:off x="1330325" y="2965450"/>
          <a:ext cx="4384675" cy="2811463"/>
        </p:xfrm>
        <a:graphic>
          <a:graphicData uri="http://schemas.openxmlformats.org/drawingml/2006/table">
            <a:tbl>
              <a:tblPr/>
              <a:tblGrid>
                <a:gridCol w="808038"/>
                <a:gridCol w="808037"/>
                <a:gridCol w="1152525"/>
                <a:gridCol w="846138"/>
                <a:gridCol w="769937"/>
              </a:tblGrid>
              <a:tr h="5619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q</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19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19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1975">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0634" name="Object 42"/>
          <p:cNvGraphicFramePr>
            <a:graphicFrameLocks noGrp="1" noChangeAspect="1"/>
          </p:cNvGraphicFramePr>
          <p:nvPr>
            <p:ph sz="quarter" idx="3"/>
          </p:nvPr>
        </p:nvGraphicFramePr>
        <p:xfrm>
          <a:off x="3067050" y="3095625"/>
          <a:ext cx="846138" cy="314325"/>
        </p:xfrm>
        <a:graphic>
          <a:graphicData uri="http://schemas.openxmlformats.org/presentationml/2006/ole">
            <mc:AlternateContent xmlns:mc="http://schemas.openxmlformats.org/markup-compatibility/2006">
              <mc:Choice xmlns:v="urn:schemas-microsoft-com:vml" Requires="v">
                <p:oleObj spid="_x0000_s110639" name="Equation" r:id="rId3" imgW="761669" imgH="253890" progId="Equation.3">
                  <p:embed/>
                </p:oleObj>
              </mc:Choice>
              <mc:Fallback>
                <p:oleObj name="Equation" r:id="rId3" imgW="761669" imgH="253890" progId="Equation.3">
                  <p:embed/>
                  <p:pic>
                    <p:nvPicPr>
                      <p:cNvPr id="0"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7050" y="3095625"/>
                        <a:ext cx="846138" cy="3143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3"/>
          <p:cNvSpPr>
            <a:spLocks noGrp="1" noChangeArrowheads="1"/>
          </p:cNvSpPr>
          <p:nvPr>
            <p:ph type="body" idx="1"/>
          </p:nvPr>
        </p:nvSpPr>
        <p:spPr bwMode="auto">
          <a:xfrm>
            <a:off x="0" y="1447800"/>
            <a:ext cx="72390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z="2800" smtClean="0">
                <a:effectLst>
                  <a:outerShdw blurRad="38100" dist="38100" dir="2700000" algn="tl">
                    <a:srgbClr val="C0C0C0"/>
                  </a:outerShdw>
                </a:effectLst>
              </a:rPr>
              <a:t>	We observe that whenever the hypotheses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and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 are true, the conclusion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is also true; therefore, the argument is valid. </a:t>
            </a:r>
          </a:p>
          <a:p>
            <a:pPr algn="just" eaLnBrk="1" hangingPunct="1">
              <a:lnSpc>
                <a:spcPct val="90000"/>
              </a:lnSpc>
              <a:buClr>
                <a:srgbClr val="996600"/>
              </a:buClr>
              <a:buSzPct val="60000"/>
              <a:buFont typeface="Wingdings" panose="05000000000000000000" pitchFamily="2" charset="2"/>
              <a:buChar char="q"/>
              <a:defRPr/>
            </a:pPr>
            <a:r>
              <a:rPr lang="en-US" sz="2800" smtClean="0">
                <a:effectLst>
                  <a:outerShdw blurRad="38100" dist="38100" dir="2700000" algn="tl">
                    <a:srgbClr val="C0C0C0"/>
                  </a:outerShdw>
                </a:effectLst>
              </a:rPr>
              <a:t>[Second solution.] We can avoid writing the truth table by directly verifying that whenever the hypotheses are true, the conclusion is also true. </a:t>
            </a:r>
          </a:p>
          <a:p>
            <a:pPr algn="just" eaLnBrk="1" hangingPunct="1">
              <a:lnSpc>
                <a:spcPct val="90000"/>
              </a:lnSpc>
              <a:buFontTx/>
              <a:buNone/>
              <a:defRPr/>
            </a:pPr>
            <a:r>
              <a:rPr lang="en-US" sz="2800" smtClean="0">
                <a:effectLst>
                  <a:outerShdw blurRad="38100" dist="38100" dir="2700000" algn="tl">
                    <a:srgbClr val="C0C0C0"/>
                  </a:outerShdw>
                </a:effectLst>
              </a:rPr>
              <a:t>	Suppose that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and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 are true. Then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must be true, for otherwise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would be false. Therefore, the argument is valid.</a:t>
            </a:r>
          </a:p>
        </p:txBody>
      </p:sp>
      <p:sp>
        <p:nvSpPr>
          <p:cNvPr id="158725" name="Rectangle 5"/>
          <p:cNvSpPr>
            <a:spLocks noGrp="1" noChangeArrowheads="1"/>
          </p:cNvSpPr>
          <p:nvPr>
            <p:ph type="title"/>
          </p:nvPr>
        </p:nvSpPr>
        <p:spPr bwMode="auto">
          <a:xfrm>
            <a:off x="76200" y="274638"/>
            <a:ext cx="7010400" cy="7921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Example 1</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bwMode="auto">
          <a:xfrm>
            <a:off x="0" y="198438"/>
            <a:ext cx="7086600" cy="7921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Example 2</a:t>
            </a:r>
          </a:p>
        </p:txBody>
      </p:sp>
      <p:sp>
        <p:nvSpPr>
          <p:cNvPr id="159747" name="Rectangle 3"/>
          <p:cNvSpPr>
            <a:spLocks noGrp="1" noChangeArrowheads="1"/>
          </p:cNvSpPr>
          <p:nvPr>
            <p:ph type="body" sz="half" idx="1"/>
          </p:nvPr>
        </p:nvSpPr>
        <p:spPr bwMode="auto">
          <a:xfrm>
            <a:off x="228600" y="1341438"/>
            <a:ext cx="7767638" cy="45259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smtClean="0">
                <a:effectLst>
                  <a:outerShdw blurRad="38100" dist="38100" dir="2700000" algn="tl">
                    <a:srgbClr val="C0C0C0"/>
                  </a:outerShdw>
                </a:effectLst>
              </a:rPr>
              <a:t>	Represent the argument </a:t>
            </a:r>
            <a:endParaRPr lang="en-US" b="1" smtClean="0">
              <a:effectLst>
                <a:outerShdw blurRad="38100" dist="38100" dir="2700000" algn="tl">
                  <a:srgbClr val="C0C0C0"/>
                </a:outerShdw>
              </a:effectLst>
            </a:endParaRPr>
          </a:p>
          <a:p>
            <a:pPr eaLnBrk="1" hangingPunct="1">
              <a:buFontTx/>
              <a:buNone/>
              <a:defRPr/>
            </a:pPr>
            <a:r>
              <a:rPr lang="en-US" smtClean="0">
                <a:effectLst>
                  <a:outerShdw blurRad="38100" dist="38100" dir="2700000" algn="tl">
                    <a:srgbClr val="C0C0C0"/>
                  </a:outerShdw>
                </a:effectLst>
              </a:rPr>
              <a:t>			If 2 = 3, then I ate my hat. </a:t>
            </a:r>
          </a:p>
          <a:p>
            <a:pPr eaLnBrk="1" hangingPunct="1">
              <a:buFontTx/>
              <a:buNone/>
              <a:defRPr/>
            </a:pPr>
            <a:r>
              <a:rPr lang="en-US" smtClean="0">
                <a:effectLst>
                  <a:outerShdw blurRad="38100" dist="38100" dir="2700000" algn="tl">
                    <a:srgbClr val="C0C0C0"/>
                  </a:outerShdw>
                </a:effectLst>
              </a:rPr>
              <a:t>			I ate my hat.</a:t>
            </a:r>
            <a:r>
              <a:rPr lang="en-US" sz="2800" smtClean="0">
                <a:effectLst>
                  <a:outerShdw blurRad="38100" dist="38100" dir="2700000" algn="tl">
                    <a:srgbClr val="C0C0C0"/>
                  </a:outerShdw>
                </a:effectLst>
              </a:rPr>
              <a:t>                           </a:t>
            </a:r>
          </a:p>
          <a:p>
            <a:pPr eaLnBrk="1" hangingPunct="1">
              <a:buFontTx/>
              <a:buNone/>
              <a:defRPr/>
            </a:pPr>
            <a:r>
              <a:rPr lang="en-US" sz="2800" smtClean="0">
                <a:effectLst>
                  <a:outerShdw blurRad="38100" dist="38100" dir="2700000" algn="tl">
                    <a:srgbClr val="C0C0C0"/>
                  </a:outerShdw>
                </a:effectLst>
              </a:rPr>
              <a:t> 			     </a:t>
            </a:r>
            <a:r>
              <a:rPr lang="en-US" smtClean="0">
                <a:effectLst>
                  <a:outerShdw blurRad="38100" dist="38100" dir="2700000" algn="tl">
                    <a:srgbClr val="C0C0C0"/>
                  </a:outerShdw>
                </a:effectLst>
              </a:rPr>
              <a:t>2 = 3</a:t>
            </a:r>
          </a:p>
          <a:p>
            <a:pPr eaLnBrk="1" hangingPunct="1">
              <a:buFontTx/>
              <a:buNone/>
              <a:defRPr/>
            </a:pPr>
            <a:r>
              <a:rPr lang="en-US" sz="2800" smtClean="0">
                <a:effectLst>
                  <a:outerShdw blurRad="38100" dist="38100" dir="2700000" algn="tl">
                    <a:srgbClr val="C0C0C0"/>
                  </a:outerShdw>
                </a:effectLst>
              </a:rPr>
              <a:t>			</a:t>
            </a:r>
          </a:p>
          <a:p>
            <a:pPr algn="just" eaLnBrk="1" hangingPunct="1">
              <a:buFontTx/>
              <a:buNone/>
              <a:defRPr/>
            </a:pPr>
            <a:r>
              <a:rPr lang="en-US" sz="2800" smtClean="0">
                <a:effectLst>
                  <a:outerShdw blurRad="38100" dist="38100" dir="2700000" algn="tl">
                    <a:srgbClr val="C0C0C0"/>
                  </a:outerShdw>
                </a:effectLst>
              </a:rPr>
              <a:t>	symbolically and determine whether the argument is valid. </a:t>
            </a:r>
          </a:p>
        </p:txBody>
      </p:sp>
      <p:sp>
        <p:nvSpPr>
          <p:cNvPr id="112644" name="Line 4"/>
          <p:cNvSpPr>
            <a:spLocks noChangeShapeType="1"/>
          </p:cNvSpPr>
          <p:nvPr/>
        </p:nvSpPr>
        <p:spPr bwMode="auto">
          <a:xfrm>
            <a:off x="1905000" y="3124200"/>
            <a:ext cx="495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graphicFrame>
        <p:nvGraphicFramePr>
          <p:cNvPr id="112645" name="Object 5"/>
          <p:cNvGraphicFramePr>
            <a:graphicFrameLocks noGrp="1" noChangeAspect="1"/>
          </p:cNvGraphicFramePr>
          <p:nvPr>
            <p:ph sz="half" idx="2"/>
          </p:nvPr>
        </p:nvGraphicFramePr>
        <p:xfrm>
          <a:off x="2138363" y="3200400"/>
          <a:ext cx="300037" cy="312738"/>
        </p:xfrm>
        <a:graphic>
          <a:graphicData uri="http://schemas.openxmlformats.org/presentationml/2006/ole">
            <mc:AlternateContent xmlns:mc="http://schemas.openxmlformats.org/markup-compatibility/2006">
              <mc:Choice xmlns:v="urn:schemas-microsoft-com:vml" Requires="v">
                <p:oleObj spid="_x0000_s112650" name="Equation" r:id="rId3" imgW="203112" imgH="190417" progId="Equation.3">
                  <p:embed/>
                </p:oleObj>
              </mc:Choice>
              <mc:Fallback>
                <p:oleObj name="Equation" r:id="rId3" imgW="203112" imgH="19041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8363" y="3200400"/>
                        <a:ext cx="300037" cy="3127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3"/>
          <p:cNvSpPr>
            <a:spLocks noGrp="1" noChangeArrowheads="1"/>
          </p:cNvSpPr>
          <p:nvPr>
            <p:ph type="body" idx="1"/>
          </p:nvPr>
        </p:nvSpPr>
        <p:spPr bwMode="auto">
          <a:xfrm>
            <a:off x="457200" y="1600200"/>
            <a:ext cx="8229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smtClean="0">
                <a:effectLst>
                  <a:outerShdw blurRad="38100" dist="38100" dir="2700000" algn="tl">
                    <a:srgbClr val="C0C0C0"/>
                  </a:outerShdw>
                </a:effectLst>
              </a:rPr>
              <a:t>Solution.</a:t>
            </a:r>
          </a:p>
          <a:p>
            <a:pPr eaLnBrk="1" hangingPunct="1">
              <a:buFontTx/>
              <a:buNone/>
              <a:defRPr/>
            </a:pPr>
            <a:r>
              <a:rPr lang="en-US" smtClean="0">
                <a:effectLst>
                  <a:outerShdw blurRad="38100" dist="38100" dir="2700000" algn="tl">
                    <a:srgbClr val="C0C0C0"/>
                  </a:outerShdw>
                </a:effectLst>
              </a:rPr>
              <a:t>	If we let </a:t>
            </a:r>
            <a:endParaRPr lang="en-US" i="1" smtClean="0">
              <a:effectLst>
                <a:outerShdw blurRad="38100" dist="38100" dir="2700000" algn="tl">
                  <a:srgbClr val="C0C0C0"/>
                </a:outerShdw>
              </a:effectLst>
            </a:endParaRPr>
          </a:p>
          <a:p>
            <a:pPr eaLnBrk="1" hangingPunct="1">
              <a:buFontTx/>
              <a:buNone/>
              <a:defRPr/>
            </a:pPr>
            <a:r>
              <a:rPr lang="en-US" i="1" smtClean="0">
                <a:effectLst>
                  <a:outerShdw blurRad="38100" dist="38100" dir="2700000" algn="tl">
                    <a:srgbClr val="C0C0C0"/>
                  </a:outerShdw>
                </a:effectLst>
              </a:rPr>
              <a:t>		p</a:t>
            </a:r>
            <a:r>
              <a:rPr lang="en-US" smtClean="0">
                <a:effectLst>
                  <a:outerShdw blurRad="38100" dist="38100" dir="2700000" algn="tl">
                    <a:srgbClr val="C0C0C0"/>
                  </a:outerShdw>
                </a:effectLst>
              </a:rPr>
              <a:t>: 2 =3,	</a:t>
            </a:r>
            <a:r>
              <a:rPr lang="en-US" i="1" smtClean="0">
                <a:effectLst>
                  <a:outerShdw blurRad="38100" dist="38100" dir="2700000" algn="tl">
                    <a:srgbClr val="C0C0C0"/>
                  </a:outerShdw>
                </a:effectLst>
              </a:rPr>
              <a:t>q</a:t>
            </a:r>
            <a:r>
              <a:rPr lang="en-US" smtClean="0">
                <a:effectLst>
                  <a:outerShdw blurRad="38100" dist="38100" dir="2700000" algn="tl">
                    <a:srgbClr val="C0C0C0"/>
                  </a:outerShdw>
                </a:effectLst>
              </a:rPr>
              <a:t>: I ate my hat. </a:t>
            </a:r>
          </a:p>
          <a:p>
            <a:pPr eaLnBrk="1" hangingPunct="1">
              <a:buFontTx/>
              <a:buNone/>
              <a:defRPr/>
            </a:pPr>
            <a:r>
              <a:rPr lang="en-US" smtClean="0">
                <a:effectLst>
                  <a:outerShdw blurRad="38100" dist="38100" dir="2700000" algn="tl">
                    <a:srgbClr val="C0C0C0"/>
                  </a:outerShdw>
                </a:effectLst>
              </a:rPr>
              <a:t>	the argument may be written</a:t>
            </a:r>
          </a:p>
        </p:txBody>
      </p:sp>
      <p:sp>
        <p:nvSpPr>
          <p:cNvPr id="113667" name="Rectangle 4"/>
          <p:cNvSpPr>
            <a:spLocks noChangeArrowheads="1"/>
          </p:cNvSpPr>
          <p:nvPr/>
        </p:nvSpPr>
        <p:spPr bwMode="auto">
          <a:xfrm>
            <a:off x="1752600" y="4191000"/>
            <a:ext cx="1981200" cy="1752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13668" name="Object 5"/>
          <p:cNvGraphicFramePr>
            <a:graphicFrameLocks noChangeAspect="1"/>
          </p:cNvGraphicFramePr>
          <p:nvPr/>
        </p:nvGraphicFramePr>
        <p:xfrm>
          <a:off x="2133600" y="4419600"/>
          <a:ext cx="1190625" cy="396875"/>
        </p:xfrm>
        <a:graphic>
          <a:graphicData uri="http://schemas.openxmlformats.org/presentationml/2006/ole">
            <mc:AlternateContent xmlns:mc="http://schemas.openxmlformats.org/markup-compatibility/2006">
              <mc:Choice xmlns:v="urn:schemas-microsoft-com:vml" Requires="v">
                <p:oleObj spid="_x0000_s113685" name="Equation" r:id="rId3" imgW="761669" imgH="253890" progId="Equation.3">
                  <p:embed/>
                </p:oleObj>
              </mc:Choice>
              <mc:Fallback>
                <p:oleObj name="Equation" r:id="rId3" imgW="761669" imgH="25389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419600"/>
                        <a:ext cx="1190625"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6"/>
          <p:cNvGraphicFramePr>
            <a:graphicFrameLocks noChangeAspect="1"/>
          </p:cNvGraphicFramePr>
          <p:nvPr/>
        </p:nvGraphicFramePr>
        <p:xfrm>
          <a:off x="2209800" y="5029200"/>
          <a:ext cx="295275" cy="376238"/>
        </p:xfrm>
        <a:graphic>
          <a:graphicData uri="http://schemas.openxmlformats.org/presentationml/2006/ole">
            <mc:AlternateContent xmlns:mc="http://schemas.openxmlformats.org/markup-compatibility/2006">
              <mc:Choice xmlns:v="urn:schemas-microsoft-com:vml" Requires="v">
                <p:oleObj spid="_x0000_s113686" name="Equation" r:id="rId5" imgW="190417" imgH="241195" progId="Equation.3">
                  <p:embed/>
                </p:oleObj>
              </mc:Choice>
              <mc:Fallback>
                <p:oleObj name="Equation" r:id="rId5" imgW="190417" imgH="24119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5029200"/>
                        <a:ext cx="295275" cy="3762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70" name="Object 7"/>
          <p:cNvGraphicFramePr>
            <a:graphicFrameLocks noChangeAspect="1"/>
          </p:cNvGraphicFramePr>
          <p:nvPr/>
        </p:nvGraphicFramePr>
        <p:xfrm>
          <a:off x="2774950" y="5692775"/>
          <a:ext cx="411163" cy="257175"/>
        </p:xfrm>
        <a:graphic>
          <a:graphicData uri="http://schemas.openxmlformats.org/presentationml/2006/ole">
            <mc:AlternateContent xmlns:mc="http://schemas.openxmlformats.org/markup-compatibility/2006">
              <mc:Choice xmlns:v="urn:schemas-microsoft-com:vml" Requires="v">
                <p:oleObj spid="_x0000_s113687" name="Equation" r:id="rId7" imgW="266353" imgH="164885" progId="Equation.3">
                  <p:embed/>
                </p:oleObj>
              </mc:Choice>
              <mc:Fallback>
                <p:oleObj name="Equation" r:id="rId7" imgW="266353" imgH="164885"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4950" y="5692775"/>
                        <a:ext cx="411163" cy="2571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71" name="Line 8"/>
          <p:cNvSpPr>
            <a:spLocks noChangeShapeType="1"/>
          </p:cNvSpPr>
          <p:nvPr/>
        </p:nvSpPr>
        <p:spPr bwMode="auto">
          <a:xfrm>
            <a:off x="2057400" y="5562600"/>
            <a:ext cx="126841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60778" name="Rectangle 10"/>
          <p:cNvSpPr>
            <a:spLocks noGrp="1" noChangeArrowheads="1"/>
          </p:cNvSpPr>
          <p:nvPr>
            <p:ph type="title"/>
          </p:nvPr>
        </p:nvSpPr>
        <p:spPr bwMode="auto">
          <a:xfrm>
            <a:off x="0" y="198438"/>
            <a:ext cx="7086600" cy="7921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Example 2</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Rectangle 3"/>
          <p:cNvSpPr>
            <a:spLocks noGrp="1" noChangeArrowheads="1"/>
          </p:cNvSpPr>
          <p:nvPr>
            <p:ph type="body" sz="half" idx="1"/>
          </p:nvPr>
        </p:nvSpPr>
        <p:spPr bwMode="auto">
          <a:xfrm>
            <a:off x="228600" y="1600200"/>
            <a:ext cx="7086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mtClean="0">
                <a:effectLst>
                  <a:outerShdw blurRad="38100" dist="38100" dir="2700000" algn="tl">
                    <a:srgbClr val="C0C0C0"/>
                  </a:outerShdw>
                </a:effectLst>
              </a:rPr>
              <a:t>	If the argument is valid, then whenever  		 and </a:t>
            </a:r>
            <a:r>
              <a:rPr lang="en-US" i="1" smtClean="0">
                <a:effectLst>
                  <a:outerShdw blurRad="38100" dist="38100" dir="2700000" algn="tl">
                    <a:srgbClr val="C0C0C0"/>
                  </a:outerShdw>
                </a:effectLst>
              </a:rPr>
              <a:t>q</a:t>
            </a:r>
            <a:r>
              <a:rPr lang="en-US" smtClean="0">
                <a:effectLst>
                  <a:outerShdw blurRad="38100" dist="38100" dir="2700000" algn="tl">
                    <a:srgbClr val="C0C0C0"/>
                  </a:outerShdw>
                </a:effectLst>
              </a:rPr>
              <a:t> are both true,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 must also be true. Suppose that  		and </a:t>
            </a:r>
            <a:r>
              <a:rPr lang="en-US" i="1" smtClean="0">
                <a:effectLst>
                  <a:outerShdw blurRad="38100" dist="38100" dir="2700000" algn="tl">
                    <a:srgbClr val="C0C0C0"/>
                  </a:outerShdw>
                </a:effectLst>
              </a:rPr>
              <a:t>q </a:t>
            </a:r>
            <a:r>
              <a:rPr lang="en-US" smtClean="0">
                <a:effectLst>
                  <a:outerShdw blurRad="38100" dist="38100" dir="2700000" algn="tl">
                    <a:srgbClr val="C0C0C0"/>
                  </a:outerShdw>
                </a:effectLst>
              </a:rPr>
              <a:t>are true. This is possible if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 is false and </a:t>
            </a:r>
            <a:r>
              <a:rPr lang="en-US" i="1" smtClean="0">
                <a:effectLst>
                  <a:outerShdw blurRad="38100" dist="38100" dir="2700000" algn="tl">
                    <a:srgbClr val="C0C0C0"/>
                  </a:outerShdw>
                </a:effectLst>
              </a:rPr>
              <a:t>q</a:t>
            </a:r>
            <a:r>
              <a:rPr lang="en-US" smtClean="0">
                <a:effectLst>
                  <a:outerShdw blurRad="38100" dist="38100" dir="2700000" algn="tl">
                    <a:srgbClr val="C0C0C0"/>
                  </a:outerShdw>
                </a:effectLst>
              </a:rPr>
              <a:t> is true. In this case, </a:t>
            </a:r>
            <a:r>
              <a:rPr lang="en-US" i="1" smtClean="0">
                <a:effectLst>
                  <a:outerShdw blurRad="38100" dist="38100" dir="2700000" algn="tl">
                    <a:srgbClr val="C0C0C0"/>
                  </a:outerShdw>
                </a:effectLst>
              </a:rPr>
              <a:t>p</a:t>
            </a:r>
            <a:r>
              <a:rPr lang="en-US" smtClean="0">
                <a:effectLst>
                  <a:outerShdw blurRad="38100" dist="38100" dir="2700000" algn="tl">
                    <a:srgbClr val="C0C0C0"/>
                  </a:outerShdw>
                </a:effectLst>
              </a:rPr>
              <a:t> is not true; thus the argument is invalid. </a:t>
            </a:r>
          </a:p>
        </p:txBody>
      </p:sp>
      <p:graphicFrame>
        <p:nvGraphicFramePr>
          <p:cNvPr id="114691" name="Object 4"/>
          <p:cNvGraphicFramePr>
            <a:graphicFrameLocks noGrp="1" noChangeAspect="1"/>
          </p:cNvGraphicFramePr>
          <p:nvPr>
            <p:ph sz="quarter" idx="2"/>
          </p:nvPr>
        </p:nvGraphicFramePr>
        <p:xfrm>
          <a:off x="2590800" y="2162175"/>
          <a:ext cx="1152525" cy="428625"/>
        </p:xfrm>
        <a:graphic>
          <a:graphicData uri="http://schemas.openxmlformats.org/presentationml/2006/ole">
            <mc:AlternateContent xmlns:mc="http://schemas.openxmlformats.org/markup-compatibility/2006">
              <mc:Choice xmlns:v="urn:schemas-microsoft-com:vml" Requires="v">
                <p:oleObj spid="_x0000_s114702" name="Equation" r:id="rId3" imgW="761669" imgH="253890" progId="Equation.3">
                  <p:embed/>
                </p:oleObj>
              </mc:Choice>
              <mc:Fallback>
                <p:oleObj name="Equation" r:id="rId3" imgW="761669" imgH="25389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162175"/>
                        <a:ext cx="1152525" cy="4286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2" name="Object 5"/>
          <p:cNvGraphicFramePr>
            <a:graphicFrameLocks noGrp="1" noChangeAspect="1"/>
          </p:cNvGraphicFramePr>
          <p:nvPr>
            <p:ph sz="quarter" idx="3"/>
          </p:nvPr>
        </p:nvGraphicFramePr>
        <p:xfrm>
          <a:off x="1600200" y="3182938"/>
          <a:ext cx="1076325" cy="398462"/>
        </p:xfrm>
        <a:graphic>
          <a:graphicData uri="http://schemas.openxmlformats.org/presentationml/2006/ole">
            <mc:AlternateContent xmlns:mc="http://schemas.openxmlformats.org/markup-compatibility/2006">
              <mc:Choice xmlns:v="urn:schemas-microsoft-com:vml" Requires="v">
                <p:oleObj spid="_x0000_s114703" name="Equation" r:id="rId5" imgW="761669" imgH="253890" progId="Equation.3">
                  <p:embed/>
                </p:oleObj>
              </mc:Choice>
              <mc:Fallback>
                <p:oleObj name="Equation" r:id="rId5" imgW="761669" imgH="25389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182938"/>
                        <a:ext cx="1076325" cy="39846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799" name="Rectangle 7"/>
          <p:cNvSpPr>
            <a:spLocks noGrp="1" noChangeArrowheads="1"/>
          </p:cNvSpPr>
          <p:nvPr>
            <p:ph type="title"/>
          </p:nvPr>
        </p:nvSpPr>
        <p:spPr bwMode="auto">
          <a:xfrm>
            <a:off x="0" y="198438"/>
            <a:ext cx="7086600" cy="7921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Example 2</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Rectangle 3"/>
          <p:cNvSpPr>
            <a:spLocks noGrp="1" noChangeArrowheads="1"/>
          </p:cNvSpPr>
          <p:nvPr>
            <p:ph type="body" idx="1"/>
          </p:nvPr>
        </p:nvSpPr>
        <p:spPr bwMode="auto">
          <a:xfrm>
            <a:off x="76200" y="1447800"/>
            <a:ext cx="73152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z="3600" smtClean="0">
                <a:effectLst>
                  <a:outerShdw blurRad="38100" dist="38100" dir="2700000" algn="tl">
                    <a:srgbClr val="C0C0C0"/>
                  </a:outerShdw>
                </a:effectLst>
              </a:rPr>
              <a:t>	We can also determine the validity of the argument in this example by examining the truth table of Example 1.  In the third row of the table, the hypotheses are true and the conclusion is false; thus the argument is invalid.</a:t>
            </a:r>
            <a:r>
              <a:rPr lang="en-US" smtClean="0">
                <a:effectLst>
                  <a:outerShdw blurRad="38100" dist="38100" dir="2700000" algn="tl">
                    <a:srgbClr val="C0C0C0"/>
                  </a:outerShdw>
                </a:effectLst>
              </a:rPr>
              <a:t> </a:t>
            </a:r>
          </a:p>
        </p:txBody>
      </p:sp>
      <p:sp>
        <p:nvSpPr>
          <p:cNvPr id="162821" name="Rectangle 5"/>
          <p:cNvSpPr>
            <a:spLocks noGrp="1" noChangeArrowheads="1"/>
          </p:cNvSpPr>
          <p:nvPr>
            <p:ph type="title"/>
          </p:nvPr>
        </p:nvSpPr>
        <p:spPr bwMode="auto">
          <a:xfrm>
            <a:off x="0" y="198438"/>
            <a:ext cx="7086600" cy="7921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Example 2</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p:cNvSpPr>
            <a:spLocks noGrp="1" noChangeArrowheads="1"/>
          </p:cNvSpPr>
          <p:nvPr>
            <p:ph type="body" idx="1"/>
          </p:nvPr>
        </p:nvSpPr>
        <p:spPr bwMode="auto">
          <a:xfrm>
            <a:off x="152400" y="1447800"/>
            <a:ext cx="70104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z="3300" smtClean="0">
                <a:effectLst>
                  <a:outerShdw blurRad="38100" dist="38100" dir="2700000" algn="tl">
                    <a:srgbClr val="C0C0C0"/>
                  </a:outerShdw>
                </a:effectLst>
              </a:rPr>
              <a:t>	If arguments contain more than two or three different simple statement as components, it is cumbersome and tedious to use truth tables to test their validity. A more convenient method of establishing the validity of some arguments is to construct a formal proof of validity.</a:t>
            </a:r>
          </a:p>
        </p:txBody>
      </p:sp>
      <p:sp>
        <p:nvSpPr>
          <p:cNvPr id="163845" name="Rectangle 5"/>
          <p:cNvSpPr>
            <a:spLocks noGrp="1" noChangeArrowheads="1"/>
          </p:cNvSpPr>
          <p:nvPr>
            <p:ph type="title"/>
          </p:nvPr>
        </p:nvSpPr>
        <p:spPr bwMode="auto">
          <a:xfrm>
            <a:off x="0" y="198438"/>
            <a:ext cx="7086600" cy="7921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Example 2</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bwMode="auto">
          <a:xfrm>
            <a:off x="76200" y="228600"/>
            <a:ext cx="7086600" cy="8683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Formal proof of validity</a:t>
            </a:r>
          </a:p>
        </p:txBody>
      </p:sp>
      <p:sp>
        <p:nvSpPr>
          <p:cNvPr id="164867" name="Rectangle 3"/>
          <p:cNvSpPr>
            <a:spLocks noGrp="1" noChangeArrowheads="1"/>
          </p:cNvSpPr>
          <p:nvPr>
            <p:ph type="body" idx="1"/>
          </p:nvPr>
        </p:nvSpPr>
        <p:spPr bwMode="auto">
          <a:xfrm>
            <a:off x="228600" y="1646238"/>
            <a:ext cx="7086600" cy="45259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buFontTx/>
              <a:buNone/>
              <a:defRPr/>
            </a:pPr>
            <a:r>
              <a:rPr lang="en-US" sz="2900" smtClean="0">
                <a:effectLst>
                  <a:outerShdw blurRad="38100" dist="38100" dir="2700000" algn="tl">
                    <a:srgbClr val="C0C0C0"/>
                  </a:outerShdw>
                </a:effectLst>
              </a:rPr>
              <a:t>	A </a:t>
            </a:r>
            <a:r>
              <a:rPr lang="en-US" sz="2900" b="1" smtClean="0">
                <a:solidFill>
                  <a:srgbClr val="CC6600"/>
                </a:solidFill>
                <a:effectLst>
                  <a:outerShdw blurRad="38100" dist="38100" dir="2700000" algn="tl">
                    <a:srgbClr val="C0C0C0"/>
                  </a:outerShdw>
                </a:effectLst>
              </a:rPr>
              <a:t>formal proof of validity</a:t>
            </a:r>
            <a:r>
              <a:rPr lang="en-US" sz="2900" smtClean="0">
                <a:effectLst>
                  <a:outerShdw blurRad="38100" dist="38100" dir="2700000" algn="tl">
                    <a:srgbClr val="C0C0C0"/>
                  </a:outerShdw>
                </a:effectLst>
              </a:rPr>
              <a:t> for a given argument is defined to be a sequence of statements, each of which is either a premise of that argument or follows from preceding statements by an elementary valid argument, and such that the last statement in the sequence is the conclusion of the argument whose validity is being proved. This definition must be completed and made definite by specifying what is to count as an elementary valid argument.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bwMode="auto">
          <a:xfrm>
            <a:off x="152400" y="228600"/>
            <a:ext cx="7010400"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Elementary valid argument</a:t>
            </a:r>
          </a:p>
        </p:txBody>
      </p:sp>
      <p:sp>
        <p:nvSpPr>
          <p:cNvPr id="165891" name="Rectangle 3"/>
          <p:cNvSpPr>
            <a:spLocks noGrp="1" noChangeArrowheads="1"/>
          </p:cNvSpPr>
          <p:nvPr>
            <p:ph type="body" idx="1"/>
          </p:nvPr>
        </p:nvSpPr>
        <p:spPr bwMode="auto">
          <a:xfrm>
            <a:off x="457200" y="1676400"/>
            <a:ext cx="5943600" cy="2514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mtClean="0">
                <a:effectLst>
                  <a:outerShdw blurRad="38100" dist="38100" dir="2700000" algn="tl">
                    <a:srgbClr val="C0C0C0"/>
                  </a:outerShdw>
                </a:effectLst>
              </a:rPr>
              <a:t>	An </a:t>
            </a:r>
            <a:r>
              <a:rPr lang="en-US" i="1" smtClean="0">
                <a:solidFill>
                  <a:srgbClr val="CC6600"/>
                </a:solidFill>
                <a:effectLst>
                  <a:outerShdw blurRad="38100" dist="38100" dir="2700000" algn="tl">
                    <a:srgbClr val="C0C0C0"/>
                  </a:outerShdw>
                </a:effectLst>
              </a:rPr>
              <a:t>elementary valid argument</a:t>
            </a:r>
            <a:r>
              <a:rPr lang="en-US" smtClean="0">
                <a:effectLst>
                  <a:outerShdw blurRad="38100" dist="38100" dir="2700000" algn="tl">
                    <a:srgbClr val="C0C0C0"/>
                  </a:outerShdw>
                </a:effectLst>
              </a:rPr>
              <a:t> is any argument that is a substitution instance of an elementary valid argument form.</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bwMode="auto">
          <a:xfrm>
            <a:off x="0" y="228600"/>
            <a:ext cx="7086600"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mtClean="0">
                <a:solidFill>
                  <a:srgbClr val="000099"/>
                </a:solidFill>
                <a:effectLst>
                  <a:outerShdw blurRad="38100" dist="38100" dir="2700000" algn="tl">
                    <a:srgbClr val="C0C0C0"/>
                  </a:outerShdw>
                </a:effectLst>
              </a:rPr>
              <a:t>Rules of Inference</a:t>
            </a:r>
          </a:p>
        </p:txBody>
      </p:sp>
      <p:sp>
        <p:nvSpPr>
          <p:cNvPr id="166915" name="Rectangle 3"/>
          <p:cNvSpPr>
            <a:spLocks noGrp="1" noChangeArrowheads="1"/>
          </p:cNvSpPr>
          <p:nvPr>
            <p:ph type="body" idx="1"/>
          </p:nvPr>
        </p:nvSpPr>
        <p:spPr bwMode="auto">
          <a:xfrm>
            <a:off x="152400" y="1295400"/>
            <a:ext cx="7086600" cy="20494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mtClean="0">
                <a:effectLst>
                  <a:outerShdw blurRad="38100" dist="38100" dir="2700000" algn="tl">
                    <a:srgbClr val="C0C0C0"/>
                  </a:outerShdw>
                </a:effectLst>
              </a:rPr>
              <a:t>	The following list of  argument forms are regarded as elementary valid argument forms and are considered as the Rules of Inference.</a:t>
            </a:r>
          </a:p>
        </p:txBody>
      </p:sp>
      <p:sp>
        <p:nvSpPr>
          <p:cNvPr id="119812" name="Text Box 4"/>
          <p:cNvSpPr txBox="1">
            <a:spLocks noChangeArrowheads="1"/>
          </p:cNvSpPr>
          <p:nvPr/>
        </p:nvSpPr>
        <p:spPr bwMode="auto">
          <a:xfrm>
            <a:off x="2879725" y="31607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endParaRPr lang="en-US" altLang="en-US" sz="1800">
              <a:latin typeface="Arial" panose="020B0604020202020204" pitchFamily="34" charset="0"/>
            </a:endParaRPr>
          </a:p>
        </p:txBody>
      </p:sp>
      <p:sp>
        <p:nvSpPr>
          <p:cNvPr id="119813" name="Text Box 5"/>
          <p:cNvSpPr txBox="1">
            <a:spLocks noChangeArrowheads="1"/>
          </p:cNvSpPr>
          <p:nvPr/>
        </p:nvSpPr>
        <p:spPr bwMode="auto">
          <a:xfrm>
            <a:off x="838200" y="3810000"/>
            <a:ext cx="419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spcBef>
                <a:spcPct val="50000"/>
              </a:spcBef>
            </a:pPr>
            <a:r>
              <a:rPr lang="en-US" altLang="en-US" sz="2800">
                <a:latin typeface="Arial" panose="020B0604020202020204" pitchFamily="34" charset="0"/>
              </a:rPr>
              <a:t>1. </a:t>
            </a:r>
            <a:r>
              <a:rPr lang="en-US" altLang="en-US" sz="2800" i="1">
                <a:latin typeface="Arial" panose="020B0604020202020204" pitchFamily="34" charset="0"/>
              </a:rPr>
              <a:t>Modus Ponens</a:t>
            </a:r>
            <a:r>
              <a:rPr lang="en-US" altLang="en-US" sz="2800">
                <a:latin typeface="Arial" panose="020B0604020202020204" pitchFamily="34" charset="0"/>
              </a:rPr>
              <a:t> (M.P.) </a:t>
            </a:r>
          </a:p>
        </p:txBody>
      </p:sp>
      <p:sp>
        <p:nvSpPr>
          <p:cNvPr id="119814" name="Rectangle 6"/>
          <p:cNvSpPr>
            <a:spLocks noChangeArrowheads="1"/>
          </p:cNvSpPr>
          <p:nvPr/>
        </p:nvSpPr>
        <p:spPr bwMode="auto">
          <a:xfrm>
            <a:off x="5562600" y="3886200"/>
            <a:ext cx="1981200" cy="1752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19815" name="Object 7"/>
          <p:cNvGraphicFramePr>
            <a:graphicFrameLocks noChangeAspect="1"/>
          </p:cNvGraphicFramePr>
          <p:nvPr/>
        </p:nvGraphicFramePr>
        <p:xfrm>
          <a:off x="5334000" y="3962400"/>
          <a:ext cx="1190625" cy="396875"/>
        </p:xfrm>
        <a:graphic>
          <a:graphicData uri="http://schemas.openxmlformats.org/presentationml/2006/ole">
            <mc:AlternateContent xmlns:mc="http://schemas.openxmlformats.org/markup-compatibility/2006">
              <mc:Choice xmlns:v="urn:schemas-microsoft-com:vml" Requires="v">
                <p:oleObj spid="_x0000_s119831" name="Equation" r:id="rId3" imgW="761669" imgH="253890" progId="Equation.3">
                  <p:embed/>
                </p:oleObj>
              </mc:Choice>
              <mc:Fallback>
                <p:oleObj name="Equation" r:id="rId3" imgW="761669" imgH="25389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962400"/>
                        <a:ext cx="1190625" cy="396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6" name="Object 8"/>
          <p:cNvGraphicFramePr>
            <a:graphicFrameLocks noChangeAspect="1"/>
          </p:cNvGraphicFramePr>
          <p:nvPr/>
        </p:nvGraphicFramePr>
        <p:xfrm>
          <a:off x="5380038" y="4572000"/>
          <a:ext cx="355600" cy="376238"/>
        </p:xfrm>
        <a:graphic>
          <a:graphicData uri="http://schemas.openxmlformats.org/presentationml/2006/ole">
            <mc:AlternateContent xmlns:mc="http://schemas.openxmlformats.org/markup-compatibility/2006">
              <mc:Choice xmlns:v="urn:schemas-microsoft-com:vml" Requires="v">
                <p:oleObj spid="_x0000_s119832" name="Equation" r:id="rId5" imgW="228600" imgH="241300" progId="Equation.3">
                  <p:embed/>
                </p:oleObj>
              </mc:Choice>
              <mc:Fallback>
                <p:oleObj name="Equation" r:id="rId5" imgW="228600" imgH="2413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0038" y="4572000"/>
                        <a:ext cx="355600" cy="3762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9817" name="Object 9"/>
          <p:cNvGraphicFramePr>
            <a:graphicFrameLocks noChangeAspect="1"/>
          </p:cNvGraphicFramePr>
          <p:nvPr/>
        </p:nvGraphicFramePr>
        <p:xfrm>
          <a:off x="5867400" y="5105400"/>
          <a:ext cx="628650" cy="395288"/>
        </p:xfrm>
        <a:graphic>
          <a:graphicData uri="http://schemas.openxmlformats.org/presentationml/2006/ole">
            <mc:AlternateContent xmlns:mc="http://schemas.openxmlformats.org/markup-compatibility/2006">
              <mc:Choice xmlns:v="urn:schemas-microsoft-com:vml" Requires="v">
                <p:oleObj spid="_x0000_s119833" name="Equation" r:id="rId7" imgW="406048" imgH="253780" progId="Equation.3">
                  <p:embed/>
                </p:oleObj>
              </mc:Choice>
              <mc:Fallback>
                <p:oleObj name="Equation" r:id="rId7" imgW="406048" imgH="25378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5105400"/>
                        <a:ext cx="628650" cy="39528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8" name="Line 10"/>
          <p:cNvSpPr>
            <a:spLocks noChangeShapeType="1"/>
          </p:cNvSpPr>
          <p:nvPr/>
        </p:nvSpPr>
        <p:spPr bwMode="auto">
          <a:xfrm>
            <a:off x="5257800" y="5105400"/>
            <a:ext cx="126841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p:cNvSpPr>
            <a:spLocks noGrp="1" noChangeArrowheads="1"/>
          </p:cNvSpPr>
          <p:nvPr>
            <p:ph type="body" idx="1"/>
          </p:nvPr>
        </p:nvSpPr>
        <p:spPr bwMode="auto">
          <a:xfrm>
            <a:off x="381000" y="1752600"/>
            <a:ext cx="3657600" cy="914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FontTx/>
              <a:buNone/>
              <a:defRPr/>
            </a:pPr>
            <a:r>
              <a:rPr lang="en-US" sz="3300" smtClean="0">
                <a:effectLst>
                  <a:outerShdw blurRad="38100" dist="38100" dir="2700000" algn="tl">
                    <a:srgbClr val="C0C0C0"/>
                  </a:outerShdw>
                </a:effectLst>
              </a:rPr>
              <a:t>2. </a:t>
            </a:r>
            <a:r>
              <a:rPr lang="en-US" sz="3300" i="1" smtClean="0">
                <a:effectLst>
                  <a:outerShdw blurRad="38100" dist="38100" dir="2700000" algn="tl">
                    <a:srgbClr val="C0C0C0"/>
                  </a:outerShdw>
                </a:effectLst>
              </a:rPr>
              <a:t>Modus Tollens</a:t>
            </a:r>
            <a:r>
              <a:rPr lang="en-US" sz="3300" smtClean="0">
                <a:effectLst>
                  <a:outerShdw blurRad="38100" dist="38100" dir="2700000" algn="tl">
                    <a:srgbClr val="C0C0C0"/>
                  </a:outerShdw>
                </a:effectLst>
              </a:rPr>
              <a:t> (M.T.) </a:t>
            </a:r>
          </a:p>
        </p:txBody>
      </p:sp>
      <p:sp>
        <p:nvSpPr>
          <p:cNvPr id="120835" name="Rectangle 4"/>
          <p:cNvSpPr>
            <a:spLocks noChangeArrowheads="1"/>
          </p:cNvSpPr>
          <p:nvPr/>
        </p:nvSpPr>
        <p:spPr bwMode="auto">
          <a:xfrm>
            <a:off x="762000" y="3048000"/>
            <a:ext cx="2209800" cy="2057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endParaRPr lang="en-US" altLang="en-US"/>
          </a:p>
        </p:txBody>
      </p:sp>
      <p:graphicFrame>
        <p:nvGraphicFramePr>
          <p:cNvPr id="120836" name="Object 5"/>
          <p:cNvGraphicFramePr>
            <a:graphicFrameLocks noChangeAspect="1"/>
          </p:cNvGraphicFramePr>
          <p:nvPr/>
        </p:nvGraphicFramePr>
        <p:xfrm>
          <a:off x="1143000" y="3276600"/>
          <a:ext cx="1395413" cy="465138"/>
        </p:xfrm>
        <a:graphic>
          <a:graphicData uri="http://schemas.openxmlformats.org/presentationml/2006/ole">
            <mc:AlternateContent xmlns:mc="http://schemas.openxmlformats.org/markup-compatibility/2006">
              <mc:Choice xmlns:v="urn:schemas-microsoft-com:vml" Requires="v">
                <p:oleObj spid="_x0000_s120871" name="Equation" r:id="rId3" imgW="761669" imgH="253890" progId="Equation.3">
                  <p:embed/>
                </p:oleObj>
              </mc:Choice>
              <mc:Fallback>
                <p:oleObj name="Equation" r:id="rId3" imgW="761669" imgH="25389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76600"/>
                        <a:ext cx="1395413" cy="4651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37" name="Object 6"/>
          <p:cNvGraphicFramePr>
            <a:graphicFrameLocks noChangeAspect="1"/>
          </p:cNvGraphicFramePr>
          <p:nvPr/>
        </p:nvGraphicFramePr>
        <p:xfrm>
          <a:off x="1143000" y="3886200"/>
          <a:ext cx="739775" cy="441325"/>
        </p:xfrm>
        <a:graphic>
          <a:graphicData uri="http://schemas.openxmlformats.org/presentationml/2006/ole">
            <mc:AlternateContent xmlns:mc="http://schemas.openxmlformats.org/markup-compatibility/2006">
              <mc:Choice xmlns:v="urn:schemas-microsoft-com:vml" Requires="v">
                <p:oleObj spid="_x0000_s120872" name="Equation" r:id="rId5" imgW="406224" imgH="241195" progId="Equation.3">
                  <p:embed/>
                </p:oleObj>
              </mc:Choice>
              <mc:Fallback>
                <p:oleObj name="Equation" r:id="rId5" imgW="406224" imgH="24119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886200"/>
                        <a:ext cx="739775" cy="4413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38" name="Object 7"/>
          <p:cNvGraphicFramePr>
            <a:graphicFrameLocks noChangeAspect="1"/>
          </p:cNvGraphicFramePr>
          <p:nvPr/>
        </p:nvGraphicFramePr>
        <p:xfrm>
          <a:off x="1371600" y="4572000"/>
          <a:ext cx="1106488" cy="463550"/>
        </p:xfrm>
        <a:graphic>
          <a:graphicData uri="http://schemas.openxmlformats.org/presentationml/2006/ole">
            <mc:AlternateContent xmlns:mc="http://schemas.openxmlformats.org/markup-compatibility/2006">
              <mc:Choice xmlns:v="urn:schemas-microsoft-com:vml" Requires="v">
                <p:oleObj spid="_x0000_s120873" name="Equation" r:id="rId7" imgW="609336" imgH="253890" progId="Equation.3">
                  <p:embed/>
                </p:oleObj>
              </mc:Choice>
              <mc:Fallback>
                <p:oleObj name="Equation" r:id="rId7" imgW="609336" imgH="25389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4572000"/>
                        <a:ext cx="1106488" cy="463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39" name="Line 8"/>
          <p:cNvSpPr>
            <a:spLocks noChangeShapeType="1"/>
          </p:cNvSpPr>
          <p:nvPr/>
        </p:nvSpPr>
        <p:spPr bwMode="auto">
          <a:xfrm>
            <a:off x="1066800" y="4419600"/>
            <a:ext cx="141446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67945" name="Text Box 9"/>
          <p:cNvSpPr txBox="1">
            <a:spLocks noChangeArrowheads="1"/>
          </p:cNvSpPr>
          <p:nvPr/>
        </p:nvSpPr>
        <p:spPr bwMode="auto">
          <a:xfrm>
            <a:off x="4038600" y="1676400"/>
            <a:ext cx="3733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3200">
                <a:effectLst>
                  <a:outerShdw blurRad="38100" dist="38100" dir="2700000" algn="tl">
                    <a:srgbClr val="C0C0C0"/>
                  </a:outerShdw>
                </a:effectLst>
                <a:latin typeface="Arial" panose="020B0604020202020204" pitchFamily="34" charset="0"/>
                <a:cs typeface="+mn-cs"/>
              </a:rPr>
              <a:t>3. Hypothetical Syllogism (H.S.) </a:t>
            </a:r>
          </a:p>
        </p:txBody>
      </p:sp>
      <p:sp>
        <p:nvSpPr>
          <p:cNvPr id="120841" name="Rectangle 10"/>
          <p:cNvSpPr>
            <a:spLocks noChangeArrowheads="1"/>
          </p:cNvSpPr>
          <p:nvPr/>
        </p:nvSpPr>
        <p:spPr bwMode="auto">
          <a:xfrm>
            <a:off x="4419600" y="3048000"/>
            <a:ext cx="2209800" cy="2057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0842" name="Object 11"/>
          <p:cNvGraphicFramePr>
            <a:graphicFrameLocks noChangeAspect="1"/>
          </p:cNvGraphicFramePr>
          <p:nvPr/>
        </p:nvGraphicFramePr>
        <p:xfrm>
          <a:off x="4953000" y="3276600"/>
          <a:ext cx="1395413" cy="465138"/>
        </p:xfrm>
        <a:graphic>
          <a:graphicData uri="http://schemas.openxmlformats.org/presentationml/2006/ole">
            <mc:AlternateContent xmlns:mc="http://schemas.openxmlformats.org/markup-compatibility/2006">
              <mc:Choice xmlns:v="urn:schemas-microsoft-com:vml" Requires="v">
                <p:oleObj spid="_x0000_s120874" name="Equation" r:id="rId9" imgW="761669" imgH="253890" progId="Equation.3">
                  <p:embed/>
                </p:oleObj>
              </mc:Choice>
              <mc:Fallback>
                <p:oleObj name="Equation" r:id="rId9" imgW="761669" imgH="25389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3276600"/>
                        <a:ext cx="1395413" cy="4651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43" name="Object 12"/>
          <p:cNvGraphicFramePr>
            <a:graphicFrameLocks noChangeAspect="1"/>
          </p:cNvGraphicFramePr>
          <p:nvPr/>
        </p:nvGraphicFramePr>
        <p:xfrm>
          <a:off x="5029200" y="3886200"/>
          <a:ext cx="1271588" cy="465138"/>
        </p:xfrm>
        <a:graphic>
          <a:graphicData uri="http://schemas.openxmlformats.org/presentationml/2006/ole">
            <mc:AlternateContent xmlns:mc="http://schemas.openxmlformats.org/markup-compatibility/2006">
              <mc:Choice xmlns:v="urn:schemas-microsoft-com:vml" Requires="v">
                <p:oleObj spid="_x0000_s120875" name="Equation" r:id="rId10" imgW="698197" imgH="253890" progId="Equation.3">
                  <p:embed/>
                </p:oleObj>
              </mc:Choice>
              <mc:Fallback>
                <p:oleObj name="Equation" r:id="rId10" imgW="698197" imgH="25389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29200" y="3886200"/>
                        <a:ext cx="1271588" cy="4651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0844" name="Object 13"/>
          <p:cNvGraphicFramePr>
            <a:graphicFrameLocks noChangeAspect="1"/>
          </p:cNvGraphicFramePr>
          <p:nvPr/>
        </p:nvGraphicFramePr>
        <p:xfrm>
          <a:off x="4718050" y="4572000"/>
          <a:ext cx="1728788" cy="463550"/>
        </p:xfrm>
        <a:graphic>
          <a:graphicData uri="http://schemas.openxmlformats.org/presentationml/2006/ole">
            <mc:AlternateContent xmlns:mc="http://schemas.openxmlformats.org/markup-compatibility/2006">
              <mc:Choice xmlns:v="urn:schemas-microsoft-com:vml" Requires="v">
                <p:oleObj spid="_x0000_s120876" name="Equation" r:id="rId12" imgW="952087" imgH="253890" progId="Equation.3">
                  <p:embed/>
                </p:oleObj>
              </mc:Choice>
              <mc:Fallback>
                <p:oleObj name="Equation" r:id="rId12" imgW="952087" imgH="25389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8050" y="4572000"/>
                        <a:ext cx="1728788" cy="463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45" name="Line 14"/>
          <p:cNvSpPr>
            <a:spLocks noChangeShapeType="1"/>
          </p:cNvSpPr>
          <p:nvPr/>
        </p:nvSpPr>
        <p:spPr bwMode="auto">
          <a:xfrm>
            <a:off x="4724400" y="4419600"/>
            <a:ext cx="1752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67951" name="Rectangle 15"/>
          <p:cNvSpPr>
            <a:spLocks noChangeArrowheads="1"/>
          </p:cNvSpPr>
          <p:nvPr/>
        </p:nvSpPr>
        <p:spPr bwMode="auto">
          <a:xfrm>
            <a:off x="0" y="228600"/>
            <a:ext cx="7086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smtClean="0">
                <a:solidFill>
                  <a:srgbClr val="000099"/>
                </a:solidFill>
                <a:effectLst>
                  <a:outerShdw blurRad="38100" dist="38100" dir="2700000" algn="tl">
                    <a:srgbClr val="C0C0C0"/>
                  </a:outerShdw>
                </a:effectLst>
              </a:rPr>
              <a:t>Rules of Inference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3"/>
          <p:cNvSpPr>
            <a:spLocks noGrp="1" noChangeArrowheads="1"/>
          </p:cNvSpPr>
          <p:nvPr>
            <p:ph type="body" idx="1"/>
          </p:nvPr>
        </p:nvSpPr>
        <p:spPr bwMode="auto">
          <a:xfrm>
            <a:off x="76200" y="1600200"/>
            <a:ext cx="3657600" cy="128111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sz="3300" smtClean="0">
                <a:effectLst>
                  <a:outerShdw blurRad="38100" dist="38100" dir="2700000" algn="tl">
                    <a:srgbClr val="C0C0C0"/>
                  </a:outerShdw>
                </a:effectLst>
              </a:rPr>
              <a:t>4. Disjunctive   Syllogism (D.S.)</a:t>
            </a:r>
            <a:r>
              <a:rPr lang="en-US" smtClean="0">
                <a:effectLst>
                  <a:outerShdw blurRad="38100" dist="38100" dir="2700000" algn="tl">
                    <a:srgbClr val="C0C0C0"/>
                  </a:outerShdw>
                </a:effectLst>
              </a:rPr>
              <a:t> </a:t>
            </a:r>
          </a:p>
        </p:txBody>
      </p:sp>
      <p:sp>
        <p:nvSpPr>
          <p:cNvPr id="121859" name="Rectangle 4"/>
          <p:cNvSpPr>
            <a:spLocks noChangeArrowheads="1"/>
          </p:cNvSpPr>
          <p:nvPr/>
        </p:nvSpPr>
        <p:spPr bwMode="auto">
          <a:xfrm>
            <a:off x="457200" y="2895600"/>
            <a:ext cx="2209800" cy="2057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1860" name="Object 5"/>
          <p:cNvGraphicFramePr>
            <a:graphicFrameLocks noChangeAspect="1"/>
          </p:cNvGraphicFramePr>
          <p:nvPr/>
        </p:nvGraphicFramePr>
        <p:xfrm>
          <a:off x="1182688" y="3135313"/>
          <a:ext cx="1163637" cy="442912"/>
        </p:xfrm>
        <a:graphic>
          <a:graphicData uri="http://schemas.openxmlformats.org/presentationml/2006/ole">
            <mc:AlternateContent xmlns:mc="http://schemas.openxmlformats.org/markup-compatibility/2006">
              <mc:Choice xmlns:v="urn:schemas-microsoft-com:vml" Requires="v">
                <p:oleObj spid="_x0000_s121897" name="Equation" r:id="rId3" imgW="634725" imgH="241195" progId="Equation.3">
                  <p:embed/>
                </p:oleObj>
              </mc:Choice>
              <mc:Fallback>
                <p:oleObj name="Equation" r:id="rId3" imgW="634725" imgH="24119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2688" y="3135313"/>
                        <a:ext cx="1163637" cy="44291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61" name="Object 6"/>
          <p:cNvGraphicFramePr>
            <a:graphicFrameLocks noChangeAspect="1"/>
          </p:cNvGraphicFramePr>
          <p:nvPr/>
        </p:nvGraphicFramePr>
        <p:xfrm>
          <a:off x="1033463" y="3733800"/>
          <a:ext cx="808037" cy="441325"/>
        </p:xfrm>
        <a:graphic>
          <a:graphicData uri="http://schemas.openxmlformats.org/presentationml/2006/ole">
            <mc:AlternateContent xmlns:mc="http://schemas.openxmlformats.org/markup-compatibility/2006">
              <mc:Choice xmlns:v="urn:schemas-microsoft-com:vml" Requires="v">
                <p:oleObj spid="_x0000_s121898" name="Equation" r:id="rId5" imgW="444307" imgH="241195" progId="Equation.3">
                  <p:embed/>
                </p:oleObj>
              </mc:Choice>
              <mc:Fallback>
                <p:oleObj name="Equation" r:id="rId5" imgW="444307" imgH="24119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3463" y="3733800"/>
                        <a:ext cx="808037" cy="4413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1862" name="Object 7"/>
          <p:cNvGraphicFramePr>
            <a:graphicFrameLocks noChangeAspect="1"/>
          </p:cNvGraphicFramePr>
          <p:nvPr/>
        </p:nvGraphicFramePr>
        <p:xfrm>
          <a:off x="1479550" y="4419600"/>
          <a:ext cx="738188" cy="463550"/>
        </p:xfrm>
        <a:graphic>
          <a:graphicData uri="http://schemas.openxmlformats.org/presentationml/2006/ole">
            <mc:AlternateContent xmlns:mc="http://schemas.openxmlformats.org/markup-compatibility/2006">
              <mc:Choice xmlns:v="urn:schemas-microsoft-com:vml" Requires="v">
                <p:oleObj spid="_x0000_s121899" name="Equation" r:id="rId7" imgW="406048" imgH="253780" progId="Equation.3">
                  <p:embed/>
                </p:oleObj>
              </mc:Choice>
              <mc:Fallback>
                <p:oleObj name="Equation" r:id="rId7" imgW="406048" imgH="25378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9550" y="4419600"/>
                        <a:ext cx="738188" cy="463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3" name="Line 8"/>
          <p:cNvSpPr>
            <a:spLocks noChangeShapeType="1"/>
          </p:cNvSpPr>
          <p:nvPr/>
        </p:nvSpPr>
        <p:spPr bwMode="auto">
          <a:xfrm>
            <a:off x="990600" y="4267200"/>
            <a:ext cx="141446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68969" name="Text Box 9"/>
          <p:cNvSpPr txBox="1">
            <a:spLocks noChangeArrowheads="1"/>
          </p:cNvSpPr>
          <p:nvPr/>
        </p:nvSpPr>
        <p:spPr bwMode="auto">
          <a:xfrm>
            <a:off x="3657600" y="1706563"/>
            <a:ext cx="3886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3200">
                <a:effectLst>
                  <a:outerShdw blurRad="38100" dist="38100" dir="2700000" algn="tl">
                    <a:srgbClr val="C0C0C0"/>
                  </a:outerShdw>
                </a:effectLst>
                <a:latin typeface="Arial" panose="020B0604020202020204" pitchFamily="34" charset="0"/>
                <a:cs typeface="+mn-cs"/>
              </a:rPr>
              <a:t>5. Conditional Proof</a:t>
            </a:r>
          </a:p>
        </p:txBody>
      </p:sp>
      <p:sp>
        <p:nvSpPr>
          <p:cNvPr id="121865" name="Rectangle 10"/>
          <p:cNvSpPr>
            <a:spLocks noChangeArrowheads="1"/>
          </p:cNvSpPr>
          <p:nvPr/>
        </p:nvSpPr>
        <p:spPr bwMode="auto">
          <a:xfrm>
            <a:off x="3810000" y="2819400"/>
            <a:ext cx="4114800" cy="2133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1866" name="Object 13"/>
          <p:cNvGraphicFramePr>
            <a:graphicFrameLocks noChangeAspect="1"/>
          </p:cNvGraphicFramePr>
          <p:nvPr/>
        </p:nvGraphicFramePr>
        <p:xfrm>
          <a:off x="4191000" y="4267200"/>
          <a:ext cx="939800" cy="496888"/>
        </p:xfrm>
        <a:graphic>
          <a:graphicData uri="http://schemas.openxmlformats.org/presentationml/2006/ole">
            <mc:AlternateContent xmlns:mc="http://schemas.openxmlformats.org/markup-compatibility/2006">
              <mc:Choice xmlns:v="urn:schemas-microsoft-com:vml" Requires="v">
                <p:oleObj spid="_x0000_s121900" name="Equation" r:id="rId9" imgW="241091" imgH="126890" progId="Equation.3">
                  <p:embed/>
                </p:oleObj>
              </mc:Choice>
              <mc:Fallback>
                <p:oleObj name="Equation" r:id="rId9" imgW="241091" imgH="12689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0" y="4267200"/>
                        <a:ext cx="939800" cy="49688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7" name="Line 14"/>
          <p:cNvSpPr>
            <a:spLocks noChangeShapeType="1"/>
          </p:cNvSpPr>
          <p:nvPr/>
        </p:nvSpPr>
        <p:spPr bwMode="auto">
          <a:xfrm>
            <a:off x="3962400" y="4191000"/>
            <a:ext cx="3810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68975" name="Rectangle 15"/>
          <p:cNvSpPr>
            <a:spLocks noChangeArrowheads="1"/>
          </p:cNvSpPr>
          <p:nvPr/>
        </p:nvSpPr>
        <p:spPr bwMode="auto">
          <a:xfrm>
            <a:off x="0" y="228600"/>
            <a:ext cx="7086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smtClean="0">
                <a:solidFill>
                  <a:srgbClr val="000099"/>
                </a:solidFill>
                <a:effectLst>
                  <a:outerShdw blurRad="38100" dist="38100" dir="2700000" algn="tl">
                    <a:srgbClr val="C0C0C0"/>
                  </a:outerShdw>
                </a:effectLst>
              </a:rPr>
              <a:t>Rules of Inference</a:t>
            </a:r>
          </a:p>
        </p:txBody>
      </p:sp>
      <p:sp>
        <p:nvSpPr>
          <p:cNvPr id="121869" name="Rectangle 18"/>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1870" name="Object 17"/>
          <p:cNvGraphicFramePr>
            <a:graphicFrameLocks noChangeAspect="1"/>
          </p:cNvGraphicFramePr>
          <p:nvPr/>
        </p:nvGraphicFramePr>
        <p:xfrm>
          <a:off x="4267200" y="2895600"/>
          <a:ext cx="1219200" cy="517525"/>
        </p:xfrm>
        <a:graphic>
          <a:graphicData uri="http://schemas.openxmlformats.org/presentationml/2006/ole">
            <mc:AlternateContent xmlns:mc="http://schemas.openxmlformats.org/markup-compatibility/2006">
              <mc:Choice xmlns:v="urn:schemas-microsoft-com:vml" Requires="v">
                <p:oleObj spid="_x0000_s121901" name="Equation" r:id="rId11" imgW="380835" imgH="165028" progId="Equation.3">
                  <p:embed/>
                </p:oleObj>
              </mc:Choice>
              <mc:Fallback>
                <p:oleObj name="Equation" r:id="rId11" imgW="380835" imgH="165028"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2895600"/>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871" name="Rectangle 20"/>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1872" name="Object 19"/>
          <p:cNvGraphicFramePr>
            <a:graphicFrameLocks noChangeAspect="1"/>
          </p:cNvGraphicFramePr>
          <p:nvPr/>
        </p:nvGraphicFramePr>
        <p:xfrm>
          <a:off x="4191000" y="3402013"/>
          <a:ext cx="2438400" cy="636587"/>
        </p:xfrm>
        <a:graphic>
          <a:graphicData uri="http://schemas.openxmlformats.org/presentationml/2006/ole">
            <mc:AlternateContent xmlns:mc="http://schemas.openxmlformats.org/markup-compatibility/2006">
              <mc:Choice xmlns:v="urn:schemas-microsoft-com:vml" Requires="v">
                <p:oleObj spid="_x0000_s121902" name="Equation" r:id="rId13" imgW="837836" imgH="215806" progId="Equation.3">
                  <p:embed/>
                </p:oleObj>
              </mc:Choice>
              <mc:Fallback>
                <p:oleObj name="Equation" r:id="rId13" imgW="837836" imgH="215806"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1000" y="3402013"/>
                        <a:ext cx="24384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body" idx="1"/>
          </p:nvPr>
        </p:nvSpPr>
        <p:spPr bwMode="auto">
          <a:xfrm>
            <a:off x="381000" y="1295400"/>
            <a:ext cx="3657600" cy="128111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sz="3300" smtClean="0">
                <a:effectLst>
                  <a:outerShdw blurRad="38100" dist="38100" dir="2700000" algn="tl">
                    <a:srgbClr val="C0C0C0"/>
                  </a:outerShdw>
                </a:effectLst>
              </a:rPr>
              <a:t>6. Proof by Cases</a:t>
            </a:r>
            <a:r>
              <a:rPr lang="en-US" smtClean="0">
                <a:effectLst>
                  <a:outerShdw blurRad="38100" dist="38100" dir="2700000" algn="tl">
                    <a:srgbClr val="C0C0C0"/>
                  </a:outerShdw>
                </a:effectLst>
              </a:rPr>
              <a:t> </a:t>
            </a:r>
          </a:p>
        </p:txBody>
      </p:sp>
      <p:sp>
        <p:nvSpPr>
          <p:cNvPr id="122883" name="Line 7"/>
          <p:cNvSpPr>
            <a:spLocks noChangeShapeType="1"/>
          </p:cNvSpPr>
          <p:nvPr/>
        </p:nvSpPr>
        <p:spPr bwMode="auto">
          <a:xfrm>
            <a:off x="1143000" y="3124200"/>
            <a:ext cx="1676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22884" name="Rectangle 9"/>
          <p:cNvSpPr>
            <a:spLocks noChangeArrowheads="1"/>
          </p:cNvSpPr>
          <p:nvPr/>
        </p:nvSpPr>
        <p:spPr bwMode="auto">
          <a:xfrm>
            <a:off x="3810000" y="2819400"/>
            <a:ext cx="4114800" cy="2133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sp>
        <p:nvSpPr>
          <p:cNvPr id="224270" name="Rectangle 14"/>
          <p:cNvSpPr>
            <a:spLocks noChangeArrowheads="1"/>
          </p:cNvSpPr>
          <p:nvPr/>
        </p:nvSpPr>
        <p:spPr bwMode="auto">
          <a:xfrm>
            <a:off x="0" y="228600"/>
            <a:ext cx="7086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smtClean="0">
                <a:solidFill>
                  <a:srgbClr val="000099"/>
                </a:solidFill>
                <a:effectLst>
                  <a:outerShdw blurRad="38100" dist="38100" dir="2700000" algn="tl">
                    <a:srgbClr val="C0C0C0"/>
                  </a:outerShdw>
                </a:effectLst>
              </a:rPr>
              <a:t>Rules of Inference</a:t>
            </a:r>
          </a:p>
        </p:txBody>
      </p:sp>
      <p:graphicFrame>
        <p:nvGraphicFramePr>
          <p:cNvPr id="122886" name="Object 15"/>
          <p:cNvGraphicFramePr>
            <a:graphicFrameLocks noChangeAspect="1"/>
          </p:cNvGraphicFramePr>
          <p:nvPr/>
        </p:nvGraphicFramePr>
        <p:xfrm>
          <a:off x="1295400" y="1981200"/>
          <a:ext cx="1447800" cy="523875"/>
        </p:xfrm>
        <a:graphic>
          <a:graphicData uri="http://schemas.openxmlformats.org/presentationml/2006/ole">
            <mc:AlternateContent xmlns:mc="http://schemas.openxmlformats.org/markup-compatibility/2006">
              <mc:Choice xmlns:v="urn:schemas-microsoft-com:vml" Requires="v">
                <p:oleObj spid="_x0000_s122918" name="Equation" r:id="rId3" imgW="444114" imgH="164957" progId="Equation.3">
                  <p:embed/>
                </p:oleObj>
              </mc:Choice>
              <mc:Fallback>
                <p:oleObj name="Equation" r:id="rId3" imgW="444114" imgH="164957"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981200"/>
                        <a:ext cx="1447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887" name="Object 17"/>
          <p:cNvGraphicFramePr>
            <a:graphicFrameLocks noChangeAspect="1"/>
          </p:cNvGraphicFramePr>
          <p:nvPr/>
        </p:nvGraphicFramePr>
        <p:xfrm>
          <a:off x="1295400" y="2514600"/>
          <a:ext cx="1371600" cy="530225"/>
        </p:xfrm>
        <a:graphic>
          <a:graphicData uri="http://schemas.openxmlformats.org/presentationml/2006/ole">
            <mc:AlternateContent xmlns:mc="http://schemas.openxmlformats.org/markup-compatibility/2006">
              <mc:Choice xmlns:v="urn:schemas-microsoft-com:vml" Requires="v">
                <p:oleObj spid="_x0000_s122919" name="Equation" r:id="rId5" imgW="418918" imgH="165028" progId="Equation.3">
                  <p:embed/>
                </p:oleObj>
              </mc:Choice>
              <mc:Fallback>
                <p:oleObj name="Equation" r:id="rId5" imgW="418918" imgH="165028"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2514600"/>
                        <a:ext cx="13716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888" name="Object 19"/>
          <p:cNvGraphicFramePr>
            <a:graphicFrameLocks noChangeAspect="1"/>
          </p:cNvGraphicFramePr>
          <p:nvPr/>
        </p:nvGraphicFramePr>
        <p:xfrm>
          <a:off x="990600" y="3276600"/>
          <a:ext cx="1981200" cy="490538"/>
        </p:xfrm>
        <a:graphic>
          <a:graphicData uri="http://schemas.openxmlformats.org/presentationml/2006/ole">
            <mc:AlternateContent xmlns:mc="http://schemas.openxmlformats.org/markup-compatibility/2006">
              <mc:Choice xmlns:v="urn:schemas-microsoft-com:vml" Requires="v">
                <p:oleObj spid="_x0000_s122920" name="Equation" r:id="rId7" imgW="888614" imgH="215806" progId="Equation.3">
                  <p:embed/>
                </p:oleObj>
              </mc:Choice>
              <mc:Fallback>
                <p:oleObj name="Equation" r:id="rId7" imgW="888614" imgH="215806"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3276600"/>
                        <a:ext cx="19812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4277" name="Rectangle 21"/>
          <p:cNvSpPr>
            <a:spLocks noChangeArrowheads="1"/>
          </p:cNvSpPr>
          <p:nvPr/>
        </p:nvSpPr>
        <p:spPr bwMode="auto">
          <a:xfrm>
            <a:off x="381000" y="4038600"/>
            <a:ext cx="518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eaLnBrk="1" hangingPunct="1">
              <a:lnSpc>
                <a:spcPct val="90000"/>
              </a:lnSpc>
              <a:buFontTx/>
              <a:buNone/>
              <a:defRPr/>
            </a:pPr>
            <a:r>
              <a:rPr lang="pt-BR" sz="2900" smtClean="0">
                <a:effectLst>
                  <a:outerShdw blurRad="38100" dist="38100" dir="2700000" algn="tl">
                    <a:srgbClr val="C0C0C0"/>
                  </a:outerShdw>
                </a:effectLst>
              </a:rPr>
              <a:t>7. Destructive Dilemma (D.D.)</a:t>
            </a:r>
            <a:r>
              <a:rPr lang="en-US" sz="2900" smtClean="0">
                <a:effectLst>
                  <a:outerShdw blurRad="38100" dist="38100" dir="2700000" algn="tl">
                    <a:srgbClr val="C0C0C0"/>
                  </a:outerShdw>
                </a:effectLst>
              </a:rPr>
              <a:t> </a:t>
            </a:r>
          </a:p>
        </p:txBody>
      </p:sp>
      <p:graphicFrame>
        <p:nvGraphicFramePr>
          <p:cNvPr id="122890" name="Object 22"/>
          <p:cNvGraphicFramePr>
            <a:graphicFrameLocks noChangeAspect="1"/>
          </p:cNvGraphicFramePr>
          <p:nvPr/>
        </p:nvGraphicFramePr>
        <p:xfrm>
          <a:off x="915988" y="4665663"/>
          <a:ext cx="3746500" cy="582612"/>
        </p:xfrm>
        <a:graphic>
          <a:graphicData uri="http://schemas.openxmlformats.org/presentationml/2006/ole">
            <mc:AlternateContent xmlns:mc="http://schemas.openxmlformats.org/markup-compatibility/2006">
              <mc:Choice xmlns:v="urn:schemas-microsoft-com:vml" Requires="v">
                <p:oleObj spid="_x0000_s122921" name="Equation" r:id="rId9" imgW="2043813" imgH="317362" progId="Equation.3">
                  <p:embed/>
                </p:oleObj>
              </mc:Choice>
              <mc:Fallback>
                <p:oleObj name="Equation" r:id="rId9" imgW="2043813" imgH="317362"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5988" y="4665663"/>
                        <a:ext cx="3746500" cy="58261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891" name="Object 23"/>
          <p:cNvGraphicFramePr>
            <a:graphicFrameLocks noChangeAspect="1"/>
          </p:cNvGraphicFramePr>
          <p:nvPr/>
        </p:nvGraphicFramePr>
        <p:xfrm>
          <a:off x="1144588" y="5275263"/>
          <a:ext cx="2133600" cy="441325"/>
        </p:xfrm>
        <a:graphic>
          <a:graphicData uri="http://schemas.openxmlformats.org/presentationml/2006/ole">
            <mc:AlternateContent xmlns:mc="http://schemas.openxmlformats.org/markup-compatibility/2006">
              <mc:Choice xmlns:v="urn:schemas-microsoft-com:vml" Requires="v">
                <p:oleObj spid="_x0000_s122922" name="Equation" r:id="rId11" imgW="990170" imgH="241195" progId="Equation.3">
                  <p:embed/>
                </p:oleObj>
              </mc:Choice>
              <mc:Fallback>
                <p:oleObj name="Equation" r:id="rId11" imgW="990170" imgH="241195" progId="Equation.3">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4588" y="5275263"/>
                        <a:ext cx="2133600" cy="4413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892" name="Object 24"/>
          <p:cNvGraphicFramePr>
            <a:graphicFrameLocks noChangeAspect="1"/>
          </p:cNvGraphicFramePr>
          <p:nvPr/>
        </p:nvGraphicFramePr>
        <p:xfrm>
          <a:off x="1547813" y="6019800"/>
          <a:ext cx="2568575" cy="463550"/>
        </p:xfrm>
        <a:graphic>
          <a:graphicData uri="http://schemas.openxmlformats.org/presentationml/2006/ole">
            <mc:AlternateContent xmlns:mc="http://schemas.openxmlformats.org/markup-compatibility/2006">
              <mc:Choice xmlns:v="urn:schemas-microsoft-com:vml" Requires="v">
                <p:oleObj spid="_x0000_s122923" name="Equation" r:id="rId13" imgW="1193800" imgH="254000" progId="Equation.3">
                  <p:embed/>
                </p:oleObj>
              </mc:Choice>
              <mc:Fallback>
                <p:oleObj name="Equation" r:id="rId13" imgW="1193800" imgH="254000" progId="Equation.3">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47813" y="6019800"/>
                        <a:ext cx="2568575" cy="4635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893" name="Line 25"/>
          <p:cNvSpPr>
            <a:spLocks noChangeShapeType="1"/>
          </p:cNvSpPr>
          <p:nvPr/>
        </p:nvSpPr>
        <p:spPr bwMode="auto">
          <a:xfrm>
            <a:off x="914400" y="5867400"/>
            <a:ext cx="3810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4"/>
          <p:cNvSpPr>
            <a:spLocks noChangeArrowheads="1"/>
          </p:cNvSpPr>
          <p:nvPr/>
        </p:nvSpPr>
        <p:spPr bwMode="auto">
          <a:xfrm>
            <a:off x="685800" y="1981200"/>
            <a:ext cx="4114800" cy="2133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sp>
        <p:nvSpPr>
          <p:cNvPr id="169993" name="Text Box 9"/>
          <p:cNvSpPr txBox="1">
            <a:spLocks noChangeArrowheads="1"/>
          </p:cNvSpPr>
          <p:nvPr/>
        </p:nvSpPr>
        <p:spPr bwMode="auto">
          <a:xfrm>
            <a:off x="228600" y="4191000"/>
            <a:ext cx="457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3200">
                <a:effectLst>
                  <a:outerShdw blurRad="38100" dist="38100" dir="2700000" algn="tl">
                    <a:srgbClr val="C0C0C0"/>
                  </a:outerShdw>
                </a:effectLst>
                <a:latin typeface="Arial" panose="020B0604020202020204" pitchFamily="34" charset="0"/>
                <a:cs typeface="+mn-cs"/>
              </a:rPr>
              <a:t>9. Simplification (Simp.) </a:t>
            </a:r>
          </a:p>
        </p:txBody>
      </p:sp>
      <p:sp>
        <p:nvSpPr>
          <p:cNvPr id="123908" name="Rectangle 10"/>
          <p:cNvSpPr>
            <a:spLocks noChangeArrowheads="1"/>
          </p:cNvSpPr>
          <p:nvPr/>
        </p:nvSpPr>
        <p:spPr bwMode="auto">
          <a:xfrm>
            <a:off x="762000" y="4648200"/>
            <a:ext cx="1905000" cy="1600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3909" name="Object 11"/>
          <p:cNvGraphicFramePr>
            <a:graphicFrameLocks noChangeAspect="1"/>
          </p:cNvGraphicFramePr>
          <p:nvPr/>
        </p:nvGraphicFramePr>
        <p:xfrm>
          <a:off x="1066800" y="4876800"/>
          <a:ext cx="1219200" cy="442913"/>
        </p:xfrm>
        <a:graphic>
          <a:graphicData uri="http://schemas.openxmlformats.org/presentationml/2006/ole">
            <mc:AlternateContent xmlns:mc="http://schemas.openxmlformats.org/markup-compatibility/2006">
              <mc:Choice xmlns:v="urn:schemas-microsoft-com:vml" Requires="v">
                <p:oleObj spid="_x0000_s123940" name="Equation" r:id="rId3" imgW="634725" imgH="241195" progId="Equation.3">
                  <p:embed/>
                </p:oleObj>
              </mc:Choice>
              <mc:Fallback>
                <p:oleObj name="Equation" r:id="rId3" imgW="634725" imgH="241195"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4876800"/>
                        <a:ext cx="1219200" cy="4429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0" name="Line 12"/>
          <p:cNvSpPr>
            <a:spLocks noChangeShapeType="1"/>
          </p:cNvSpPr>
          <p:nvPr/>
        </p:nvSpPr>
        <p:spPr bwMode="auto">
          <a:xfrm>
            <a:off x="838200" y="5410200"/>
            <a:ext cx="176371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graphicFrame>
        <p:nvGraphicFramePr>
          <p:cNvPr id="123911" name="Object 13"/>
          <p:cNvGraphicFramePr>
            <a:graphicFrameLocks noGrp="1" noChangeAspect="1"/>
          </p:cNvGraphicFramePr>
          <p:nvPr>
            <p:ph sz="half" idx="2"/>
          </p:nvPr>
        </p:nvGraphicFramePr>
        <p:xfrm>
          <a:off x="1274763" y="5627688"/>
          <a:ext cx="942975" cy="598487"/>
        </p:xfrm>
        <a:graphic>
          <a:graphicData uri="http://schemas.openxmlformats.org/presentationml/2006/ole">
            <mc:AlternateContent xmlns:mc="http://schemas.openxmlformats.org/markup-compatibility/2006">
              <mc:Choice xmlns:v="urn:schemas-microsoft-com:vml" Requires="v">
                <p:oleObj spid="_x0000_s123941" name="Equation" r:id="rId5" imgW="444114" imgH="253780" progId="Equation.3">
                  <p:embed/>
                </p:oleObj>
              </mc:Choice>
              <mc:Fallback>
                <p:oleObj name="Equation" r:id="rId5" imgW="444114" imgH="25378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4763" y="5627688"/>
                        <a:ext cx="942975" cy="59848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9999" name="Rectangle 15"/>
          <p:cNvSpPr>
            <a:spLocks noChangeArrowheads="1"/>
          </p:cNvSpPr>
          <p:nvPr/>
        </p:nvSpPr>
        <p:spPr bwMode="auto">
          <a:xfrm>
            <a:off x="0" y="228600"/>
            <a:ext cx="7086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smtClean="0">
                <a:solidFill>
                  <a:srgbClr val="000099"/>
                </a:solidFill>
                <a:effectLst>
                  <a:outerShdw blurRad="38100" dist="38100" dir="2700000" algn="tl">
                    <a:srgbClr val="C0C0C0"/>
                  </a:outerShdw>
                </a:effectLst>
              </a:rPr>
              <a:t>Rules of Inference</a:t>
            </a:r>
          </a:p>
        </p:txBody>
      </p:sp>
      <p:sp>
        <p:nvSpPr>
          <p:cNvPr id="170002" name="Rectangle 18"/>
          <p:cNvSpPr>
            <a:spLocks noChangeArrowheads="1"/>
          </p:cNvSpPr>
          <p:nvPr/>
        </p:nvSpPr>
        <p:spPr bwMode="auto">
          <a:xfrm>
            <a:off x="152400" y="1447800"/>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eaLnBrk="1" hangingPunct="1">
              <a:lnSpc>
                <a:spcPct val="90000"/>
              </a:lnSpc>
              <a:buFontTx/>
              <a:buNone/>
              <a:defRPr/>
            </a:pPr>
            <a:r>
              <a:rPr lang="pt-BR" sz="2900" smtClean="0">
                <a:effectLst>
                  <a:outerShdw blurRad="38100" dist="38100" dir="2700000" algn="tl">
                    <a:srgbClr val="C0C0C0"/>
                  </a:outerShdw>
                </a:effectLst>
              </a:rPr>
              <a:t> 8. Constructive Dilemma (C.D.)</a:t>
            </a:r>
            <a:r>
              <a:rPr lang="en-US" sz="2900" smtClean="0">
                <a:effectLst>
                  <a:outerShdw blurRad="38100" dist="38100" dir="2700000" algn="tl">
                    <a:srgbClr val="C0C0C0"/>
                  </a:outerShdw>
                </a:effectLst>
              </a:rPr>
              <a:t> </a:t>
            </a:r>
          </a:p>
        </p:txBody>
      </p:sp>
      <p:graphicFrame>
        <p:nvGraphicFramePr>
          <p:cNvPr id="123914" name="Object 19"/>
          <p:cNvGraphicFramePr>
            <a:graphicFrameLocks noChangeAspect="1"/>
          </p:cNvGraphicFramePr>
          <p:nvPr/>
        </p:nvGraphicFramePr>
        <p:xfrm>
          <a:off x="915988" y="2074863"/>
          <a:ext cx="3746500" cy="582612"/>
        </p:xfrm>
        <a:graphic>
          <a:graphicData uri="http://schemas.openxmlformats.org/presentationml/2006/ole">
            <mc:AlternateContent xmlns:mc="http://schemas.openxmlformats.org/markup-compatibility/2006">
              <mc:Choice xmlns:v="urn:schemas-microsoft-com:vml" Requires="v">
                <p:oleObj spid="_x0000_s123942" name="Equation" r:id="rId7" imgW="2043813" imgH="317362" progId="Equation.3">
                  <p:embed/>
                </p:oleObj>
              </mc:Choice>
              <mc:Fallback>
                <p:oleObj name="Equation" r:id="rId7" imgW="2043813" imgH="317362"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5988" y="2074863"/>
                        <a:ext cx="3746500" cy="58261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915" name="Line 22"/>
          <p:cNvSpPr>
            <a:spLocks noChangeShapeType="1"/>
          </p:cNvSpPr>
          <p:nvPr/>
        </p:nvSpPr>
        <p:spPr bwMode="auto">
          <a:xfrm>
            <a:off x="914400" y="3276600"/>
            <a:ext cx="3810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sp>
        <p:nvSpPr>
          <p:cNvPr id="123916" name="Rectangle 24"/>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3917" name="Object 23"/>
          <p:cNvGraphicFramePr>
            <a:graphicFrameLocks noChangeAspect="1"/>
          </p:cNvGraphicFramePr>
          <p:nvPr/>
        </p:nvGraphicFramePr>
        <p:xfrm>
          <a:off x="838200" y="2692400"/>
          <a:ext cx="1371600" cy="596900"/>
        </p:xfrm>
        <a:graphic>
          <a:graphicData uri="http://schemas.openxmlformats.org/presentationml/2006/ole">
            <mc:AlternateContent xmlns:mc="http://schemas.openxmlformats.org/markup-compatibility/2006">
              <mc:Choice xmlns:v="urn:schemas-microsoft-com:vml" Requires="v">
                <p:oleObj spid="_x0000_s123943" name="Equation" r:id="rId9" imgW="368140" imgH="165028" progId="Equation.3">
                  <p:embed/>
                </p:oleObj>
              </mc:Choice>
              <mc:Fallback>
                <p:oleObj name="Equation" r:id="rId9" imgW="368140" imgH="165028"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200" y="2692400"/>
                        <a:ext cx="13716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918" name="Rectangle 26"/>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3919" name="Object 25"/>
          <p:cNvGraphicFramePr>
            <a:graphicFrameLocks noChangeAspect="1"/>
          </p:cNvGraphicFramePr>
          <p:nvPr/>
        </p:nvGraphicFramePr>
        <p:xfrm>
          <a:off x="914400" y="3352800"/>
          <a:ext cx="1524000" cy="528638"/>
        </p:xfrm>
        <a:graphic>
          <a:graphicData uri="http://schemas.openxmlformats.org/presentationml/2006/ole">
            <mc:AlternateContent xmlns:mc="http://schemas.openxmlformats.org/markup-compatibility/2006">
              <mc:Choice xmlns:v="urn:schemas-microsoft-com:vml" Requires="v">
                <p:oleObj spid="_x0000_s123944" name="Equation" r:id="rId11" imgW="469696" imgH="165028" progId="Equation.3">
                  <p:embed/>
                </p:oleObj>
              </mc:Choice>
              <mc:Fallback>
                <p:oleObj name="Equation" r:id="rId11" imgW="469696" imgH="165028" progId="Equation.3">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3352800"/>
                        <a:ext cx="15240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3"/>
          <p:cNvSpPr>
            <a:spLocks noGrp="1" noChangeArrowheads="1"/>
          </p:cNvSpPr>
          <p:nvPr>
            <p:ph type="body" sz="half" idx="1"/>
          </p:nvPr>
        </p:nvSpPr>
        <p:spPr bwMode="auto">
          <a:xfrm>
            <a:off x="415925" y="1371600"/>
            <a:ext cx="4384675"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pt-BR" smtClean="0">
                <a:effectLst>
                  <a:outerShdw blurRad="38100" dist="38100" dir="2700000" algn="tl">
                    <a:srgbClr val="C0C0C0"/>
                  </a:outerShdw>
                </a:effectLst>
              </a:rPr>
              <a:t>10. Conjunction (Conj.)</a:t>
            </a:r>
            <a:r>
              <a:rPr lang="en-US" sz="2800" smtClean="0">
                <a:effectLst>
                  <a:outerShdw blurRad="38100" dist="38100" dir="2700000" algn="tl">
                    <a:srgbClr val="C0C0C0"/>
                  </a:outerShdw>
                </a:effectLst>
              </a:rPr>
              <a:t> </a:t>
            </a:r>
          </a:p>
        </p:txBody>
      </p:sp>
      <p:sp>
        <p:nvSpPr>
          <p:cNvPr id="124931" name="Rectangle 4"/>
          <p:cNvSpPr>
            <a:spLocks noChangeArrowheads="1"/>
          </p:cNvSpPr>
          <p:nvPr/>
        </p:nvSpPr>
        <p:spPr bwMode="auto">
          <a:xfrm>
            <a:off x="1066800" y="2209800"/>
            <a:ext cx="2362200" cy="2438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4932" name="Object 5"/>
          <p:cNvGraphicFramePr>
            <a:graphicFrameLocks noChangeAspect="1"/>
          </p:cNvGraphicFramePr>
          <p:nvPr/>
        </p:nvGraphicFramePr>
        <p:xfrm>
          <a:off x="2244725" y="2895600"/>
          <a:ext cx="365125" cy="442913"/>
        </p:xfrm>
        <a:graphic>
          <a:graphicData uri="http://schemas.openxmlformats.org/presentationml/2006/ole">
            <mc:AlternateContent xmlns:mc="http://schemas.openxmlformats.org/markup-compatibility/2006">
              <mc:Choice xmlns:v="urn:schemas-microsoft-com:vml" Requires="v">
                <p:oleObj spid="_x0000_s124962" name="Equation" r:id="rId3" imgW="190417" imgH="241195" progId="Equation.3">
                  <p:embed/>
                </p:oleObj>
              </mc:Choice>
              <mc:Fallback>
                <p:oleObj name="Equation" r:id="rId3" imgW="190417" imgH="24119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4725" y="2895600"/>
                        <a:ext cx="365125" cy="4429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3" name="Line 6"/>
          <p:cNvSpPr>
            <a:spLocks noChangeShapeType="1"/>
          </p:cNvSpPr>
          <p:nvPr/>
        </p:nvSpPr>
        <p:spPr bwMode="auto">
          <a:xfrm>
            <a:off x="1406525" y="3505200"/>
            <a:ext cx="1752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graphicFrame>
        <p:nvGraphicFramePr>
          <p:cNvPr id="124934" name="Object 7"/>
          <p:cNvGraphicFramePr>
            <a:graphicFrameLocks noChangeAspect="1"/>
          </p:cNvGraphicFramePr>
          <p:nvPr/>
        </p:nvGraphicFramePr>
        <p:xfrm>
          <a:off x="1406525" y="3657600"/>
          <a:ext cx="1785938" cy="533400"/>
        </p:xfrm>
        <a:graphic>
          <a:graphicData uri="http://schemas.openxmlformats.org/presentationml/2006/ole">
            <mc:AlternateContent xmlns:mc="http://schemas.openxmlformats.org/markup-compatibility/2006">
              <mc:Choice xmlns:v="urn:schemas-microsoft-com:vml" Requires="v">
                <p:oleObj spid="_x0000_s124963" name="Equation" r:id="rId5" imgW="850531" imgH="253890" progId="Equation.3">
                  <p:embed/>
                </p:oleObj>
              </mc:Choice>
              <mc:Fallback>
                <p:oleObj name="Equation" r:id="rId5" imgW="850531" imgH="25389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6525" y="3657600"/>
                        <a:ext cx="1785938" cy="533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4935" name="Object 8"/>
          <p:cNvGraphicFramePr>
            <a:graphicFrameLocks noGrp="1" noChangeAspect="1"/>
          </p:cNvGraphicFramePr>
          <p:nvPr>
            <p:ph sz="half" idx="2"/>
          </p:nvPr>
        </p:nvGraphicFramePr>
        <p:xfrm>
          <a:off x="2109788" y="2185988"/>
          <a:ext cx="444500" cy="519112"/>
        </p:xfrm>
        <a:graphic>
          <a:graphicData uri="http://schemas.openxmlformats.org/presentationml/2006/ole">
            <mc:AlternateContent xmlns:mc="http://schemas.openxmlformats.org/markup-compatibility/2006">
              <mc:Choice xmlns:v="urn:schemas-microsoft-com:vml" Requires="v">
                <p:oleObj spid="_x0000_s124964" name="Equation" r:id="rId7" imgW="228600" imgH="241300" progId="Equation.3">
                  <p:embed/>
                </p:oleObj>
              </mc:Choice>
              <mc:Fallback>
                <p:oleObj name="Equation" r:id="rId7" imgW="228600" imgH="2413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9788" y="2185988"/>
                        <a:ext cx="444500" cy="51911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1018" name="Text Box 10"/>
          <p:cNvSpPr txBox="1">
            <a:spLocks noChangeArrowheads="1"/>
          </p:cNvSpPr>
          <p:nvPr/>
        </p:nvSpPr>
        <p:spPr bwMode="auto">
          <a:xfrm>
            <a:off x="533400" y="4191000"/>
            <a:ext cx="3581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3200">
                <a:effectLst>
                  <a:outerShdw blurRad="38100" dist="38100" dir="2700000" algn="tl">
                    <a:srgbClr val="C0C0C0"/>
                  </a:outerShdw>
                </a:effectLst>
                <a:latin typeface="Arial" panose="020B0604020202020204" pitchFamily="34" charset="0"/>
                <a:cs typeface="+mn-cs"/>
              </a:rPr>
              <a:t>11. Addition (Add.) </a:t>
            </a:r>
          </a:p>
        </p:txBody>
      </p:sp>
      <p:sp>
        <p:nvSpPr>
          <p:cNvPr id="124937" name="Rectangle 11"/>
          <p:cNvSpPr>
            <a:spLocks noChangeArrowheads="1"/>
          </p:cNvSpPr>
          <p:nvPr/>
        </p:nvSpPr>
        <p:spPr bwMode="auto">
          <a:xfrm>
            <a:off x="1219200" y="5029200"/>
            <a:ext cx="2133600" cy="16002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graphicFrame>
        <p:nvGraphicFramePr>
          <p:cNvPr id="124938" name="Object 12"/>
          <p:cNvGraphicFramePr>
            <a:graphicFrameLocks noChangeAspect="1"/>
          </p:cNvGraphicFramePr>
          <p:nvPr/>
        </p:nvGraphicFramePr>
        <p:xfrm>
          <a:off x="1914525" y="5257800"/>
          <a:ext cx="438150" cy="442913"/>
        </p:xfrm>
        <a:graphic>
          <a:graphicData uri="http://schemas.openxmlformats.org/presentationml/2006/ole">
            <mc:AlternateContent xmlns:mc="http://schemas.openxmlformats.org/markup-compatibility/2006">
              <mc:Choice xmlns:v="urn:schemas-microsoft-com:vml" Requires="v">
                <p:oleObj spid="_x0000_s124965" name="Equation" r:id="rId9" imgW="228600" imgH="241300" progId="Equation.3">
                  <p:embed/>
                </p:oleObj>
              </mc:Choice>
              <mc:Fallback>
                <p:oleObj name="Equation" r:id="rId9" imgW="228600" imgH="2413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4525" y="5257800"/>
                        <a:ext cx="438150" cy="4429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9" name="Line 13"/>
          <p:cNvSpPr>
            <a:spLocks noChangeShapeType="1"/>
          </p:cNvSpPr>
          <p:nvPr/>
        </p:nvSpPr>
        <p:spPr bwMode="auto">
          <a:xfrm>
            <a:off x="1295400" y="5791200"/>
            <a:ext cx="176371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graphicFrame>
        <p:nvGraphicFramePr>
          <p:cNvPr id="124940" name="Object 14"/>
          <p:cNvGraphicFramePr>
            <a:graphicFrameLocks noChangeAspect="1"/>
          </p:cNvGraphicFramePr>
          <p:nvPr/>
        </p:nvGraphicFramePr>
        <p:xfrm>
          <a:off x="1325563" y="5943600"/>
          <a:ext cx="1787525" cy="533400"/>
        </p:xfrm>
        <a:graphic>
          <a:graphicData uri="http://schemas.openxmlformats.org/presentationml/2006/ole">
            <mc:AlternateContent xmlns:mc="http://schemas.openxmlformats.org/markup-compatibility/2006">
              <mc:Choice xmlns:v="urn:schemas-microsoft-com:vml" Requires="v">
                <p:oleObj spid="_x0000_s124966" name="Equation" r:id="rId10" imgW="850531" imgH="253890" progId="Equation.3">
                  <p:embed/>
                </p:oleObj>
              </mc:Choice>
              <mc:Fallback>
                <p:oleObj name="Equation" r:id="rId10" imgW="850531" imgH="25389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25563" y="5943600"/>
                        <a:ext cx="1787525" cy="533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1023" name="Rectangle 15"/>
          <p:cNvSpPr>
            <a:spLocks noChangeArrowheads="1"/>
          </p:cNvSpPr>
          <p:nvPr/>
        </p:nvSpPr>
        <p:spPr bwMode="auto">
          <a:xfrm>
            <a:off x="0" y="228600"/>
            <a:ext cx="7086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smtClean="0">
                <a:solidFill>
                  <a:srgbClr val="000099"/>
                </a:solidFill>
                <a:effectLst>
                  <a:outerShdw blurRad="38100" dist="38100" dir="2700000" algn="tl">
                    <a:srgbClr val="C0C0C0"/>
                  </a:outerShdw>
                </a:effectLst>
              </a:rPr>
              <a:t>Rules of Inference</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p:cNvSpPr>
            <a:spLocks noGrp="1" noChangeArrowheads="1"/>
          </p:cNvSpPr>
          <p:nvPr>
            <p:ph type="body" idx="1"/>
          </p:nvPr>
        </p:nvSpPr>
        <p:spPr bwMode="auto">
          <a:xfrm>
            <a:off x="228600" y="1371600"/>
            <a:ext cx="69342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z="2800" smtClean="0">
                <a:effectLst>
                  <a:outerShdw blurRad="38100" dist="38100" dir="2700000" algn="tl">
                    <a:srgbClr val="C0C0C0"/>
                  </a:outerShdw>
                </a:effectLst>
              </a:rPr>
              <a:t>	These eleven Rules of Inference are elementary valid argument forms, whose validity is easily established by truth tables. They can be used to construct formal proofs of validity for a wide range of more complicated arguments. The names listed are standard for the most part, and the use of their abbreviations permits formal proofs to be set down with a minimum of writing.</a:t>
            </a:r>
          </a:p>
        </p:txBody>
      </p:sp>
      <p:sp>
        <p:nvSpPr>
          <p:cNvPr id="172036" name="Rectangle 4"/>
          <p:cNvSpPr>
            <a:spLocks noChangeArrowheads="1"/>
          </p:cNvSpPr>
          <p:nvPr/>
        </p:nvSpPr>
        <p:spPr bwMode="auto">
          <a:xfrm>
            <a:off x="0" y="228600"/>
            <a:ext cx="7086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smtClean="0">
                <a:solidFill>
                  <a:srgbClr val="000099"/>
                </a:solidFill>
                <a:effectLst>
                  <a:outerShdw blurRad="38100" dist="38100" dir="2700000" algn="tl">
                    <a:srgbClr val="C0C0C0"/>
                  </a:outerShdw>
                </a:effectLst>
              </a:rPr>
              <a:t>Rules of Inference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bwMode="auto">
          <a:xfrm>
            <a:off x="0" y="304800"/>
            <a:ext cx="7010400" cy="71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sz="4000" b="1" smtClean="0">
                <a:solidFill>
                  <a:srgbClr val="000099"/>
                </a:solidFill>
                <a:effectLst>
                  <a:outerShdw blurRad="38100" dist="38100" dir="2700000" algn="tl">
                    <a:srgbClr val="C0C0C0"/>
                  </a:outerShdw>
                </a:effectLst>
              </a:rPr>
              <a:t>Example 3</a:t>
            </a:r>
          </a:p>
        </p:txBody>
      </p:sp>
      <p:sp>
        <p:nvSpPr>
          <p:cNvPr id="173059" name="Rectangle 3"/>
          <p:cNvSpPr>
            <a:spLocks noGrp="1" noChangeArrowheads="1"/>
          </p:cNvSpPr>
          <p:nvPr>
            <p:ph type="body" idx="1"/>
          </p:nvPr>
        </p:nvSpPr>
        <p:spPr bwMode="auto">
          <a:xfrm>
            <a:off x="304800" y="1371600"/>
            <a:ext cx="71628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z="2900" smtClean="0">
                <a:effectLst>
                  <a:outerShdw blurRad="38100" dist="38100" dir="2700000" algn="tl">
                    <a:srgbClr val="C0C0C0"/>
                  </a:outerShdw>
                </a:effectLst>
              </a:rPr>
              <a:t>Establish the validity of the following </a:t>
            </a:r>
          </a:p>
          <a:p>
            <a:pPr algn="just" eaLnBrk="1" hangingPunct="1">
              <a:buFontTx/>
              <a:buNone/>
              <a:defRPr/>
            </a:pPr>
            <a:r>
              <a:rPr lang="en-US" sz="2900" smtClean="0">
                <a:effectLst>
                  <a:outerShdw blurRad="38100" dist="38100" dir="2700000" algn="tl">
                    <a:srgbClr val="C0C0C0"/>
                  </a:outerShdw>
                </a:effectLst>
              </a:rPr>
              <a:t>arguments:</a:t>
            </a:r>
          </a:p>
          <a:p>
            <a:pPr algn="just" eaLnBrk="1" hangingPunct="1">
              <a:buFontTx/>
              <a:buNone/>
              <a:defRPr/>
            </a:pPr>
            <a:r>
              <a:rPr lang="en-US" sz="2900" smtClean="0">
                <a:effectLst>
                  <a:outerShdw blurRad="38100" dist="38100" dir="2700000" algn="tl">
                    <a:srgbClr val="C0C0C0"/>
                  </a:outerShdw>
                </a:effectLst>
              </a:rPr>
              <a:t>	Either the Attorney General has imposed a strict 	censorship or if Black mailed the letter then 	Davis received a warning.</a:t>
            </a:r>
          </a:p>
          <a:p>
            <a:pPr algn="just" eaLnBrk="1" hangingPunct="1">
              <a:buFontTx/>
              <a:buNone/>
              <a:defRPr/>
            </a:pPr>
            <a:r>
              <a:rPr lang="en-US" sz="2900" smtClean="0">
                <a:effectLst>
                  <a:outerShdw blurRad="38100" dist="38100" dir="2700000" algn="tl">
                    <a:srgbClr val="C0C0C0"/>
                  </a:outerShdw>
                </a:effectLst>
              </a:rPr>
              <a:t>	If our lines of communication have not broken 	down completely, then if Davis received a 	warning then Emory was informed about the 	matter.</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type="body" idx="1"/>
          </p:nvPr>
        </p:nvSpPr>
        <p:spPr bwMode="auto">
          <a:xfrm>
            <a:off x="-76200" y="1341438"/>
            <a:ext cx="7162800" cy="45259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mtClean="0">
                <a:effectLst>
                  <a:outerShdw blurRad="38100" dist="38100" dir="2700000" algn="tl">
                    <a:srgbClr val="C0C0C0"/>
                  </a:outerShdw>
                </a:effectLst>
              </a:rPr>
              <a:t>	If the Attorney General has imposed a strict 	censorship, then our lines of 	communication have broken down 	completely.</a:t>
            </a:r>
          </a:p>
          <a:p>
            <a:pPr algn="just" eaLnBrk="1" hangingPunct="1">
              <a:lnSpc>
                <a:spcPct val="90000"/>
              </a:lnSpc>
              <a:buFontTx/>
              <a:buNone/>
              <a:defRPr/>
            </a:pPr>
            <a:r>
              <a:rPr lang="en-US" smtClean="0">
                <a:effectLst>
                  <a:outerShdw blurRad="38100" dist="38100" dir="2700000" algn="tl">
                    <a:srgbClr val="C0C0C0"/>
                  </a:outerShdw>
                </a:effectLst>
              </a:rPr>
              <a:t>	Our lines of communication have not 	broken down completely.</a:t>
            </a:r>
          </a:p>
          <a:p>
            <a:pPr algn="just" eaLnBrk="1" hangingPunct="1">
              <a:lnSpc>
                <a:spcPct val="90000"/>
              </a:lnSpc>
              <a:buFontTx/>
              <a:buNone/>
              <a:defRPr/>
            </a:pPr>
            <a:r>
              <a:rPr lang="en-US" smtClean="0">
                <a:effectLst>
                  <a:outerShdw blurRad="38100" dist="38100" dir="2700000" algn="tl">
                    <a:srgbClr val="C0C0C0"/>
                  </a:outerShdw>
                </a:effectLst>
              </a:rPr>
              <a:t>	Therefore, if Black mailed the letter, then 	Emory was informed about the matter.</a:t>
            </a:r>
          </a:p>
        </p:txBody>
      </p:sp>
      <p:sp>
        <p:nvSpPr>
          <p:cNvPr id="174084" name="Rectangle 4"/>
          <p:cNvSpPr>
            <a:spLocks noChangeArrowheads="1"/>
          </p:cNvSpPr>
          <p:nvPr/>
        </p:nvSpPr>
        <p:spPr bwMode="auto">
          <a:xfrm>
            <a:off x="0" y="304800"/>
            <a:ext cx="70104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sz="4000" b="1" smtClean="0">
                <a:solidFill>
                  <a:srgbClr val="000099"/>
                </a:solidFill>
                <a:effectLst>
                  <a:outerShdw blurRad="38100" dist="38100" dir="2700000" algn="tl">
                    <a:srgbClr val="C0C0C0"/>
                  </a:outerShdw>
                </a:effectLst>
              </a:rPr>
              <a:t>Example 3</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3124200" y="3048000"/>
            <a:ext cx="3124200" cy="2895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PH" altLang="en-US"/>
          </a:p>
        </p:txBody>
      </p:sp>
      <p:sp>
        <p:nvSpPr>
          <p:cNvPr id="175107" name="Rectangle 3"/>
          <p:cNvSpPr>
            <a:spLocks noGrp="1" noChangeArrowheads="1"/>
          </p:cNvSpPr>
          <p:nvPr>
            <p:ph type="title"/>
          </p:nvPr>
        </p:nvSpPr>
        <p:spPr bwMode="auto">
          <a:xfrm>
            <a:off x="76200" y="152400"/>
            <a:ext cx="7086600" cy="914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Example 3</a:t>
            </a:r>
          </a:p>
        </p:txBody>
      </p:sp>
      <p:sp>
        <p:nvSpPr>
          <p:cNvPr id="175108" name="Rectangle 4"/>
          <p:cNvSpPr>
            <a:spLocks noGrp="1" noChangeArrowheads="1"/>
          </p:cNvSpPr>
          <p:nvPr>
            <p:ph type="body" sz="half" idx="1"/>
          </p:nvPr>
        </p:nvSpPr>
        <p:spPr bwMode="auto">
          <a:xfrm>
            <a:off x="457200" y="1600200"/>
            <a:ext cx="70104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sz="2800" smtClean="0">
                <a:effectLst>
                  <a:outerShdw blurRad="38100" dist="38100" dir="2700000" algn="tl">
                    <a:srgbClr val="C0C0C0"/>
                  </a:outerShdw>
                </a:effectLst>
              </a:rPr>
              <a:t>Solution:</a:t>
            </a:r>
          </a:p>
          <a:p>
            <a:pPr eaLnBrk="1" hangingPunct="1">
              <a:buFontTx/>
              <a:buNone/>
              <a:defRPr/>
            </a:pPr>
            <a:r>
              <a:rPr lang="en-US" sz="2800" smtClean="0">
                <a:effectLst>
                  <a:outerShdw blurRad="38100" dist="38100" dir="2700000" algn="tl">
                    <a:srgbClr val="C0C0C0"/>
                  </a:outerShdw>
                </a:effectLst>
              </a:rPr>
              <a:t>	Symbolically,  the above arguments may be written as:</a:t>
            </a:r>
          </a:p>
        </p:txBody>
      </p:sp>
      <p:graphicFrame>
        <p:nvGraphicFramePr>
          <p:cNvPr id="129029" name="Object 5"/>
          <p:cNvGraphicFramePr>
            <a:graphicFrameLocks noGrp="1" noChangeAspect="1"/>
          </p:cNvGraphicFramePr>
          <p:nvPr>
            <p:ph sz="quarter" idx="2"/>
          </p:nvPr>
        </p:nvGraphicFramePr>
        <p:xfrm>
          <a:off x="3457575" y="4930775"/>
          <a:ext cx="690563" cy="447675"/>
        </p:xfrm>
        <a:graphic>
          <a:graphicData uri="http://schemas.openxmlformats.org/presentationml/2006/ole">
            <mc:AlternateContent xmlns:mc="http://schemas.openxmlformats.org/markup-compatibility/2006">
              <mc:Choice xmlns:v="urn:schemas-microsoft-com:vml" Requires="v">
                <p:oleObj spid="_x0000_s129055" name="Equation" r:id="rId3" imgW="457002" imgH="266584" progId="Equation.3">
                  <p:embed/>
                </p:oleObj>
              </mc:Choice>
              <mc:Fallback>
                <p:oleObj name="Equation" r:id="rId3" imgW="457002" imgH="266584"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7575" y="4930775"/>
                        <a:ext cx="690563" cy="4476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0" name="Object 6"/>
          <p:cNvGraphicFramePr>
            <a:graphicFrameLocks noChangeAspect="1"/>
          </p:cNvGraphicFramePr>
          <p:nvPr/>
        </p:nvGraphicFramePr>
        <p:xfrm>
          <a:off x="3429000" y="3733800"/>
          <a:ext cx="2590800" cy="427038"/>
        </p:xfrm>
        <a:graphic>
          <a:graphicData uri="http://schemas.openxmlformats.org/presentationml/2006/ole">
            <mc:AlternateContent xmlns:mc="http://schemas.openxmlformats.org/markup-compatibility/2006">
              <mc:Choice xmlns:v="urn:schemas-microsoft-com:vml" Requires="v">
                <p:oleObj spid="_x0000_s129056" name="Equation" r:id="rId5" imgW="1841500" imgH="317500" progId="Equation.3">
                  <p:embed/>
                </p:oleObj>
              </mc:Choice>
              <mc:Fallback>
                <p:oleObj name="Equation" r:id="rId5" imgW="1841500" imgH="3175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733800"/>
                        <a:ext cx="2590800" cy="4270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31" name="Line 7"/>
          <p:cNvSpPr>
            <a:spLocks noChangeShapeType="1"/>
          </p:cNvSpPr>
          <p:nvPr/>
        </p:nvSpPr>
        <p:spPr bwMode="auto">
          <a:xfrm>
            <a:off x="3429000" y="5486400"/>
            <a:ext cx="2667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H"/>
          </a:p>
        </p:txBody>
      </p:sp>
      <p:graphicFrame>
        <p:nvGraphicFramePr>
          <p:cNvPr id="129032" name="Object 8"/>
          <p:cNvGraphicFramePr>
            <a:graphicFrameLocks noChangeAspect="1"/>
          </p:cNvGraphicFramePr>
          <p:nvPr/>
        </p:nvGraphicFramePr>
        <p:xfrm>
          <a:off x="3429000" y="4191000"/>
          <a:ext cx="1295400" cy="425450"/>
        </p:xfrm>
        <a:graphic>
          <a:graphicData uri="http://schemas.openxmlformats.org/presentationml/2006/ole">
            <mc:AlternateContent xmlns:mc="http://schemas.openxmlformats.org/markup-compatibility/2006">
              <mc:Choice xmlns:v="urn:schemas-microsoft-com:vml" Requires="v">
                <p:oleObj spid="_x0000_s129057" name="Equation" r:id="rId7" imgW="812447" imgH="266584" progId="Equation.3">
                  <p:embed/>
                </p:oleObj>
              </mc:Choice>
              <mc:Fallback>
                <p:oleObj name="Equation" r:id="rId7" imgW="812447" imgH="266584"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191000"/>
                        <a:ext cx="1295400" cy="42545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3" name="Object 9"/>
          <p:cNvGraphicFramePr>
            <a:graphicFrameLocks noChangeAspect="1"/>
          </p:cNvGraphicFramePr>
          <p:nvPr/>
        </p:nvGraphicFramePr>
        <p:xfrm>
          <a:off x="3429000" y="3124200"/>
          <a:ext cx="2438400" cy="523875"/>
        </p:xfrm>
        <a:graphic>
          <a:graphicData uri="http://schemas.openxmlformats.org/presentationml/2006/ole">
            <mc:AlternateContent xmlns:mc="http://schemas.openxmlformats.org/markup-compatibility/2006">
              <mc:Choice xmlns:v="urn:schemas-microsoft-com:vml" Requires="v">
                <p:oleObj spid="_x0000_s129058" name="Equation" r:id="rId9" imgW="1472561" imgH="317362" progId="Equation.3">
                  <p:embed/>
                </p:oleObj>
              </mc:Choice>
              <mc:Fallback>
                <p:oleObj name="Equation" r:id="rId9" imgW="1472561" imgH="317362"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3124200"/>
                        <a:ext cx="2438400" cy="52387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34" name="Object 10"/>
          <p:cNvGraphicFramePr>
            <a:graphicFrameLocks noGrp="1" noChangeAspect="1"/>
          </p:cNvGraphicFramePr>
          <p:nvPr>
            <p:ph sz="quarter" idx="3"/>
          </p:nvPr>
        </p:nvGraphicFramePr>
        <p:xfrm>
          <a:off x="3763963" y="5699125"/>
          <a:ext cx="1616075" cy="427038"/>
        </p:xfrm>
        <a:graphic>
          <a:graphicData uri="http://schemas.openxmlformats.org/presentationml/2006/ole">
            <mc:AlternateContent xmlns:mc="http://schemas.openxmlformats.org/markup-compatibility/2006">
              <mc:Choice xmlns:v="urn:schemas-microsoft-com:vml" Requires="v">
                <p:oleObj spid="_x0000_s129059" name="Equation" r:id="rId11" imgW="1028254" imgH="253890" progId="Equation.3">
                  <p:embed/>
                </p:oleObj>
              </mc:Choice>
              <mc:Fallback>
                <p:oleObj name="Equation" r:id="rId11" imgW="1028254" imgH="25389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63963" y="5699125"/>
                        <a:ext cx="1616075" cy="4270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bwMode="auto">
          <a:xfrm>
            <a:off x="152400" y="152400"/>
            <a:ext cx="6934200" cy="838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Example 3</a:t>
            </a:r>
          </a:p>
        </p:txBody>
      </p:sp>
      <p:sp>
        <p:nvSpPr>
          <p:cNvPr id="176131" name="Rectangle 3"/>
          <p:cNvSpPr>
            <a:spLocks noGrp="1" noChangeArrowheads="1"/>
          </p:cNvSpPr>
          <p:nvPr>
            <p:ph type="body" idx="1"/>
          </p:nvPr>
        </p:nvSpPr>
        <p:spPr bwMode="auto">
          <a:xfrm>
            <a:off x="76200" y="1371600"/>
            <a:ext cx="72390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mtClean="0">
                <a:effectLst>
                  <a:outerShdw blurRad="38100" dist="38100" dir="2700000" algn="tl">
                    <a:srgbClr val="C0C0C0"/>
                  </a:outerShdw>
                </a:effectLst>
              </a:rPr>
              <a:t>where  </a:t>
            </a:r>
          </a:p>
          <a:p>
            <a:pPr algn="just" eaLnBrk="1" hangingPunct="1">
              <a:lnSpc>
                <a:spcPct val="90000"/>
              </a:lnSpc>
              <a:buFontTx/>
              <a:buNone/>
              <a:defRPr/>
            </a:pPr>
            <a:r>
              <a:rPr lang="en-US" smtClean="0">
                <a:effectLst>
                  <a:outerShdw blurRad="38100" dist="38100" dir="2700000" algn="tl">
                    <a:srgbClr val="C0C0C0"/>
                  </a:outerShdw>
                </a:effectLst>
              </a:rPr>
              <a:t>	A: Attorney General imposes a strict censorship.</a:t>
            </a:r>
          </a:p>
          <a:p>
            <a:pPr algn="just" eaLnBrk="1" hangingPunct="1">
              <a:lnSpc>
                <a:spcPct val="90000"/>
              </a:lnSpc>
              <a:buFontTx/>
              <a:buNone/>
              <a:defRPr/>
            </a:pPr>
            <a:r>
              <a:rPr lang="en-US" smtClean="0">
                <a:effectLst>
                  <a:outerShdw blurRad="38100" dist="38100" dir="2700000" algn="tl">
                    <a:srgbClr val="C0C0C0"/>
                  </a:outerShdw>
                </a:effectLst>
              </a:rPr>
              <a:t>	B: Black mails the letter.</a:t>
            </a:r>
          </a:p>
          <a:p>
            <a:pPr algn="just" eaLnBrk="1" hangingPunct="1">
              <a:lnSpc>
                <a:spcPct val="90000"/>
              </a:lnSpc>
              <a:buFontTx/>
              <a:buNone/>
              <a:defRPr/>
            </a:pPr>
            <a:r>
              <a:rPr lang="en-US" smtClean="0">
                <a:effectLst>
                  <a:outerShdw blurRad="38100" dist="38100" dir="2700000" algn="tl">
                    <a:srgbClr val="C0C0C0"/>
                  </a:outerShdw>
                </a:effectLst>
              </a:rPr>
              <a:t>	C: Our lines of communication breaks down 	completely.</a:t>
            </a:r>
          </a:p>
          <a:p>
            <a:pPr algn="just" eaLnBrk="1" hangingPunct="1">
              <a:lnSpc>
                <a:spcPct val="90000"/>
              </a:lnSpc>
              <a:buFontTx/>
              <a:buNone/>
              <a:defRPr/>
            </a:pPr>
            <a:r>
              <a:rPr lang="en-US" smtClean="0">
                <a:effectLst>
                  <a:outerShdw blurRad="38100" dist="38100" dir="2700000" algn="tl">
                    <a:srgbClr val="C0C0C0"/>
                  </a:outerShdw>
                </a:effectLst>
              </a:rPr>
              <a:t>	D: Davis receives a warning.</a:t>
            </a:r>
          </a:p>
          <a:p>
            <a:pPr algn="just" eaLnBrk="1" hangingPunct="1">
              <a:lnSpc>
                <a:spcPct val="90000"/>
              </a:lnSpc>
              <a:buFontTx/>
              <a:buNone/>
              <a:defRPr/>
            </a:pPr>
            <a:r>
              <a:rPr lang="en-US" smtClean="0">
                <a:effectLst>
                  <a:outerShdw blurRad="38100" dist="38100" dir="2700000" algn="tl">
                    <a:srgbClr val="C0C0C0"/>
                  </a:outerShdw>
                </a:effectLst>
              </a:rPr>
              <a:t>	E: Emory was informed about the matter.</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type="body" idx="1"/>
          </p:nvPr>
        </p:nvSpPr>
        <p:spPr bwMode="auto">
          <a:xfrm>
            <a:off x="152400" y="1371600"/>
            <a:ext cx="70104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mtClean="0">
                <a:effectLst>
                  <a:outerShdw blurRad="38100" dist="38100" dir="2700000" algn="tl">
                    <a:srgbClr val="C0C0C0"/>
                  </a:outerShdw>
                </a:effectLst>
              </a:rPr>
              <a:t>	To establish the validity of this argument by means of a truth table would require a table with thirty-two rows. We can prove the given argument valid, however, by deducing its conclusion from its premises by a sequence of just four arguments whose validity has already been established. </a:t>
            </a:r>
          </a:p>
        </p:txBody>
      </p:sp>
      <p:sp>
        <p:nvSpPr>
          <p:cNvPr id="177157" name="Rectangle 5"/>
          <p:cNvSpPr>
            <a:spLocks noGrp="1" noChangeArrowheads="1"/>
          </p:cNvSpPr>
          <p:nvPr>
            <p:ph type="title"/>
          </p:nvPr>
        </p:nvSpPr>
        <p:spPr bwMode="auto">
          <a:xfrm>
            <a:off x="76200" y="152400"/>
            <a:ext cx="7086600" cy="914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p:cNvSpPr>
            <a:spLocks noGrp="1" noChangeArrowheads="1"/>
          </p:cNvSpPr>
          <p:nvPr>
            <p:ph type="body" idx="1"/>
          </p:nvPr>
        </p:nvSpPr>
        <p:spPr bwMode="auto">
          <a:xfrm>
            <a:off x="228600" y="1600200"/>
            <a:ext cx="70104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Clr>
                <a:srgbClr val="CC3300"/>
              </a:buClr>
              <a:buSzPct val="70000"/>
              <a:buFontTx/>
              <a:buChar char="o"/>
              <a:defRPr/>
            </a:pPr>
            <a:r>
              <a:rPr lang="en-US" smtClean="0">
                <a:effectLst>
                  <a:outerShdw blurRad="38100" dist="38100" dir="2700000" algn="tl">
                    <a:srgbClr val="C0C0C0"/>
                  </a:outerShdw>
                </a:effectLst>
              </a:rPr>
              <a:t>From the third and fourth premises, A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C and ~ C, we validly infer ~ A by </a:t>
            </a:r>
            <a:r>
              <a:rPr lang="en-US" i="1" smtClean="0">
                <a:effectLst>
                  <a:outerShdw blurRad="38100" dist="38100" dir="2700000" algn="tl">
                    <a:srgbClr val="C0C0C0"/>
                  </a:outerShdw>
                </a:effectLst>
              </a:rPr>
              <a:t>Modus Tollens</a:t>
            </a:r>
            <a:r>
              <a:rPr lang="en-US" smtClean="0">
                <a:effectLst>
                  <a:outerShdw blurRad="38100" dist="38100" dir="2700000" algn="tl">
                    <a:srgbClr val="C0C0C0"/>
                  </a:outerShdw>
                </a:effectLst>
              </a:rPr>
              <a:t>. </a:t>
            </a:r>
          </a:p>
          <a:p>
            <a:pPr algn="just" eaLnBrk="1" hangingPunct="1">
              <a:buClr>
                <a:srgbClr val="CC3300"/>
              </a:buClr>
              <a:buSzPct val="70000"/>
              <a:buFontTx/>
              <a:buChar char="o"/>
              <a:defRPr/>
            </a:pPr>
            <a:r>
              <a:rPr lang="en-US" smtClean="0">
                <a:effectLst>
                  <a:outerShdw blurRad="38100" dist="38100" dir="2700000" algn="tl">
                    <a:srgbClr val="C0C0C0"/>
                  </a:outerShdw>
                </a:effectLst>
              </a:rPr>
              <a:t>From ~ A and the first premises, A v (B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D), we validly infer B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D by a Disjunctive Syllogism. </a:t>
            </a:r>
          </a:p>
        </p:txBody>
      </p:sp>
      <p:sp>
        <p:nvSpPr>
          <p:cNvPr id="178180" name="Rectangle 4"/>
          <p:cNvSpPr>
            <a:spLocks noChangeArrowheads="1"/>
          </p:cNvSpPr>
          <p:nvPr/>
        </p:nvSpPr>
        <p:spPr bwMode="auto">
          <a:xfrm>
            <a:off x="76200" y="152400"/>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p:cNvSpPr>
            <a:spLocks noGrp="1" noChangeArrowheads="1"/>
          </p:cNvSpPr>
          <p:nvPr>
            <p:ph type="body" idx="1"/>
          </p:nvPr>
        </p:nvSpPr>
        <p:spPr bwMode="auto">
          <a:xfrm>
            <a:off x="228600" y="1447800"/>
            <a:ext cx="67818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Clr>
                <a:srgbClr val="CC3300"/>
              </a:buClr>
              <a:buSzPct val="60000"/>
              <a:buFontTx/>
              <a:buChar char="o"/>
              <a:defRPr/>
            </a:pPr>
            <a:r>
              <a:rPr lang="en-US" sz="3300" smtClean="0">
                <a:effectLst>
                  <a:outerShdw blurRad="38100" dist="38100" dir="2700000" algn="tl">
                    <a:srgbClr val="C0C0C0"/>
                  </a:outerShdw>
                </a:effectLst>
              </a:rPr>
              <a:t>From the second and fourth premises, 	    ~ C </a:t>
            </a:r>
            <a:r>
              <a:rPr lang="en-US" sz="3300" smtClean="0">
                <a:effectLst>
                  <a:outerShdw blurRad="38100" dist="38100" dir="2700000" algn="tl">
                    <a:srgbClr val="C0C0C0"/>
                  </a:outerShdw>
                </a:effectLst>
                <a:sym typeface="Symbol" panose="05050102010706020507" pitchFamily="18" charset="2"/>
              </a:rPr>
              <a:t></a:t>
            </a:r>
            <a:r>
              <a:rPr lang="en-US" sz="3300" smtClean="0">
                <a:effectLst>
                  <a:outerShdw blurRad="38100" dist="38100" dir="2700000" algn="tl">
                    <a:srgbClr val="C0C0C0"/>
                  </a:outerShdw>
                </a:effectLst>
              </a:rPr>
              <a:t> (D </a:t>
            </a:r>
            <a:r>
              <a:rPr lang="en-US" sz="3300" smtClean="0">
                <a:effectLst>
                  <a:outerShdw blurRad="38100" dist="38100" dir="2700000" algn="tl">
                    <a:srgbClr val="C0C0C0"/>
                  </a:outerShdw>
                </a:effectLst>
                <a:sym typeface="Symbol" panose="05050102010706020507" pitchFamily="18" charset="2"/>
              </a:rPr>
              <a:t></a:t>
            </a:r>
            <a:r>
              <a:rPr lang="en-US" sz="3300" smtClean="0">
                <a:effectLst>
                  <a:outerShdw blurRad="38100" dist="38100" dir="2700000" algn="tl">
                    <a:srgbClr val="C0C0C0"/>
                  </a:outerShdw>
                </a:effectLst>
              </a:rPr>
              <a:t> E) and ~ C, we validly infer  D </a:t>
            </a:r>
            <a:r>
              <a:rPr lang="en-US" sz="3300" smtClean="0">
                <a:effectLst>
                  <a:outerShdw blurRad="38100" dist="38100" dir="2700000" algn="tl">
                    <a:srgbClr val="C0C0C0"/>
                  </a:outerShdw>
                </a:effectLst>
                <a:sym typeface="Symbol" panose="05050102010706020507" pitchFamily="18" charset="2"/>
              </a:rPr>
              <a:t></a:t>
            </a:r>
            <a:r>
              <a:rPr lang="en-US" sz="3300" smtClean="0">
                <a:effectLst>
                  <a:outerShdw blurRad="38100" dist="38100" dir="2700000" algn="tl">
                    <a:srgbClr val="C0C0C0"/>
                  </a:outerShdw>
                </a:effectLst>
              </a:rPr>
              <a:t> E by </a:t>
            </a:r>
            <a:r>
              <a:rPr lang="en-US" sz="3300" i="1" smtClean="0">
                <a:effectLst>
                  <a:outerShdw blurRad="38100" dist="38100" dir="2700000" algn="tl">
                    <a:srgbClr val="C0C0C0"/>
                  </a:outerShdw>
                </a:effectLst>
              </a:rPr>
              <a:t>Modus Ponens</a:t>
            </a:r>
            <a:r>
              <a:rPr lang="en-US" sz="3300" smtClean="0">
                <a:effectLst>
                  <a:outerShdw blurRad="38100" dist="38100" dir="2700000" algn="tl">
                    <a:srgbClr val="C0C0C0"/>
                  </a:outerShdw>
                </a:effectLst>
              </a:rPr>
              <a:t>. </a:t>
            </a:r>
          </a:p>
          <a:p>
            <a:pPr algn="just" eaLnBrk="1" hangingPunct="1">
              <a:lnSpc>
                <a:spcPct val="90000"/>
              </a:lnSpc>
              <a:buClr>
                <a:srgbClr val="CC3300"/>
              </a:buClr>
              <a:buSzPct val="60000"/>
              <a:buFontTx/>
              <a:buChar char="o"/>
              <a:defRPr/>
            </a:pPr>
            <a:r>
              <a:rPr lang="en-US" sz="3300" smtClean="0">
                <a:effectLst>
                  <a:outerShdw blurRad="38100" dist="38100" dir="2700000" algn="tl">
                    <a:srgbClr val="C0C0C0"/>
                  </a:outerShdw>
                </a:effectLst>
              </a:rPr>
              <a:t>And finally, from these last two conclusions (or subconclusions), B </a:t>
            </a:r>
            <a:r>
              <a:rPr lang="en-US" sz="3300" smtClean="0">
                <a:effectLst>
                  <a:outerShdw blurRad="38100" dist="38100" dir="2700000" algn="tl">
                    <a:srgbClr val="C0C0C0"/>
                  </a:outerShdw>
                </a:effectLst>
                <a:sym typeface="Symbol" panose="05050102010706020507" pitchFamily="18" charset="2"/>
              </a:rPr>
              <a:t></a:t>
            </a:r>
            <a:r>
              <a:rPr lang="en-US" sz="3300" smtClean="0">
                <a:effectLst>
                  <a:outerShdw blurRad="38100" dist="38100" dir="2700000" algn="tl">
                    <a:srgbClr val="C0C0C0"/>
                  </a:outerShdw>
                </a:effectLst>
              </a:rPr>
              <a:t> D and D </a:t>
            </a:r>
            <a:r>
              <a:rPr lang="en-US" sz="3300" smtClean="0">
                <a:effectLst>
                  <a:outerShdw blurRad="38100" dist="38100" dir="2700000" algn="tl">
                    <a:srgbClr val="C0C0C0"/>
                  </a:outerShdw>
                </a:effectLst>
                <a:sym typeface="Symbol" panose="05050102010706020507" pitchFamily="18" charset="2"/>
              </a:rPr>
              <a:t></a:t>
            </a:r>
            <a:r>
              <a:rPr lang="en-US" sz="3300" smtClean="0">
                <a:effectLst>
                  <a:outerShdw blurRad="38100" dist="38100" dir="2700000" algn="tl">
                    <a:srgbClr val="C0C0C0"/>
                  </a:outerShdw>
                </a:effectLst>
              </a:rPr>
              <a:t> E, we validly infer B </a:t>
            </a:r>
            <a:r>
              <a:rPr lang="en-US" sz="3300" smtClean="0">
                <a:effectLst>
                  <a:outerShdw blurRad="38100" dist="38100" dir="2700000" algn="tl">
                    <a:srgbClr val="C0C0C0"/>
                  </a:outerShdw>
                </a:effectLst>
                <a:sym typeface="Symbol" panose="05050102010706020507" pitchFamily="18" charset="2"/>
              </a:rPr>
              <a:t></a:t>
            </a:r>
            <a:r>
              <a:rPr lang="en-US" sz="3300" smtClean="0">
                <a:effectLst>
                  <a:outerShdw blurRad="38100" dist="38100" dir="2700000" algn="tl">
                    <a:srgbClr val="C0C0C0"/>
                  </a:outerShdw>
                </a:effectLst>
              </a:rPr>
              <a:t> E by a Hypothetical Syllogism. </a:t>
            </a:r>
          </a:p>
        </p:txBody>
      </p:sp>
      <p:sp>
        <p:nvSpPr>
          <p:cNvPr id="179204" name="Rectangle 4"/>
          <p:cNvSpPr>
            <a:spLocks noChangeArrowheads="1"/>
          </p:cNvSpPr>
          <p:nvPr/>
        </p:nvSpPr>
        <p:spPr bwMode="auto">
          <a:xfrm>
            <a:off x="76200" y="152400"/>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3"/>
          <p:cNvSpPr>
            <a:spLocks noGrp="1" noChangeArrowheads="1"/>
          </p:cNvSpPr>
          <p:nvPr>
            <p:ph type="body" idx="1"/>
          </p:nvPr>
        </p:nvSpPr>
        <p:spPr bwMode="auto">
          <a:xfrm>
            <a:off x="228600" y="1417638"/>
            <a:ext cx="6858000" cy="452596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buClr>
                <a:srgbClr val="CC3300"/>
              </a:buClr>
              <a:buSzPct val="60000"/>
              <a:buFontTx/>
              <a:buChar char="o"/>
              <a:defRPr/>
            </a:pPr>
            <a:r>
              <a:rPr lang="en-US" sz="2900" smtClean="0">
                <a:effectLst>
                  <a:outerShdw blurRad="38100" dist="38100" dir="2700000" algn="tl">
                    <a:srgbClr val="C0C0C0"/>
                  </a:outerShdw>
                </a:effectLst>
              </a:rPr>
              <a:t>That its conclusion can be deduced from its premises using valid arguments exclusively, </a:t>
            </a:r>
            <a:r>
              <a:rPr lang="en-US" sz="2900" i="1" smtClean="0">
                <a:effectLst>
                  <a:outerShdw blurRad="38100" dist="38100" dir="2700000" algn="tl">
                    <a:srgbClr val="C0C0C0"/>
                  </a:outerShdw>
                </a:effectLst>
              </a:rPr>
              <a:t>proves</a:t>
            </a:r>
            <a:r>
              <a:rPr lang="en-US" sz="2900" smtClean="0">
                <a:effectLst>
                  <a:outerShdw blurRad="38100" dist="38100" dir="2700000" algn="tl">
                    <a:srgbClr val="C0C0C0"/>
                  </a:outerShdw>
                </a:effectLst>
              </a:rPr>
              <a:t> the original argument to be valid. </a:t>
            </a:r>
          </a:p>
          <a:p>
            <a:pPr algn="just" eaLnBrk="1" hangingPunct="1">
              <a:lnSpc>
                <a:spcPct val="80000"/>
              </a:lnSpc>
              <a:buClr>
                <a:srgbClr val="CC3300"/>
              </a:buClr>
              <a:buSzPct val="60000"/>
              <a:buFontTx/>
              <a:buChar char="o"/>
              <a:defRPr/>
            </a:pPr>
            <a:r>
              <a:rPr lang="en-US" sz="2900" smtClean="0">
                <a:effectLst>
                  <a:outerShdw blurRad="38100" dist="38100" dir="2700000" algn="tl">
                    <a:srgbClr val="C0C0C0"/>
                  </a:outerShdw>
                </a:effectLst>
              </a:rPr>
              <a:t>Here the elementary valid argument forms </a:t>
            </a:r>
            <a:r>
              <a:rPr lang="en-US" sz="2900" i="1" smtClean="0">
                <a:effectLst>
                  <a:outerShdw blurRad="38100" dist="38100" dir="2700000" algn="tl">
                    <a:srgbClr val="C0C0C0"/>
                  </a:outerShdw>
                </a:effectLst>
              </a:rPr>
              <a:t>Modus Ponens</a:t>
            </a:r>
            <a:r>
              <a:rPr lang="en-US" sz="2900" smtClean="0">
                <a:effectLst>
                  <a:outerShdw blurRad="38100" dist="38100" dir="2700000" algn="tl">
                    <a:srgbClr val="C0C0C0"/>
                  </a:outerShdw>
                </a:effectLst>
              </a:rPr>
              <a:t> (M.P.), </a:t>
            </a:r>
            <a:r>
              <a:rPr lang="en-US" sz="2900" i="1" smtClean="0">
                <a:effectLst>
                  <a:outerShdw blurRad="38100" dist="38100" dir="2700000" algn="tl">
                    <a:srgbClr val="C0C0C0"/>
                  </a:outerShdw>
                </a:effectLst>
              </a:rPr>
              <a:t>Modus Tollens</a:t>
            </a:r>
            <a:r>
              <a:rPr lang="en-US" sz="2900" smtClean="0">
                <a:effectLst>
                  <a:outerShdw blurRad="38100" dist="38100" dir="2700000" algn="tl">
                    <a:srgbClr val="C0C0C0"/>
                  </a:outerShdw>
                </a:effectLst>
              </a:rPr>
              <a:t> (M.T.), Disjunctive Syllogism (D.S.), and Hypothetical Syllogism (H.S.) are used as </a:t>
            </a:r>
            <a:r>
              <a:rPr lang="en-US" sz="2900" i="1" smtClean="0">
                <a:effectLst>
                  <a:outerShdw blurRad="38100" dist="38100" dir="2700000" algn="tl">
                    <a:srgbClr val="C0C0C0"/>
                  </a:outerShdw>
                </a:effectLst>
              </a:rPr>
              <a:t>Rules of Inference</a:t>
            </a:r>
            <a:r>
              <a:rPr lang="en-US" sz="2900" smtClean="0">
                <a:effectLst>
                  <a:outerShdw blurRad="38100" dist="38100" dir="2700000" algn="tl">
                    <a:srgbClr val="C0C0C0"/>
                  </a:outerShdw>
                </a:effectLst>
              </a:rPr>
              <a:t> by which conclusions are validly deduced from premises.</a:t>
            </a:r>
          </a:p>
        </p:txBody>
      </p:sp>
      <p:sp>
        <p:nvSpPr>
          <p:cNvPr id="180228" name="Rectangle 4"/>
          <p:cNvSpPr>
            <a:spLocks noChangeArrowheads="1"/>
          </p:cNvSpPr>
          <p:nvPr/>
        </p:nvSpPr>
        <p:spPr bwMode="auto">
          <a:xfrm>
            <a:off x="76200" y="152400"/>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body" idx="1"/>
          </p:nvPr>
        </p:nvSpPr>
        <p:spPr bwMode="auto">
          <a:xfrm>
            <a:off x="76200" y="685800"/>
            <a:ext cx="7010400" cy="5715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buClr>
                <a:srgbClr val="CC3300"/>
              </a:buClr>
              <a:buSzPct val="60000"/>
              <a:buFontTx/>
              <a:buChar char="o"/>
              <a:defRPr/>
            </a:pPr>
            <a:r>
              <a:rPr lang="en-US" sz="2900" smtClean="0">
                <a:effectLst>
                  <a:outerShdw blurRad="38100" dist="38100" dir="2700000" algn="tl">
                    <a:srgbClr val="C0C0C0"/>
                  </a:outerShdw>
                </a:effectLst>
              </a:rPr>
              <a:t>A more formal and more concise way of writing out this proof of validity is to list the premises and the statements deduced from them in one column, with “justifications” for the latter written beside them. In each case the “justifications” for a statement specifies the preceding statements from which, and the Rule of Inference by which, the statements in question was deduced. It is convenient to put the conclusion to the right of the last premise, separated from it by a slanting line which automatically marks all of the statements above it to be premises.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p:cNvSpPr>
            <a:spLocks noGrp="1" noChangeArrowheads="1"/>
          </p:cNvSpPr>
          <p:nvPr>
            <p:ph type="body" idx="1"/>
          </p:nvPr>
        </p:nvSpPr>
        <p:spPr bwMode="auto">
          <a:xfrm>
            <a:off x="152400" y="1295400"/>
            <a:ext cx="7620000" cy="990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sz="2900" smtClean="0">
                <a:effectLst>
                  <a:outerShdw blurRad="38100" dist="38100" dir="2700000" algn="tl">
                    <a:srgbClr val="C0C0C0"/>
                  </a:outerShdw>
                </a:effectLst>
              </a:rPr>
              <a:t>	The formal proof of validity for the given argument  can be written as follows:</a:t>
            </a:r>
          </a:p>
          <a:p>
            <a:pPr eaLnBrk="1" hangingPunct="1">
              <a:buFontTx/>
              <a:buNone/>
              <a:defRPr/>
            </a:pPr>
            <a:r>
              <a:rPr lang="en-US" smtClean="0">
                <a:effectLst>
                  <a:outerShdw blurRad="38100" dist="38100" dir="2700000" algn="tl">
                    <a:srgbClr val="C0C0C0"/>
                  </a:outerShdw>
                </a:effectLst>
              </a:rPr>
              <a:t>	</a:t>
            </a:r>
          </a:p>
        </p:txBody>
      </p:sp>
      <p:sp>
        <p:nvSpPr>
          <p:cNvPr id="182276" name="Rectangle 4"/>
          <p:cNvSpPr>
            <a:spLocks noChangeArrowheads="1"/>
          </p:cNvSpPr>
          <p:nvPr/>
        </p:nvSpPr>
        <p:spPr bwMode="auto">
          <a:xfrm>
            <a:off x="1066800" y="2514600"/>
            <a:ext cx="3887788"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685800" algn="l"/>
              </a:tabLst>
              <a:defRPr>
                <a:solidFill>
                  <a:schemeClr val="tx1"/>
                </a:solidFill>
                <a:latin typeface="Arial" panose="020B0604020202020204" pitchFamily="34" charset="0"/>
              </a:defRPr>
            </a:lvl1pPr>
            <a:lvl2pPr>
              <a:tabLst>
                <a:tab pos="685800" algn="l"/>
              </a:tabLst>
              <a:defRPr>
                <a:solidFill>
                  <a:schemeClr val="tx1"/>
                </a:solidFill>
                <a:latin typeface="Arial" panose="020B0604020202020204" pitchFamily="34" charset="0"/>
              </a:defRPr>
            </a:lvl2pPr>
            <a:lvl3pPr>
              <a:tabLst>
                <a:tab pos="685800" algn="l"/>
              </a:tabLst>
              <a:defRPr>
                <a:solidFill>
                  <a:schemeClr val="tx1"/>
                </a:solidFill>
                <a:latin typeface="Arial" panose="020B0604020202020204" pitchFamily="34" charset="0"/>
              </a:defRPr>
            </a:lvl3pPr>
            <a:lvl4pPr>
              <a:tabLst>
                <a:tab pos="685800" algn="l"/>
              </a:tabLst>
              <a:defRPr>
                <a:solidFill>
                  <a:schemeClr val="tx1"/>
                </a:solidFill>
                <a:latin typeface="Arial" panose="020B0604020202020204" pitchFamily="34" charset="0"/>
              </a:defRPr>
            </a:lvl4pPr>
            <a:lvl5pPr>
              <a:tabLst>
                <a:tab pos="685800" algn="l"/>
              </a:tabLst>
              <a:defRPr>
                <a:solidFill>
                  <a:schemeClr val="tx1"/>
                </a:solidFill>
                <a:latin typeface="Arial" panose="020B0604020202020204" pitchFamily="34" charset="0"/>
              </a:defRPr>
            </a:lvl5pPr>
            <a:lvl6pPr fontAlgn="base">
              <a:spcBef>
                <a:spcPct val="0"/>
              </a:spcBef>
              <a:spcAft>
                <a:spcPct val="0"/>
              </a:spcAft>
              <a:tabLst>
                <a:tab pos="685800" algn="l"/>
              </a:tabLst>
              <a:defRPr>
                <a:solidFill>
                  <a:schemeClr val="tx1"/>
                </a:solidFill>
                <a:latin typeface="Arial" panose="020B0604020202020204" pitchFamily="34" charset="0"/>
              </a:defRPr>
            </a:lvl6pPr>
            <a:lvl7pPr fontAlgn="base">
              <a:spcBef>
                <a:spcPct val="0"/>
              </a:spcBef>
              <a:spcAft>
                <a:spcPct val="0"/>
              </a:spcAft>
              <a:tabLst>
                <a:tab pos="685800" algn="l"/>
              </a:tabLst>
              <a:defRPr>
                <a:solidFill>
                  <a:schemeClr val="tx1"/>
                </a:solidFill>
                <a:latin typeface="Arial" panose="020B0604020202020204" pitchFamily="34" charset="0"/>
              </a:defRPr>
            </a:lvl7pPr>
            <a:lvl8pPr fontAlgn="base">
              <a:spcBef>
                <a:spcPct val="0"/>
              </a:spcBef>
              <a:spcAft>
                <a:spcPct val="0"/>
              </a:spcAft>
              <a:tabLst>
                <a:tab pos="685800" algn="l"/>
              </a:tabLst>
              <a:defRPr>
                <a:solidFill>
                  <a:schemeClr val="tx1"/>
                </a:solidFill>
                <a:latin typeface="Arial" panose="020B0604020202020204" pitchFamily="34" charset="0"/>
              </a:defRPr>
            </a:lvl8pPr>
            <a:lvl9pPr fontAlgn="base">
              <a:spcBef>
                <a:spcPct val="0"/>
              </a:spcBef>
              <a:spcAft>
                <a:spcPct val="0"/>
              </a:spcAft>
              <a:tabLst>
                <a:tab pos="685800" algn="l"/>
              </a:tabLst>
              <a:defRPr>
                <a:solidFill>
                  <a:schemeClr val="tx1"/>
                </a:solidFill>
                <a:latin typeface="Arial" panose="020B0604020202020204" pitchFamily="34" charset="0"/>
              </a:defRPr>
            </a:lvl9pPr>
          </a:lstStyle>
          <a:p>
            <a:pPr>
              <a:defRPr/>
            </a:pPr>
            <a:r>
              <a:rPr lang="en-US" sz="2800" smtClean="0">
                <a:effectLst>
                  <a:outerShdw blurRad="38100" dist="38100" dir="2700000" algn="tl">
                    <a:srgbClr val="C0C0C0"/>
                  </a:outerShdw>
                </a:effectLst>
                <a:cs typeface="+mn-cs"/>
              </a:rPr>
              <a:t>1.A v (B </a:t>
            </a:r>
            <a:r>
              <a:rPr lang="en-US" sz="2800" smtClean="0">
                <a:effectLst>
                  <a:outerShdw blurRad="38100" dist="38100" dir="2700000" algn="tl">
                    <a:srgbClr val="C0C0C0"/>
                  </a:outerShdw>
                </a:effectLst>
                <a:cs typeface="+mn-cs"/>
                <a:sym typeface="Symbol" panose="05050102010706020507" pitchFamily="18" charset="2"/>
              </a:rPr>
              <a:t></a:t>
            </a:r>
            <a:r>
              <a:rPr lang="en-US" sz="2800" smtClean="0">
                <a:effectLst>
                  <a:outerShdw blurRad="38100" dist="38100" dir="2700000" algn="tl">
                    <a:srgbClr val="C0C0C0"/>
                  </a:outerShdw>
                </a:effectLst>
                <a:cs typeface="+mn-cs"/>
              </a:rPr>
              <a:t> D)</a:t>
            </a:r>
            <a:endParaRPr lang="en-US" sz="2800" smtClean="0">
              <a:effectLst>
                <a:outerShdw blurRad="38100" dist="38100" dir="2700000" algn="tl">
                  <a:srgbClr val="C0C0C0"/>
                </a:outerShdw>
              </a:effectLst>
              <a:cs typeface="+mn-cs"/>
              <a:sym typeface="Symbol" panose="05050102010706020507" pitchFamily="18" charset="2"/>
            </a:endParaRPr>
          </a:p>
          <a:p>
            <a:pPr>
              <a:defRPr/>
            </a:pPr>
            <a:r>
              <a:rPr lang="en-US" sz="2800" smtClean="0">
                <a:effectLst>
                  <a:outerShdw blurRad="38100" dist="38100" dir="2700000" algn="tl">
                    <a:srgbClr val="C0C0C0"/>
                  </a:outerShdw>
                </a:effectLst>
                <a:cs typeface="+mn-cs"/>
                <a:sym typeface="Symbol" panose="05050102010706020507" pitchFamily="18" charset="2"/>
              </a:rPr>
              <a:t>2. ~ C </a:t>
            </a:r>
            <a:r>
              <a:rPr lang="en-US" sz="2800" smtClean="0">
                <a:effectLst>
                  <a:outerShdw blurRad="38100" dist="38100" dir="2700000" algn="tl">
                    <a:srgbClr val="C0C0C0"/>
                  </a:outerShdw>
                </a:effectLst>
                <a:cs typeface="+mn-cs"/>
              </a:rPr>
              <a:t> (D </a:t>
            </a:r>
            <a:r>
              <a:rPr lang="en-US" sz="2800" smtClean="0">
                <a:effectLst>
                  <a:outerShdw blurRad="38100" dist="38100" dir="2700000" algn="tl">
                    <a:srgbClr val="C0C0C0"/>
                  </a:outerShdw>
                </a:effectLst>
                <a:cs typeface="+mn-cs"/>
                <a:sym typeface="Symbol" panose="05050102010706020507" pitchFamily="18" charset="2"/>
              </a:rPr>
              <a:t></a:t>
            </a:r>
            <a:r>
              <a:rPr lang="en-US" sz="2800" smtClean="0">
                <a:effectLst>
                  <a:outerShdw blurRad="38100" dist="38100" dir="2700000" algn="tl">
                    <a:srgbClr val="C0C0C0"/>
                  </a:outerShdw>
                </a:effectLst>
                <a:cs typeface="+mn-cs"/>
              </a:rPr>
              <a:t> E)</a:t>
            </a:r>
            <a:endParaRPr lang="en-US" sz="2800" smtClean="0">
              <a:effectLst>
                <a:outerShdw blurRad="38100" dist="38100" dir="2700000" algn="tl">
                  <a:srgbClr val="C0C0C0"/>
                </a:outerShdw>
              </a:effectLst>
              <a:cs typeface="+mn-cs"/>
              <a:sym typeface="Symbol" panose="05050102010706020507" pitchFamily="18" charset="2"/>
            </a:endParaRPr>
          </a:p>
          <a:p>
            <a:pPr>
              <a:defRPr/>
            </a:pPr>
            <a:r>
              <a:rPr lang="en-US" sz="2800" smtClean="0">
                <a:effectLst>
                  <a:outerShdw blurRad="38100" dist="38100" dir="2700000" algn="tl">
                    <a:srgbClr val="C0C0C0"/>
                  </a:outerShdw>
                </a:effectLst>
                <a:cs typeface="+mn-cs"/>
                <a:sym typeface="Symbol" panose="05050102010706020507" pitchFamily="18" charset="2"/>
              </a:rPr>
              <a:t>3. A </a:t>
            </a:r>
            <a:r>
              <a:rPr lang="en-US" sz="2800" smtClean="0">
                <a:effectLst>
                  <a:outerShdw blurRad="38100" dist="38100" dir="2700000" algn="tl">
                    <a:srgbClr val="C0C0C0"/>
                  </a:outerShdw>
                </a:effectLst>
                <a:cs typeface="+mn-cs"/>
              </a:rPr>
              <a:t> C </a:t>
            </a:r>
            <a:endParaRPr lang="en-US" sz="2800" smtClean="0">
              <a:effectLst>
                <a:outerShdw blurRad="38100" dist="38100" dir="2700000" algn="tl">
                  <a:srgbClr val="C0C0C0"/>
                </a:outerShdw>
              </a:effectLst>
              <a:cs typeface="+mn-cs"/>
              <a:sym typeface="Symbol" panose="05050102010706020507" pitchFamily="18" charset="2"/>
            </a:endParaRPr>
          </a:p>
          <a:p>
            <a:pPr>
              <a:defRPr/>
            </a:pPr>
            <a:r>
              <a:rPr lang="en-US" sz="2800" smtClean="0">
                <a:effectLst>
                  <a:outerShdw blurRad="38100" dist="38100" dir="2700000" algn="tl">
                    <a:srgbClr val="C0C0C0"/>
                  </a:outerShdw>
                </a:effectLst>
                <a:cs typeface="+mn-cs"/>
                <a:sym typeface="Symbol" panose="05050102010706020507" pitchFamily="18" charset="2"/>
              </a:rPr>
              <a:t>4. ~ C	   /</a:t>
            </a:r>
            <a:r>
              <a:rPr lang="en-US" sz="2800" smtClean="0">
                <a:effectLst>
                  <a:outerShdw blurRad="38100" dist="38100" dir="2700000" algn="tl">
                    <a:srgbClr val="C0C0C0"/>
                  </a:outerShdw>
                </a:effectLst>
                <a:cs typeface="+mn-cs"/>
              </a:rPr>
              <a:t>B </a:t>
            </a:r>
            <a:r>
              <a:rPr lang="en-US" sz="2800" smtClean="0">
                <a:effectLst>
                  <a:outerShdw blurRad="38100" dist="38100" dir="2700000" algn="tl">
                    <a:srgbClr val="C0C0C0"/>
                  </a:outerShdw>
                </a:effectLst>
                <a:cs typeface="+mn-cs"/>
                <a:sym typeface="Symbol" panose="05050102010706020507" pitchFamily="18" charset="2"/>
              </a:rPr>
              <a:t></a:t>
            </a:r>
            <a:r>
              <a:rPr lang="en-US" sz="2800" smtClean="0">
                <a:effectLst>
                  <a:outerShdw blurRad="38100" dist="38100" dir="2700000" algn="tl">
                    <a:srgbClr val="C0C0C0"/>
                  </a:outerShdw>
                </a:effectLst>
                <a:cs typeface="+mn-cs"/>
              </a:rPr>
              <a:t> E</a:t>
            </a:r>
            <a:endParaRPr lang="en-US" sz="2800" smtClean="0">
              <a:effectLst>
                <a:outerShdw blurRad="38100" dist="38100" dir="2700000" algn="tl">
                  <a:srgbClr val="C0C0C0"/>
                </a:outerShdw>
              </a:effectLst>
              <a:cs typeface="+mn-cs"/>
              <a:sym typeface="Symbol" panose="05050102010706020507" pitchFamily="18" charset="2"/>
            </a:endParaRPr>
          </a:p>
          <a:p>
            <a:pPr>
              <a:defRPr/>
            </a:pPr>
            <a:r>
              <a:rPr lang="en-US" sz="2800" smtClean="0">
                <a:effectLst>
                  <a:outerShdw blurRad="38100" dist="38100" dir="2700000" algn="tl">
                    <a:srgbClr val="C0C0C0"/>
                  </a:outerShdw>
                </a:effectLst>
                <a:cs typeface="+mn-cs"/>
                <a:sym typeface="Symbol" panose="05050102010706020507" pitchFamily="18" charset="2"/>
              </a:rPr>
              <a:t>5. ~ A	   3, 4, M.T.</a:t>
            </a:r>
          </a:p>
          <a:p>
            <a:pPr>
              <a:defRPr/>
            </a:pPr>
            <a:r>
              <a:rPr lang="en-US" sz="2800" smtClean="0">
                <a:effectLst>
                  <a:outerShdw blurRad="38100" dist="38100" dir="2700000" algn="tl">
                    <a:srgbClr val="C0C0C0"/>
                  </a:outerShdw>
                </a:effectLst>
                <a:cs typeface="+mn-cs"/>
                <a:sym typeface="Symbol" panose="05050102010706020507" pitchFamily="18" charset="2"/>
              </a:rPr>
              <a:t>6. B </a:t>
            </a:r>
            <a:r>
              <a:rPr lang="en-US" sz="2800" smtClean="0">
                <a:effectLst>
                  <a:outerShdw blurRad="38100" dist="38100" dir="2700000" algn="tl">
                    <a:srgbClr val="C0C0C0"/>
                  </a:outerShdw>
                </a:effectLst>
                <a:cs typeface="+mn-cs"/>
              </a:rPr>
              <a:t> D</a:t>
            </a:r>
            <a:r>
              <a:rPr lang="en-US" sz="2800" smtClean="0">
                <a:effectLst>
                  <a:outerShdw blurRad="38100" dist="38100" dir="2700000" algn="tl">
                    <a:srgbClr val="C0C0C0"/>
                  </a:outerShdw>
                </a:effectLst>
                <a:cs typeface="+mn-cs"/>
                <a:sym typeface="Symbol" panose="05050102010706020507" pitchFamily="18" charset="2"/>
              </a:rPr>
              <a:t>	   1, 5, D.S.</a:t>
            </a:r>
          </a:p>
          <a:p>
            <a:pPr>
              <a:defRPr/>
            </a:pPr>
            <a:r>
              <a:rPr lang="en-US" sz="2800" smtClean="0">
                <a:effectLst>
                  <a:outerShdw blurRad="38100" dist="38100" dir="2700000" algn="tl">
                    <a:srgbClr val="C0C0C0"/>
                  </a:outerShdw>
                </a:effectLst>
                <a:cs typeface="+mn-cs"/>
                <a:sym typeface="Symbol" panose="05050102010706020507" pitchFamily="18" charset="2"/>
              </a:rPr>
              <a:t>7. D </a:t>
            </a:r>
            <a:r>
              <a:rPr lang="en-US" sz="2800" smtClean="0">
                <a:effectLst>
                  <a:outerShdw blurRad="38100" dist="38100" dir="2700000" algn="tl">
                    <a:srgbClr val="C0C0C0"/>
                  </a:outerShdw>
                </a:effectLst>
                <a:cs typeface="+mn-cs"/>
              </a:rPr>
              <a:t> E</a:t>
            </a:r>
            <a:r>
              <a:rPr lang="en-US" sz="2800" smtClean="0">
                <a:effectLst>
                  <a:outerShdw blurRad="38100" dist="38100" dir="2700000" algn="tl">
                    <a:srgbClr val="C0C0C0"/>
                  </a:outerShdw>
                </a:effectLst>
                <a:cs typeface="+mn-cs"/>
                <a:sym typeface="Symbol" panose="05050102010706020507" pitchFamily="18" charset="2"/>
              </a:rPr>
              <a:t>	   2, 4, M.P.	</a:t>
            </a:r>
          </a:p>
          <a:p>
            <a:pPr>
              <a:defRPr/>
            </a:pPr>
            <a:r>
              <a:rPr lang="en-US" sz="2800" smtClean="0">
                <a:effectLst>
                  <a:outerShdw blurRad="38100" dist="38100" dir="2700000" algn="tl">
                    <a:srgbClr val="C0C0C0"/>
                  </a:outerShdw>
                </a:effectLst>
                <a:cs typeface="+mn-cs"/>
                <a:sym typeface="Symbol" panose="05050102010706020507" pitchFamily="18" charset="2"/>
              </a:rPr>
              <a:t>8.  B </a:t>
            </a:r>
            <a:r>
              <a:rPr lang="en-US" sz="2800" smtClean="0">
                <a:effectLst>
                  <a:outerShdw blurRad="38100" dist="38100" dir="2700000" algn="tl">
                    <a:srgbClr val="C0C0C0"/>
                  </a:outerShdw>
                </a:effectLst>
                <a:cs typeface="+mn-cs"/>
              </a:rPr>
              <a:t> E</a:t>
            </a:r>
            <a:r>
              <a:rPr lang="en-US" sz="2800" smtClean="0">
                <a:effectLst>
                  <a:outerShdw blurRad="38100" dist="38100" dir="2700000" algn="tl">
                    <a:srgbClr val="C0C0C0"/>
                  </a:outerShdw>
                </a:effectLst>
                <a:cs typeface="+mn-cs"/>
                <a:sym typeface="Symbol" panose="05050102010706020507" pitchFamily="18" charset="2"/>
              </a:rPr>
              <a:t>	   6, 7, H.S. </a:t>
            </a:r>
          </a:p>
        </p:txBody>
      </p:sp>
      <p:sp>
        <p:nvSpPr>
          <p:cNvPr id="182277" name="Rectangle 5"/>
          <p:cNvSpPr>
            <a:spLocks noChangeArrowheads="1"/>
          </p:cNvSpPr>
          <p:nvPr/>
        </p:nvSpPr>
        <p:spPr bwMode="auto">
          <a:xfrm>
            <a:off x="76200" y="152400"/>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9" name="Rectangle 3"/>
          <p:cNvSpPr>
            <a:spLocks noGrp="1" noChangeArrowheads="1"/>
          </p:cNvSpPr>
          <p:nvPr>
            <p:ph type="body" idx="1"/>
          </p:nvPr>
        </p:nvSpPr>
        <p:spPr bwMode="auto">
          <a:xfrm>
            <a:off x="381000" y="1447800"/>
            <a:ext cx="6400800" cy="2743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mtClean="0">
                <a:effectLst>
                  <a:outerShdw blurRad="38100" dist="38100" dir="2700000" algn="tl">
                    <a:srgbClr val="C0C0C0"/>
                  </a:outerShdw>
                </a:effectLst>
              </a:rPr>
              <a:t>	One matter that needs to be emphasized here is that any substitution instance of an elementary valid argument  form is an elementary valid argument. Thus the argument</a:t>
            </a:r>
          </a:p>
          <a:p>
            <a:pPr eaLnBrk="1" hangingPunct="1">
              <a:lnSpc>
                <a:spcPct val="90000"/>
              </a:lnSpc>
              <a:buFontTx/>
              <a:buNone/>
              <a:defRPr/>
            </a:pPr>
            <a:r>
              <a:rPr lang="en-US" smtClean="0">
                <a:effectLst>
                  <a:outerShdw blurRad="38100" dist="38100" dir="2700000" algn="tl">
                    <a:srgbClr val="C0C0C0"/>
                  </a:outerShdw>
                </a:effectLst>
              </a:rPr>
              <a:t>			~ C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(D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E)</a:t>
            </a:r>
          </a:p>
          <a:p>
            <a:pPr eaLnBrk="1" hangingPunct="1">
              <a:lnSpc>
                <a:spcPct val="90000"/>
              </a:lnSpc>
              <a:buFontTx/>
              <a:buNone/>
              <a:defRPr/>
            </a:pPr>
            <a:r>
              <a:rPr lang="en-US" smtClean="0">
                <a:effectLst>
                  <a:outerShdw blurRad="38100" dist="38100" dir="2700000" algn="tl">
                    <a:srgbClr val="C0C0C0"/>
                  </a:outerShdw>
                </a:effectLst>
              </a:rPr>
              <a:t>			~ C</a:t>
            </a:r>
          </a:p>
          <a:p>
            <a:pPr eaLnBrk="1" hangingPunct="1">
              <a:lnSpc>
                <a:spcPct val="90000"/>
              </a:lnSpc>
              <a:buFontTx/>
              <a:buNone/>
              <a:defRPr/>
            </a:pPr>
            <a:r>
              <a:rPr lang="en-US"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D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E</a:t>
            </a:r>
          </a:p>
        </p:txBody>
      </p:sp>
      <p:sp>
        <p:nvSpPr>
          <p:cNvPr id="183300" name="Rectangle 4"/>
          <p:cNvSpPr>
            <a:spLocks noChangeArrowheads="1"/>
          </p:cNvSpPr>
          <p:nvPr/>
        </p:nvSpPr>
        <p:spPr bwMode="auto">
          <a:xfrm>
            <a:off x="76200" y="152400"/>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Rectangle 3"/>
          <p:cNvSpPr>
            <a:spLocks noGrp="1" noChangeArrowheads="1"/>
          </p:cNvSpPr>
          <p:nvPr>
            <p:ph type="body" idx="1"/>
          </p:nvPr>
        </p:nvSpPr>
        <p:spPr bwMode="auto">
          <a:xfrm>
            <a:off x="152400" y="1447800"/>
            <a:ext cx="7086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mtClean="0">
                <a:effectLst>
                  <a:outerShdw blurRad="38100" dist="38100" dir="2700000" algn="tl">
                    <a:srgbClr val="C0C0C0"/>
                  </a:outerShdw>
                </a:effectLst>
              </a:rPr>
              <a:t>	is an elementary valid argument because it is a substitution instance of the elementary valid argument form </a:t>
            </a:r>
            <a:r>
              <a:rPr lang="en-US" i="1" smtClean="0">
                <a:effectLst>
                  <a:outerShdw blurRad="38100" dist="38100" dir="2700000" algn="tl">
                    <a:srgbClr val="C0C0C0"/>
                  </a:outerShdw>
                </a:effectLst>
              </a:rPr>
              <a:t>Modus Ponens</a:t>
            </a:r>
            <a:r>
              <a:rPr lang="en-US" smtClean="0">
                <a:effectLst>
                  <a:outerShdw blurRad="38100" dist="38100" dir="2700000" algn="tl">
                    <a:srgbClr val="C0C0C0"/>
                  </a:outerShdw>
                </a:effectLst>
              </a:rPr>
              <a:t> (M.P.). It results from</a:t>
            </a:r>
          </a:p>
          <a:p>
            <a:pPr eaLnBrk="1" hangingPunct="1">
              <a:buFontTx/>
              <a:buNone/>
              <a:defRPr/>
            </a:pPr>
            <a:r>
              <a:rPr lang="en-US" smtClean="0">
                <a:effectLst>
                  <a:outerShdw blurRad="38100" dist="38100" dir="2700000" algn="tl">
                    <a:srgbClr val="C0C0C0"/>
                  </a:outerShdw>
                </a:effectLst>
              </a:rPr>
              <a:t>			p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q</a:t>
            </a:r>
          </a:p>
          <a:p>
            <a:pPr eaLnBrk="1" hangingPunct="1">
              <a:buFontTx/>
              <a:buNone/>
              <a:defRPr/>
            </a:pPr>
            <a:r>
              <a:rPr lang="en-US" smtClean="0">
                <a:effectLst>
                  <a:outerShdw blurRad="38100" dist="38100" dir="2700000" algn="tl">
                    <a:srgbClr val="C0C0C0"/>
                  </a:outerShdw>
                </a:effectLst>
              </a:rPr>
              <a:t>			p</a:t>
            </a:r>
          </a:p>
          <a:p>
            <a:pPr eaLnBrk="1" hangingPunct="1">
              <a:buFontTx/>
              <a:buNone/>
              <a:defRPr/>
            </a:pPr>
            <a:r>
              <a:rPr lang="en-US"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q</a:t>
            </a:r>
          </a:p>
        </p:txBody>
      </p:sp>
      <p:sp>
        <p:nvSpPr>
          <p:cNvPr id="184324" name="Rectangle 4"/>
          <p:cNvSpPr>
            <a:spLocks noChangeArrowheads="1"/>
          </p:cNvSpPr>
          <p:nvPr/>
        </p:nvSpPr>
        <p:spPr bwMode="auto">
          <a:xfrm>
            <a:off x="76200" y="152400"/>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3"/>
          <p:cNvSpPr>
            <a:spLocks noGrp="1" noChangeArrowheads="1"/>
          </p:cNvSpPr>
          <p:nvPr>
            <p:ph type="body" idx="1"/>
          </p:nvPr>
        </p:nvSpPr>
        <p:spPr bwMode="auto">
          <a:xfrm>
            <a:off x="-228600" y="1905000"/>
            <a:ext cx="7391400" cy="2743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mtClean="0">
                <a:effectLst>
                  <a:outerShdw blurRad="38100" dist="38100" dir="2700000" algn="tl">
                    <a:srgbClr val="C0C0C0"/>
                  </a:outerShdw>
                </a:effectLst>
              </a:rPr>
              <a:t>	by substituting ~C for p and D </a:t>
            </a:r>
            <a:r>
              <a:rPr lang="en-US" smtClean="0">
                <a:effectLst>
                  <a:outerShdw blurRad="38100" dist="38100" dir="2700000" algn="tl">
                    <a:srgbClr val="C0C0C0"/>
                  </a:outerShdw>
                </a:effectLst>
                <a:sym typeface="Symbol" panose="05050102010706020507" pitchFamily="18" charset="2"/>
              </a:rPr>
              <a:t></a:t>
            </a:r>
            <a:r>
              <a:rPr lang="en-US" smtClean="0">
                <a:effectLst>
                  <a:outerShdw blurRad="38100" dist="38100" dir="2700000" algn="tl">
                    <a:srgbClr val="C0C0C0"/>
                  </a:outerShdw>
                </a:effectLst>
              </a:rPr>
              <a:t> E for q; therefore, it is of that form even though </a:t>
            </a:r>
            <a:r>
              <a:rPr lang="en-US" i="1" smtClean="0">
                <a:effectLst>
                  <a:outerShdw blurRad="38100" dist="38100" dir="2700000" algn="tl">
                    <a:srgbClr val="C0C0C0"/>
                  </a:outerShdw>
                </a:effectLst>
              </a:rPr>
              <a:t>Modus Ponens</a:t>
            </a:r>
            <a:r>
              <a:rPr lang="en-US" smtClean="0">
                <a:effectLst>
                  <a:outerShdw blurRad="38100" dist="38100" dir="2700000" algn="tl">
                    <a:srgbClr val="C0C0C0"/>
                  </a:outerShdw>
                </a:effectLst>
              </a:rPr>
              <a:t> is not the specific form of the given argument.</a:t>
            </a:r>
          </a:p>
        </p:txBody>
      </p:sp>
      <p:sp>
        <p:nvSpPr>
          <p:cNvPr id="185348" name="Rectangle 4"/>
          <p:cNvSpPr>
            <a:spLocks noChangeArrowheads="1"/>
          </p:cNvSpPr>
          <p:nvPr/>
        </p:nvSpPr>
        <p:spPr bwMode="auto">
          <a:xfrm>
            <a:off x="76200" y="152400"/>
            <a:ext cx="7086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Example 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bwMode="auto">
          <a:xfrm>
            <a:off x="76200" y="228600"/>
            <a:ext cx="7086600" cy="838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Rule of Replacement</a:t>
            </a:r>
          </a:p>
        </p:txBody>
      </p:sp>
      <p:sp>
        <p:nvSpPr>
          <p:cNvPr id="186371" name="Rectangle 3"/>
          <p:cNvSpPr>
            <a:spLocks noGrp="1" noChangeArrowheads="1"/>
          </p:cNvSpPr>
          <p:nvPr>
            <p:ph type="body" idx="1"/>
          </p:nvPr>
        </p:nvSpPr>
        <p:spPr bwMode="auto">
          <a:xfrm>
            <a:off x="-152400" y="1524000"/>
            <a:ext cx="73152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z="2800" smtClean="0">
                <a:effectLst>
                  <a:outerShdw blurRad="38100" dist="38100" dir="2700000" algn="tl">
                    <a:srgbClr val="C0C0C0"/>
                  </a:outerShdw>
                </a:effectLst>
              </a:rPr>
              <a:t>	There are many valid truth-functional arguments that cannot be proved valid using only the nine Rules of Inference.  However, if we can replace any part of a compound statement by an expression that is logically equivalent to the part replaced, the truth value of the resulting statement is the same as that of the original statement.  This is sometimes called the </a:t>
            </a:r>
            <a:r>
              <a:rPr lang="en-US" sz="2800" b="1" smtClean="0">
                <a:solidFill>
                  <a:srgbClr val="CC6600"/>
                </a:solidFill>
                <a:effectLst>
                  <a:outerShdw blurRad="38100" dist="38100" dir="2700000" algn="tl">
                    <a:srgbClr val="C0C0C0"/>
                  </a:outerShdw>
                </a:effectLst>
              </a:rPr>
              <a:t>Rule of Replacement </a:t>
            </a:r>
            <a:r>
              <a:rPr lang="en-US" sz="2800" smtClean="0">
                <a:solidFill>
                  <a:srgbClr val="CC6600"/>
                </a:solidFill>
                <a:effectLst>
                  <a:outerShdw blurRad="38100" dist="38100" dir="2700000" algn="tl">
                    <a:srgbClr val="C0C0C0"/>
                  </a:outerShdw>
                </a:effectLst>
              </a:rPr>
              <a:t>or the </a:t>
            </a:r>
            <a:r>
              <a:rPr lang="en-US" sz="2800" b="1" smtClean="0">
                <a:solidFill>
                  <a:srgbClr val="CC6600"/>
                </a:solidFill>
                <a:effectLst>
                  <a:outerShdw blurRad="38100" dist="38100" dir="2700000" algn="tl">
                    <a:srgbClr val="C0C0C0"/>
                  </a:outerShdw>
                </a:effectLst>
              </a:rPr>
              <a:t>Principle of Extensionality</a:t>
            </a:r>
            <a:r>
              <a:rPr lang="en-US" sz="2800" smtClean="0">
                <a:solidFill>
                  <a:srgbClr val="CC6600"/>
                </a:solidFill>
                <a:effectLst>
                  <a:outerShdw blurRad="38100" dist="38100" dir="2700000" algn="tl">
                    <a:srgbClr val="C0C0C0"/>
                  </a:outerShdw>
                </a:effectLst>
              </a:rPr>
              <a:t>.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3"/>
          <p:cNvSpPr>
            <a:spLocks noGrp="1" noChangeArrowheads="1"/>
          </p:cNvSpPr>
          <p:nvPr>
            <p:ph type="body" idx="1"/>
          </p:nvPr>
        </p:nvSpPr>
        <p:spPr bwMode="auto">
          <a:xfrm>
            <a:off x="76200" y="1600200"/>
            <a:ext cx="6705600" cy="3581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defRPr/>
            </a:pPr>
            <a:r>
              <a:rPr lang="en-US" smtClean="0">
                <a:effectLst>
                  <a:outerShdw blurRad="38100" dist="38100" dir="2700000" algn="tl">
                    <a:srgbClr val="C0C0C0"/>
                  </a:outerShdw>
                </a:effectLst>
              </a:rPr>
              <a:t>	Using this rule we can employ the laws of logic that we have seen in Chapter 2 to replace all or part of a statement with a logically equivalent statement without changing the truth value of the original statement. </a:t>
            </a:r>
          </a:p>
        </p:txBody>
      </p:sp>
      <p:sp>
        <p:nvSpPr>
          <p:cNvPr id="187396" name="Rectangle 4"/>
          <p:cNvSpPr>
            <a:spLocks noChangeArrowheads="1"/>
          </p:cNvSpPr>
          <p:nvPr/>
        </p:nvSpPr>
        <p:spPr bwMode="auto">
          <a:xfrm>
            <a:off x="76200" y="228600"/>
            <a:ext cx="7086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Rule of Replacement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noChangeArrowheads="1"/>
          </p:cNvSpPr>
          <p:nvPr>
            <p:ph type="body" idx="1"/>
          </p:nvPr>
        </p:nvSpPr>
        <p:spPr bwMode="auto">
          <a:xfrm>
            <a:off x="228600" y="1371600"/>
            <a:ext cx="6705600" cy="4876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defRPr/>
            </a:pPr>
            <a:r>
              <a:rPr lang="en-US" smtClean="0">
                <a:effectLst>
                  <a:outerShdw blurRad="38100" dist="38100" dir="2700000" algn="tl">
                    <a:srgbClr val="C0C0C0"/>
                  </a:outerShdw>
                </a:effectLst>
              </a:rPr>
              <a:t>	Let us recall some of the commonly used laws and introduce a few new ones. We also write down their names and abbreviations for ease in writing justifications for our proofs.  These logically equivalent expressions can replace each other wherever they occur. We number them consecutively after the first eleven rules already stated. </a:t>
            </a:r>
          </a:p>
        </p:txBody>
      </p:sp>
      <p:sp>
        <p:nvSpPr>
          <p:cNvPr id="188420" name="Rectangle 4"/>
          <p:cNvSpPr>
            <a:spLocks noChangeArrowheads="1"/>
          </p:cNvSpPr>
          <p:nvPr/>
        </p:nvSpPr>
        <p:spPr bwMode="auto">
          <a:xfrm>
            <a:off x="76200" y="228600"/>
            <a:ext cx="7086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Rule of Replacement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3"/>
          <p:cNvSpPr>
            <a:spLocks noGrp="1" noChangeArrowheads="1"/>
          </p:cNvSpPr>
          <p:nvPr>
            <p:ph type="body" idx="1"/>
          </p:nvPr>
        </p:nvSpPr>
        <p:spPr bwMode="auto">
          <a:xfrm>
            <a:off x="457200" y="1600200"/>
            <a:ext cx="72390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pt-BR" smtClean="0">
                <a:effectLst>
                  <a:outerShdw blurRad="38100" dist="38100" dir="2700000" algn="tl">
                    <a:srgbClr val="C0C0C0"/>
                  </a:outerShdw>
                </a:effectLst>
              </a:rPr>
              <a:t>12. De Morgan’s Laws (De M.)</a:t>
            </a:r>
          </a:p>
          <a:p>
            <a:pPr eaLnBrk="1" hangingPunct="1">
              <a:buFontTx/>
              <a:buNone/>
              <a:defRPr/>
            </a:pP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p</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p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p>
          <a:p>
            <a:pPr eaLnBrk="1" hangingPunct="1">
              <a:buFontTx/>
              <a:buNone/>
              <a:defRPr/>
            </a:pPr>
            <a:r>
              <a:rPr lang="pt-BR" i="1" smtClean="0">
                <a:effectLst>
                  <a:outerShdw blurRad="38100" dist="38100" dir="2700000" algn="tl">
                    <a:srgbClr val="C0C0C0"/>
                  </a:outerShdw>
                </a:effectLst>
              </a:rPr>
              <a:t>		</a:t>
            </a:r>
            <a:r>
              <a:rPr lang="pt-BR" smtClean="0">
                <a:effectLst>
                  <a:outerShdw blurRad="38100" dist="38100" dir="2700000" algn="tl">
                    <a:srgbClr val="C0C0C0"/>
                  </a:outerShdw>
                </a:effectLst>
              </a:rPr>
              <a:t>~(</a:t>
            </a:r>
            <a:r>
              <a:rPr lang="pt-BR" i="1" smtClean="0">
                <a:effectLst>
                  <a:outerShdw blurRad="38100" dist="38100" dir="2700000" algn="tl">
                    <a:srgbClr val="C0C0C0"/>
                  </a:outerShdw>
                </a:effectLst>
              </a:rPr>
              <a:t>p</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p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p>
          <a:p>
            <a:pPr eaLnBrk="1" hangingPunct="1">
              <a:buFontTx/>
              <a:buNone/>
              <a:defRPr/>
            </a:pPr>
            <a:r>
              <a:rPr lang="pt-BR" i="1" smtClean="0">
                <a:effectLst>
                  <a:outerShdw blurRad="38100" dist="38100" dir="2700000" algn="tl">
                    <a:srgbClr val="C0C0C0"/>
                  </a:outerShdw>
                </a:effectLst>
              </a:rPr>
              <a:t>13.  Commutation (Com.)			</a:t>
            </a:r>
          </a:p>
          <a:p>
            <a:pPr eaLnBrk="1" hangingPunct="1">
              <a:buFontTx/>
              <a:buNone/>
              <a:defRPr/>
            </a:pPr>
            <a:r>
              <a:rPr lang="en-US" i="1" smtClean="0">
                <a:effectLst>
                  <a:outerShdw blurRad="38100" dist="38100" dir="2700000" algn="tl">
                    <a:srgbClr val="C0C0C0"/>
                  </a:outerShdw>
                </a:effectLst>
              </a:rPr>
              <a:t>		p </a:t>
            </a:r>
            <a:r>
              <a:rPr lang="en-US" i="1" smtClean="0">
                <a:effectLst>
                  <a:outerShdw blurRad="38100" dist="38100" dir="2700000" algn="tl">
                    <a:srgbClr val="C0C0C0"/>
                  </a:outerShdw>
                </a:effectLst>
                <a:sym typeface="Symbol" panose="05050102010706020507" pitchFamily="18" charset="2"/>
              </a:rPr>
              <a:t></a:t>
            </a:r>
            <a:r>
              <a:rPr lang="en-US"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en-US"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en-US" i="1" smtClean="0">
                <a:effectLst>
                  <a:outerShdw blurRad="38100" dist="38100" dir="2700000" algn="tl">
                    <a:srgbClr val="C0C0C0"/>
                  </a:outerShdw>
                </a:effectLst>
              </a:rPr>
              <a:t> p</a:t>
            </a:r>
          </a:p>
          <a:p>
            <a:pPr eaLnBrk="1" hangingPunct="1">
              <a:buFontTx/>
              <a:buNone/>
              <a:defRPr/>
            </a:pPr>
            <a:r>
              <a:rPr lang="en-US" i="1" smtClean="0">
                <a:effectLst>
                  <a:outerShdw blurRad="38100" dist="38100" dir="2700000" algn="tl">
                    <a:srgbClr val="C0C0C0"/>
                  </a:outerShdw>
                </a:effectLst>
              </a:rPr>
              <a:t>		p </a:t>
            </a:r>
            <a:r>
              <a:rPr lang="en-US" i="1" smtClean="0">
                <a:effectLst>
                  <a:outerShdw blurRad="38100" dist="38100" dir="2700000" algn="tl">
                    <a:srgbClr val="C0C0C0"/>
                  </a:outerShdw>
                </a:effectLst>
                <a:sym typeface="Symbol" panose="05050102010706020507" pitchFamily="18" charset="2"/>
              </a:rPr>
              <a:t></a:t>
            </a:r>
            <a:r>
              <a:rPr lang="en-US"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en-US"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en-US" i="1" smtClean="0">
                <a:effectLst>
                  <a:outerShdw blurRad="38100" dist="38100" dir="2700000" algn="tl">
                    <a:srgbClr val="C0C0C0"/>
                  </a:outerShdw>
                </a:effectLst>
              </a:rPr>
              <a:t> p</a:t>
            </a:r>
          </a:p>
        </p:txBody>
      </p:sp>
      <p:sp>
        <p:nvSpPr>
          <p:cNvPr id="189444" name="Rectangle 4"/>
          <p:cNvSpPr>
            <a:spLocks noChangeArrowheads="1"/>
          </p:cNvSpPr>
          <p:nvPr/>
        </p:nvSpPr>
        <p:spPr bwMode="auto">
          <a:xfrm>
            <a:off x="76200" y="228600"/>
            <a:ext cx="7086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Rule of Replacement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Rectangle 3"/>
          <p:cNvSpPr>
            <a:spLocks noGrp="1" noChangeArrowheads="1"/>
          </p:cNvSpPr>
          <p:nvPr>
            <p:ph type="body" idx="1"/>
          </p:nvPr>
        </p:nvSpPr>
        <p:spPr bwMode="auto">
          <a:xfrm>
            <a:off x="457200" y="1600200"/>
            <a:ext cx="8229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FontTx/>
              <a:buNone/>
              <a:defRPr/>
            </a:pPr>
            <a:r>
              <a:rPr lang="en-US" smtClean="0">
                <a:effectLst>
                  <a:outerShdw blurRad="38100" dist="38100" dir="2700000" algn="tl">
                    <a:srgbClr val="C0C0C0"/>
                  </a:outerShdw>
                </a:effectLst>
              </a:rPr>
              <a:t>14.  Association (Assoc.)			</a:t>
            </a:r>
          </a:p>
          <a:p>
            <a:pPr eaLnBrk="1" hangingPunct="1">
              <a:lnSpc>
                <a:spcPct val="90000"/>
              </a:lnSpc>
              <a:buFontTx/>
              <a:buNone/>
              <a:defRPr/>
            </a:pPr>
            <a:r>
              <a:rPr lang="pt-BR" i="1" smtClean="0">
                <a:effectLst>
                  <a:outerShdw blurRad="38100" dist="38100" dir="2700000" algn="tl">
                    <a:srgbClr val="C0C0C0"/>
                  </a:outerShdw>
                </a:effectLst>
              </a:rPr>
              <a:t>			p</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r</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p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r				p</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r</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p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q</a:t>
            </a:r>
            <a:r>
              <a:rPr lang="pt-BR" smtClean="0">
                <a:effectLst>
                  <a:outerShdw blurRad="38100" dist="38100" dir="2700000" algn="tl">
                    <a:srgbClr val="C0C0C0"/>
                  </a:outerShdw>
                </a:effectLst>
              </a:rPr>
              <a:t>) </a:t>
            </a:r>
            <a:r>
              <a:rPr lang="en-US" smtClean="0">
                <a:effectLst>
                  <a:outerShdw blurRad="38100" dist="38100" dir="2700000" algn="tl">
                    <a:srgbClr val="C0C0C0"/>
                  </a:outerShdw>
                </a:effectLst>
                <a:sym typeface="Symbol" panose="05050102010706020507" pitchFamily="18" charset="2"/>
              </a:rPr>
              <a:t></a:t>
            </a:r>
            <a:r>
              <a:rPr lang="pt-BR" smtClean="0">
                <a:effectLst>
                  <a:outerShdw blurRad="38100" dist="38100" dir="2700000" algn="tl">
                    <a:srgbClr val="C0C0C0"/>
                  </a:outerShdw>
                </a:effectLst>
              </a:rPr>
              <a:t> </a:t>
            </a:r>
            <a:r>
              <a:rPr lang="pt-BR" i="1" smtClean="0">
                <a:effectLst>
                  <a:outerShdw blurRad="38100" dist="38100" dir="2700000" algn="tl">
                    <a:srgbClr val="C0C0C0"/>
                  </a:outerShdw>
                </a:effectLst>
              </a:rPr>
              <a:t>r</a:t>
            </a:r>
          </a:p>
          <a:p>
            <a:pPr eaLnBrk="1" hangingPunct="1">
              <a:lnSpc>
                <a:spcPct val="90000"/>
              </a:lnSpc>
              <a:buFontTx/>
              <a:buNone/>
              <a:defRPr/>
            </a:pPr>
            <a:endParaRPr lang="pt-BR" i="1" smtClean="0">
              <a:effectLst>
                <a:outerShdw blurRad="38100" dist="38100" dir="2700000" algn="tl">
                  <a:srgbClr val="C0C0C0"/>
                </a:outerShdw>
              </a:effectLst>
            </a:endParaRPr>
          </a:p>
          <a:p>
            <a:pPr eaLnBrk="1" hangingPunct="1">
              <a:lnSpc>
                <a:spcPct val="90000"/>
              </a:lnSpc>
              <a:buFontTx/>
              <a:buNone/>
              <a:defRPr/>
            </a:pPr>
            <a:r>
              <a:rPr lang="pt-BR" i="1" smtClean="0">
                <a:effectLst>
                  <a:outerShdw blurRad="38100" dist="38100" dir="2700000" algn="tl">
                    <a:srgbClr val="C0C0C0"/>
                  </a:outerShdw>
                </a:effectLst>
              </a:rPr>
              <a:t>15.  Distribution (Dist.)			</a:t>
            </a:r>
          </a:p>
          <a:p>
            <a:pPr eaLnBrk="1" hangingPunct="1">
              <a:lnSpc>
                <a:spcPct val="90000"/>
              </a:lnSpc>
              <a:buFontTx/>
              <a:buNone/>
              <a:defRPr/>
            </a:pPr>
            <a:r>
              <a:rPr lang="pt-BR" i="1" smtClean="0">
                <a:effectLst>
                  <a:outerShdw blurRad="38100" dist="38100" dir="2700000" algn="tl">
                    <a:srgbClr val="C0C0C0"/>
                  </a:outerShdw>
                </a:effectLst>
              </a:rPr>
              <a:t>			p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r)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(p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(p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r)			p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r)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(p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q)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(p </a:t>
            </a:r>
            <a:r>
              <a:rPr lang="en-US" i="1" smtClean="0">
                <a:effectLst>
                  <a:outerShdw blurRad="38100" dist="38100" dir="2700000" algn="tl">
                    <a:srgbClr val="C0C0C0"/>
                  </a:outerShdw>
                </a:effectLst>
                <a:sym typeface="Symbol" panose="05050102010706020507" pitchFamily="18" charset="2"/>
              </a:rPr>
              <a:t></a:t>
            </a:r>
            <a:r>
              <a:rPr lang="pt-BR" i="1" smtClean="0">
                <a:effectLst>
                  <a:outerShdw blurRad="38100" dist="38100" dir="2700000" algn="tl">
                    <a:srgbClr val="C0C0C0"/>
                  </a:outerShdw>
                </a:effectLst>
              </a:rPr>
              <a:t> r)		</a:t>
            </a:r>
            <a:endParaRPr lang="en-US" i="1" smtClean="0">
              <a:effectLst>
                <a:outerShdw blurRad="38100" dist="38100" dir="2700000" algn="tl">
                  <a:srgbClr val="C0C0C0"/>
                </a:outerShdw>
              </a:effectLst>
            </a:endParaRPr>
          </a:p>
        </p:txBody>
      </p:sp>
      <p:sp>
        <p:nvSpPr>
          <p:cNvPr id="190468" name="Rectangle 4"/>
          <p:cNvSpPr>
            <a:spLocks noChangeArrowheads="1"/>
          </p:cNvSpPr>
          <p:nvPr/>
        </p:nvSpPr>
        <p:spPr bwMode="auto">
          <a:xfrm>
            <a:off x="76200" y="228600"/>
            <a:ext cx="7086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Rule of Replacement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3"/>
          <p:cNvSpPr>
            <a:spLocks noGrp="1" noChangeArrowheads="1"/>
          </p:cNvSpPr>
          <p:nvPr>
            <p:ph type="body" idx="1"/>
          </p:nvPr>
        </p:nvSpPr>
        <p:spPr bwMode="auto">
          <a:xfrm>
            <a:off x="457200" y="1600200"/>
            <a:ext cx="8229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dirty="0" smtClean="0">
                <a:effectLst>
                  <a:outerShdw blurRad="38100" dist="38100" dir="2700000" algn="tl">
                    <a:srgbClr val="C0C0C0"/>
                  </a:outerShdw>
                </a:effectLst>
              </a:rPr>
              <a:t>16.  Double Negation (D.N.)			</a:t>
            </a:r>
          </a:p>
          <a:p>
            <a:pPr eaLnBrk="1" hangingPunct="1">
              <a:buFontTx/>
              <a:buNone/>
              <a:defRPr/>
            </a:pPr>
            <a:r>
              <a:rPr lang="en-US" i="1" dirty="0" smtClean="0">
                <a:effectLst>
                  <a:outerShdw blurRad="38100" dist="38100" dir="2700000" algn="tl">
                    <a:srgbClr val="C0C0C0"/>
                  </a:outerShdw>
                </a:effectLst>
              </a:rPr>
              <a:t>			p </a:t>
            </a:r>
            <a:r>
              <a:rPr lang="en-US" dirty="0" smtClean="0">
                <a:effectLst>
                  <a:outerShdw blurRad="38100" dist="38100" dir="2700000" algn="tl">
                    <a:srgbClr val="C0C0C0"/>
                  </a:outerShdw>
                </a:effectLst>
                <a:sym typeface="Symbol" panose="05050102010706020507" pitchFamily="18" charset="2"/>
              </a:rPr>
              <a:t></a:t>
            </a:r>
            <a:r>
              <a:rPr lang="en-US" dirty="0" smtClean="0">
                <a:effectLst>
                  <a:outerShdw blurRad="38100" dist="38100" dir="2700000" algn="tl">
                    <a:srgbClr val="C0C0C0"/>
                  </a:outerShdw>
                </a:effectLst>
              </a:rPr>
              <a:t> ~~</a:t>
            </a:r>
            <a:r>
              <a:rPr lang="en-US" i="1" dirty="0" smtClean="0">
                <a:effectLst>
                  <a:outerShdw blurRad="38100" dist="38100" dir="2700000" algn="tl">
                    <a:srgbClr val="C0C0C0"/>
                  </a:outerShdw>
                </a:effectLst>
              </a:rPr>
              <a:t>p</a:t>
            </a:r>
            <a:endParaRPr lang="en-US" dirty="0" smtClean="0">
              <a:effectLst>
                <a:outerShdw blurRad="38100" dist="38100" dir="2700000" algn="tl">
                  <a:srgbClr val="C0C0C0"/>
                </a:outerShdw>
              </a:effectLst>
            </a:endParaRPr>
          </a:p>
          <a:p>
            <a:pPr eaLnBrk="1" hangingPunct="1">
              <a:buFontTx/>
              <a:buNone/>
              <a:defRPr/>
            </a:pPr>
            <a:r>
              <a:rPr lang="en-US" dirty="0" smtClean="0">
                <a:effectLst>
                  <a:outerShdw blurRad="38100" dist="38100" dir="2700000" algn="tl">
                    <a:srgbClr val="C0C0C0"/>
                  </a:outerShdw>
                </a:effectLst>
              </a:rPr>
              <a:t>17.  Transportation (Trans.)			</a:t>
            </a:r>
          </a:p>
          <a:p>
            <a:pPr eaLnBrk="1" hangingPunct="1">
              <a:buFontTx/>
              <a:buNone/>
              <a:defRPr/>
            </a:pPr>
            <a:r>
              <a:rPr lang="en-US" i="1" dirty="0" smtClean="0">
                <a:effectLst>
                  <a:outerShdw blurRad="38100" dist="38100" dir="2700000" algn="tl">
                    <a:srgbClr val="C0C0C0"/>
                  </a:outerShdw>
                </a:effectLst>
              </a:rPr>
              <a:t>			p </a:t>
            </a:r>
            <a:r>
              <a:rPr lang="en-US" dirty="0" smtClean="0">
                <a:effectLst>
                  <a:outerShdw blurRad="38100" dist="38100" dir="2700000" algn="tl">
                    <a:srgbClr val="C0C0C0"/>
                  </a:outerShdw>
                </a:effectLst>
                <a:sym typeface="Symbol" panose="05050102010706020507" pitchFamily="18" charset="2"/>
              </a:rPr>
              <a:t></a:t>
            </a:r>
            <a:r>
              <a:rPr lang="en-US" dirty="0" smtClean="0">
                <a:effectLst>
                  <a:outerShdw blurRad="38100" dist="38100" dir="2700000" algn="tl">
                    <a:srgbClr val="C0C0C0"/>
                  </a:outerShdw>
                </a:effectLst>
              </a:rPr>
              <a:t> </a:t>
            </a:r>
            <a:r>
              <a:rPr lang="en-US" i="1" dirty="0" smtClean="0">
                <a:effectLst>
                  <a:outerShdw blurRad="38100" dist="38100" dir="2700000" algn="tl">
                    <a:srgbClr val="C0C0C0"/>
                  </a:outerShdw>
                </a:effectLst>
              </a:rPr>
              <a:t>q </a:t>
            </a:r>
            <a:r>
              <a:rPr lang="en-US" dirty="0" smtClean="0">
                <a:effectLst>
                  <a:outerShdw blurRad="38100" dist="38100" dir="2700000" algn="tl">
                    <a:srgbClr val="C0C0C0"/>
                  </a:outerShdw>
                </a:effectLst>
                <a:sym typeface="Symbol" panose="05050102010706020507" pitchFamily="18" charset="2"/>
              </a:rPr>
              <a:t></a:t>
            </a:r>
            <a:r>
              <a:rPr lang="en-US" dirty="0" smtClean="0">
                <a:effectLst>
                  <a:outerShdw blurRad="38100" dist="38100" dir="2700000" algn="tl">
                    <a:srgbClr val="C0C0C0"/>
                  </a:outerShdw>
                </a:effectLst>
              </a:rPr>
              <a:t> ~</a:t>
            </a:r>
            <a:r>
              <a:rPr lang="en-US" i="1" dirty="0" smtClean="0">
                <a:effectLst>
                  <a:outerShdw blurRad="38100" dist="38100" dir="2700000" algn="tl">
                    <a:srgbClr val="C0C0C0"/>
                  </a:outerShdw>
                </a:effectLst>
              </a:rPr>
              <a:t>q </a:t>
            </a:r>
            <a:r>
              <a:rPr lang="en-US" dirty="0" smtClean="0">
                <a:effectLst>
                  <a:outerShdw blurRad="38100" dist="38100" dir="2700000" algn="tl">
                    <a:srgbClr val="C0C0C0"/>
                  </a:outerShdw>
                </a:effectLst>
                <a:sym typeface="Symbol" panose="05050102010706020507" pitchFamily="18" charset="2"/>
              </a:rPr>
              <a:t></a:t>
            </a:r>
            <a:r>
              <a:rPr lang="en-US" dirty="0" smtClean="0">
                <a:effectLst>
                  <a:outerShdw blurRad="38100" dist="38100" dir="2700000" algn="tl">
                    <a:srgbClr val="C0C0C0"/>
                  </a:outerShdw>
                </a:effectLst>
              </a:rPr>
              <a:t> ~</a:t>
            </a:r>
            <a:r>
              <a:rPr lang="en-US" i="1" dirty="0" smtClean="0">
                <a:effectLst>
                  <a:outerShdw blurRad="38100" dist="38100" dir="2700000" algn="tl">
                    <a:srgbClr val="C0C0C0"/>
                  </a:outerShdw>
                </a:effectLst>
              </a:rPr>
              <a:t>p</a:t>
            </a:r>
            <a:endParaRPr lang="en-US" dirty="0" smtClean="0">
              <a:effectLst>
                <a:outerShdw blurRad="38100" dist="38100" dir="2700000" algn="tl">
                  <a:srgbClr val="C0C0C0"/>
                </a:outerShdw>
              </a:effectLst>
            </a:endParaRPr>
          </a:p>
          <a:p>
            <a:pPr eaLnBrk="1" hangingPunct="1">
              <a:buFontTx/>
              <a:buNone/>
              <a:defRPr/>
            </a:pPr>
            <a:r>
              <a:rPr lang="en-US" dirty="0" smtClean="0">
                <a:effectLst>
                  <a:outerShdw blurRad="38100" dist="38100" dir="2700000" algn="tl">
                    <a:srgbClr val="C0C0C0"/>
                  </a:outerShdw>
                </a:effectLst>
              </a:rPr>
              <a:t>18.  Material Implication (</a:t>
            </a:r>
            <a:r>
              <a:rPr lang="en-US" dirty="0" err="1" smtClean="0">
                <a:effectLst>
                  <a:outerShdw blurRad="38100" dist="38100" dir="2700000" algn="tl">
                    <a:srgbClr val="C0C0C0"/>
                  </a:outerShdw>
                </a:effectLst>
              </a:rPr>
              <a:t>Impl</a:t>
            </a:r>
            <a:r>
              <a:rPr lang="en-US" dirty="0" smtClean="0">
                <a:effectLst>
                  <a:outerShdw blurRad="38100" dist="38100" dir="2700000" algn="tl">
                    <a:srgbClr val="C0C0C0"/>
                  </a:outerShdw>
                </a:effectLst>
              </a:rPr>
              <a:t>.)		</a:t>
            </a:r>
          </a:p>
          <a:p>
            <a:pPr eaLnBrk="1" hangingPunct="1">
              <a:buFontTx/>
              <a:buNone/>
              <a:defRPr/>
            </a:pPr>
            <a:r>
              <a:rPr lang="en-US" i="1" dirty="0" smtClean="0">
                <a:effectLst>
                  <a:outerShdw blurRad="38100" dist="38100" dir="2700000" algn="tl">
                    <a:srgbClr val="C0C0C0"/>
                  </a:outerShdw>
                </a:effectLst>
              </a:rPr>
              <a:t>			p </a:t>
            </a:r>
            <a:r>
              <a:rPr lang="en-US" dirty="0" smtClean="0">
                <a:effectLst>
                  <a:outerShdw blurRad="38100" dist="38100" dir="2700000" algn="tl">
                    <a:srgbClr val="C0C0C0"/>
                  </a:outerShdw>
                </a:effectLst>
                <a:sym typeface="Symbol" panose="05050102010706020507" pitchFamily="18" charset="2"/>
              </a:rPr>
              <a:t></a:t>
            </a:r>
            <a:r>
              <a:rPr lang="en-US" dirty="0" smtClean="0">
                <a:effectLst>
                  <a:outerShdw blurRad="38100" dist="38100" dir="2700000" algn="tl">
                    <a:srgbClr val="C0C0C0"/>
                  </a:outerShdw>
                </a:effectLst>
              </a:rPr>
              <a:t> </a:t>
            </a:r>
            <a:r>
              <a:rPr lang="en-US" i="1" dirty="0" smtClean="0">
                <a:effectLst>
                  <a:outerShdw blurRad="38100" dist="38100" dir="2700000" algn="tl">
                    <a:srgbClr val="C0C0C0"/>
                  </a:outerShdw>
                </a:effectLst>
              </a:rPr>
              <a:t>q </a:t>
            </a:r>
            <a:r>
              <a:rPr lang="en-US" dirty="0" smtClean="0">
                <a:effectLst>
                  <a:outerShdw blurRad="38100" dist="38100" dir="2700000" algn="tl">
                    <a:srgbClr val="C0C0C0"/>
                  </a:outerShdw>
                </a:effectLst>
                <a:sym typeface="Symbol" panose="05050102010706020507" pitchFamily="18" charset="2"/>
              </a:rPr>
              <a:t></a:t>
            </a:r>
            <a:r>
              <a:rPr lang="en-US" dirty="0" smtClean="0">
                <a:effectLst>
                  <a:outerShdw blurRad="38100" dist="38100" dir="2700000" algn="tl">
                    <a:srgbClr val="C0C0C0"/>
                  </a:outerShdw>
                </a:effectLst>
              </a:rPr>
              <a:t> ~</a:t>
            </a:r>
            <a:r>
              <a:rPr lang="en-US" i="1" dirty="0" smtClean="0">
                <a:effectLst>
                  <a:outerShdw blurRad="38100" dist="38100" dir="2700000" algn="tl">
                    <a:srgbClr val="C0C0C0"/>
                  </a:outerShdw>
                </a:effectLst>
              </a:rPr>
              <a:t>p </a:t>
            </a:r>
            <a:r>
              <a:rPr lang="en-US" dirty="0" smtClean="0">
                <a:effectLst>
                  <a:outerShdw blurRad="38100" dist="38100" dir="2700000" algn="tl">
                    <a:srgbClr val="C0C0C0"/>
                  </a:outerShdw>
                </a:effectLst>
                <a:sym typeface="Symbol" panose="05050102010706020507" pitchFamily="18" charset="2"/>
              </a:rPr>
              <a:t></a:t>
            </a:r>
            <a:r>
              <a:rPr lang="en-US" dirty="0" smtClean="0">
                <a:effectLst>
                  <a:outerShdw blurRad="38100" dist="38100" dir="2700000" algn="tl">
                    <a:srgbClr val="C0C0C0"/>
                  </a:outerShdw>
                </a:effectLst>
              </a:rPr>
              <a:t> </a:t>
            </a:r>
            <a:r>
              <a:rPr lang="en-US" i="1" dirty="0" smtClean="0">
                <a:effectLst>
                  <a:outerShdw blurRad="38100" dist="38100" dir="2700000" algn="tl">
                    <a:srgbClr val="C0C0C0"/>
                  </a:outerShdw>
                </a:effectLst>
              </a:rPr>
              <a:t>q</a:t>
            </a:r>
          </a:p>
        </p:txBody>
      </p:sp>
      <p:sp>
        <p:nvSpPr>
          <p:cNvPr id="191492" name="Rectangle 4"/>
          <p:cNvSpPr>
            <a:spLocks noChangeArrowheads="1"/>
          </p:cNvSpPr>
          <p:nvPr/>
        </p:nvSpPr>
        <p:spPr bwMode="auto">
          <a:xfrm>
            <a:off x="76200" y="228600"/>
            <a:ext cx="7086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Rule of Replacement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Rectangle 3"/>
          <p:cNvSpPr>
            <a:spLocks noGrp="1" noChangeArrowheads="1"/>
          </p:cNvSpPr>
          <p:nvPr>
            <p:ph type="body" idx="1"/>
          </p:nvPr>
        </p:nvSpPr>
        <p:spPr bwMode="auto">
          <a:xfrm>
            <a:off x="457200" y="1600200"/>
            <a:ext cx="8229600" cy="452596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defRPr/>
            </a:pPr>
            <a:r>
              <a:rPr lang="en-US" sz="2800" smtClean="0">
                <a:effectLst>
                  <a:outerShdw blurRad="38100" dist="38100" dir="2700000" algn="tl">
                    <a:srgbClr val="C0C0C0"/>
                  </a:outerShdw>
                </a:effectLst>
              </a:rPr>
              <a:t>19.  Material Equivalence (Equiv.)		</a:t>
            </a:r>
          </a:p>
          <a:p>
            <a:pPr eaLnBrk="1" hangingPunct="1">
              <a:buFontTx/>
              <a:buNone/>
              <a:defRPr/>
            </a:pPr>
            <a:r>
              <a:rPr lang="en-US" sz="2800" i="1" smtClean="0">
                <a:effectLst>
                  <a:outerShdw blurRad="38100" dist="38100" dir="2700000" algn="tl">
                    <a:srgbClr val="C0C0C0"/>
                  </a:outerShdw>
                </a:effectLst>
              </a:rPr>
              <a:t>			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a:t>
            </a:r>
            <a:r>
              <a:rPr lang="en-US" sz="2800" smtClean="0">
                <a:effectLst>
                  <a:outerShdw blurRad="38100" dist="38100" dir="2700000" algn="tl">
                    <a:srgbClr val="C0C0C0"/>
                  </a:outerShdw>
                </a:effectLst>
              </a:rPr>
              <a:t>)</a:t>
            </a:r>
          </a:p>
          <a:p>
            <a:pPr eaLnBrk="1" hangingPunct="1">
              <a:buFontTx/>
              <a:buNone/>
              <a:defRPr/>
            </a:pP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q</a:t>
            </a:r>
            <a:r>
              <a:rPr lang="en-US" sz="2800" smtClean="0">
                <a:effectLst>
                  <a:outerShdw blurRad="38100" dist="38100" dir="2700000" algn="tl">
                    <a:srgbClr val="C0C0C0"/>
                  </a:outerShdw>
                </a:effectLst>
              </a:rPr>
              <a:t>)</a:t>
            </a:r>
          </a:p>
          <a:p>
            <a:pPr eaLnBrk="1" hangingPunct="1">
              <a:buFontTx/>
              <a:buNone/>
              <a:defRPr/>
            </a:pPr>
            <a:r>
              <a:rPr lang="en-US" sz="2800" smtClean="0">
                <a:effectLst>
                  <a:outerShdw blurRad="38100" dist="38100" dir="2700000" algn="tl">
                    <a:srgbClr val="C0C0C0"/>
                  </a:outerShdw>
                </a:effectLst>
              </a:rPr>
              <a:t>20.  Exportation (Exp.)			</a:t>
            </a:r>
          </a:p>
          <a:p>
            <a:pPr eaLnBrk="1" hangingPunct="1">
              <a:buFontTx/>
              <a:buNone/>
              <a:defRPr/>
            </a:pPr>
            <a:r>
              <a:rPr lang="pt-BR" sz="2800" smtClean="0">
                <a:effectLst>
                  <a:outerShdw blurRad="38100" dist="38100" dir="2700000" algn="tl">
                    <a:srgbClr val="C0C0C0"/>
                  </a:outerShdw>
                </a:effectLst>
              </a:rPr>
              <a:t>			(</a:t>
            </a:r>
            <a:r>
              <a:rPr lang="pt-BR"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pt-BR" sz="2800" smtClean="0">
                <a:effectLst>
                  <a:outerShdw blurRad="38100" dist="38100" dir="2700000" algn="tl">
                    <a:srgbClr val="C0C0C0"/>
                  </a:outerShdw>
                </a:effectLst>
              </a:rPr>
              <a:t> </a:t>
            </a:r>
            <a:r>
              <a:rPr lang="pt-BR" sz="2800" i="1" smtClean="0">
                <a:effectLst>
                  <a:outerShdw blurRad="38100" dist="38100" dir="2700000" algn="tl">
                    <a:srgbClr val="C0C0C0"/>
                  </a:outerShdw>
                </a:effectLst>
              </a:rPr>
              <a:t>q</a:t>
            </a:r>
            <a:r>
              <a:rPr lang="pt-BR" sz="2800" smtClean="0">
                <a:effectLst>
                  <a:outerShdw blurRad="38100" dist="38100" dir="2700000" algn="tl">
                    <a:srgbClr val="C0C0C0"/>
                  </a:outerShdw>
                </a:effectLst>
              </a:rPr>
              <a:t>) </a:t>
            </a:r>
            <a:r>
              <a:rPr lang="en-US" sz="2800" smtClean="0">
                <a:effectLst>
                  <a:outerShdw blurRad="38100" dist="38100" dir="2700000" algn="tl">
                    <a:srgbClr val="C0C0C0"/>
                  </a:outerShdw>
                </a:effectLst>
                <a:sym typeface="Symbol" panose="05050102010706020507" pitchFamily="18" charset="2"/>
              </a:rPr>
              <a:t></a:t>
            </a:r>
            <a:r>
              <a:rPr lang="pt-BR" sz="2800" smtClean="0">
                <a:effectLst>
                  <a:outerShdw blurRad="38100" dist="38100" dir="2700000" algn="tl">
                    <a:srgbClr val="C0C0C0"/>
                  </a:outerShdw>
                </a:effectLst>
              </a:rPr>
              <a:t> </a:t>
            </a:r>
            <a:r>
              <a:rPr lang="pt-BR" sz="2800" i="1" smtClean="0">
                <a:effectLst>
                  <a:outerShdw blurRad="38100" dist="38100" dir="2700000" algn="tl">
                    <a:srgbClr val="C0C0C0"/>
                  </a:outerShdw>
                </a:effectLst>
              </a:rPr>
              <a:t>r </a:t>
            </a:r>
            <a:r>
              <a:rPr lang="en-US" sz="2800" smtClean="0">
                <a:effectLst>
                  <a:outerShdw blurRad="38100" dist="38100" dir="2700000" algn="tl">
                    <a:srgbClr val="C0C0C0"/>
                  </a:outerShdw>
                </a:effectLst>
                <a:sym typeface="Symbol" panose="05050102010706020507" pitchFamily="18" charset="2"/>
              </a:rPr>
              <a:t></a:t>
            </a:r>
            <a:r>
              <a:rPr lang="pt-BR" sz="2800" smtClean="0">
                <a:effectLst>
                  <a:outerShdw blurRad="38100" dist="38100" dir="2700000" algn="tl">
                    <a:srgbClr val="C0C0C0"/>
                  </a:outerShdw>
                </a:effectLst>
              </a:rPr>
              <a:t> </a:t>
            </a:r>
            <a:r>
              <a:rPr lang="pt-BR"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pt-BR" sz="2800" smtClean="0">
                <a:effectLst>
                  <a:outerShdw blurRad="38100" dist="38100" dir="2700000" algn="tl">
                    <a:srgbClr val="C0C0C0"/>
                  </a:outerShdw>
                </a:effectLst>
              </a:rPr>
              <a:t> (</a:t>
            </a:r>
            <a:r>
              <a:rPr lang="pt-BR" sz="2800" i="1" smtClean="0">
                <a:effectLst>
                  <a:outerShdw blurRad="38100" dist="38100" dir="2700000" algn="tl">
                    <a:srgbClr val="C0C0C0"/>
                  </a:outerShdw>
                </a:effectLst>
              </a:rPr>
              <a:t>q </a:t>
            </a:r>
            <a:r>
              <a:rPr lang="en-US" sz="2800" smtClean="0">
                <a:effectLst>
                  <a:outerShdw blurRad="38100" dist="38100" dir="2700000" algn="tl">
                    <a:srgbClr val="C0C0C0"/>
                  </a:outerShdw>
                </a:effectLst>
                <a:sym typeface="Symbol" panose="05050102010706020507" pitchFamily="18" charset="2"/>
              </a:rPr>
              <a:t></a:t>
            </a:r>
            <a:r>
              <a:rPr lang="pt-BR" sz="2800" smtClean="0">
                <a:effectLst>
                  <a:outerShdw blurRad="38100" dist="38100" dir="2700000" algn="tl">
                    <a:srgbClr val="C0C0C0"/>
                  </a:outerShdw>
                </a:effectLst>
              </a:rPr>
              <a:t> </a:t>
            </a:r>
            <a:r>
              <a:rPr lang="pt-BR" sz="2800" i="1" smtClean="0">
                <a:effectLst>
                  <a:outerShdw blurRad="38100" dist="38100" dir="2700000" algn="tl">
                    <a:srgbClr val="C0C0C0"/>
                  </a:outerShdw>
                </a:effectLst>
              </a:rPr>
              <a:t>r</a:t>
            </a:r>
            <a:r>
              <a:rPr lang="pt-BR" sz="2800" smtClean="0">
                <a:effectLst>
                  <a:outerShdw blurRad="38100" dist="38100" dir="2700000" algn="tl">
                    <a:srgbClr val="C0C0C0"/>
                  </a:outerShdw>
                </a:effectLst>
              </a:rPr>
              <a:t>)</a:t>
            </a:r>
            <a:endParaRPr lang="en-US" sz="2800" smtClean="0">
              <a:effectLst>
                <a:outerShdw blurRad="38100" dist="38100" dir="2700000" algn="tl">
                  <a:srgbClr val="C0C0C0"/>
                </a:outerShdw>
              </a:effectLst>
            </a:endParaRPr>
          </a:p>
          <a:p>
            <a:pPr eaLnBrk="1" hangingPunct="1">
              <a:buFontTx/>
              <a:buNone/>
              <a:defRPr/>
            </a:pPr>
            <a:r>
              <a:rPr lang="en-US" sz="2800" smtClean="0">
                <a:effectLst>
                  <a:outerShdw blurRad="38100" dist="38100" dir="2700000" algn="tl">
                    <a:srgbClr val="C0C0C0"/>
                  </a:outerShdw>
                </a:effectLst>
              </a:rPr>
              <a:t>21.  Tautology (Taut.)				</a:t>
            </a:r>
          </a:p>
          <a:p>
            <a:pPr eaLnBrk="1" hangingPunct="1">
              <a:buFontTx/>
              <a:buNone/>
              <a:defRPr/>
            </a:pPr>
            <a:r>
              <a:rPr lang="en-US" sz="2800" i="1" smtClean="0">
                <a:effectLst>
                  <a:outerShdw blurRad="38100" dist="38100" dir="2700000" algn="tl">
                    <a:srgbClr val="C0C0C0"/>
                  </a:outerShdw>
                </a:effectLst>
              </a:rPr>
              <a:t>			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a:t>
            </a:r>
          </a:p>
          <a:p>
            <a:pPr eaLnBrk="1" hangingPunct="1">
              <a:buFontTx/>
              <a:buNone/>
              <a:defRPr/>
            </a:pPr>
            <a:r>
              <a:rPr lang="en-US" sz="2800" i="1" smtClean="0">
                <a:effectLst>
                  <a:outerShdw blurRad="38100" dist="38100" dir="2700000" algn="tl">
                    <a:srgbClr val="C0C0C0"/>
                  </a:outerShdw>
                </a:effectLst>
              </a:rPr>
              <a:t>			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 </a:t>
            </a:r>
            <a:r>
              <a:rPr lang="en-US" sz="2800" smtClean="0">
                <a:effectLst>
                  <a:outerShdw blurRad="38100" dist="38100" dir="2700000" algn="tl">
                    <a:srgbClr val="C0C0C0"/>
                  </a:outerShdw>
                </a:effectLst>
                <a:sym typeface="Symbol" panose="05050102010706020507" pitchFamily="18" charset="2"/>
              </a:rPr>
              <a:t></a:t>
            </a:r>
            <a:r>
              <a:rPr lang="en-US" sz="2800" smtClean="0">
                <a:effectLst>
                  <a:outerShdw blurRad="38100" dist="38100" dir="2700000" algn="tl">
                    <a:srgbClr val="C0C0C0"/>
                  </a:outerShdw>
                </a:effectLst>
              </a:rPr>
              <a:t> </a:t>
            </a:r>
            <a:r>
              <a:rPr lang="en-US" sz="2800" i="1" smtClean="0">
                <a:effectLst>
                  <a:outerShdw blurRad="38100" dist="38100" dir="2700000" algn="tl">
                    <a:srgbClr val="C0C0C0"/>
                  </a:outerShdw>
                </a:effectLst>
              </a:rPr>
              <a:t>p</a:t>
            </a:r>
          </a:p>
        </p:txBody>
      </p:sp>
      <p:sp>
        <p:nvSpPr>
          <p:cNvPr id="192516" name="Rectangle 4"/>
          <p:cNvSpPr>
            <a:spLocks noChangeArrowheads="1"/>
          </p:cNvSpPr>
          <p:nvPr/>
        </p:nvSpPr>
        <p:spPr bwMode="auto">
          <a:xfrm>
            <a:off x="76200" y="228600"/>
            <a:ext cx="7086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defRPr/>
            </a:pPr>
            <a:r>
              <a:rPr lang="en-US" b="1" smtClean="0">
                <a:solidFill>
                  <a:srgbClr val="000099"/>
                </a:solidFill>
                <a:effectLst>
                  <a:outerShdw blurRad="38100" dist="38100" dir="2700000" algn="tl">
                    <a:srgbClr val="C0C0C0"/>
                  </a:outerShdw>
                </a:effectLst>
              </a:rPr>
              <a:t>Rule of Replacement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bwMode="auto">
          <a:xfrm>
            <a:off x="76200" y="228600"/>
            <a:ext cx="7162800"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defRPr/>
            </a:pPr>
            <a:r>
              <a:rPr lang="en-US" b="1" smtClean="0">
                <a:solidFill>
                  <a:srgbClr val="000099"/>
                </a:solidFill>
                <a:effectLst>
                  <a:outerShdw blurRad="38100" dist="38100" dir="2700000" algn="tl">
                    <a:srgbClr val="C0C0C0"/>
                  </a:outerShdw>
                </a:effectLst>
              </a:rPr>
              <a:t>Example 4</a:t>
            </a:r>
            <a:endParaRPr lang="en-US" smtClean="0">
              <a:solidFill>
                <a:srgbClr val="000099"/>
              </a:solidFill>
              <a:effectLst>
                <a:outerShdw blurRad="38100" dist="38100" dir="2700000" algn="tl">
                  <a:srgbClr val="C0C0C0"/>
                </a:outerShdw>
              </a:effectLst>
            </a:endParaRPr>
          </a:p>
        </p:txBody>
      </p:sp>
      <p:sp>
        <p:nvSpPr>
          <p:cNvPr id="193539" name="Rectangle 3"/>
          <p:cNvSpPr>
            <a:spLocks noGrp="1" noChangeArrowheads="1"/>
          </p:cNvSpPr>
          <p:nvPr>
            <p:ph type="body" idx="1"/>
          </p:nvPr>
        </p:nvSpPr>
        <p:spPr bwMode="auto">
          <a:xfrm>
            <a:off x="304800" y="1524000"/>
            <a:ext cx="7848600" cy="4343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FontTx/>
              <a:buNone/>
              <a:defRPr/>
            </a:pPr>
            <a:r>
              <a:rPr lang="en-US" sz="2400" smtClean="0">
                <a:effectLst>
                  <a:outerShdw blurRad="38100" dist="38100" dir="2700000" algn="tl">
                    <a:srgbClr val="C0C0C0"/>
                  </a:outerShdw>
                </a:effectLst>
              </a:rPr>
              <a:t>	Example 3 can also be solved using rule of replacement for some steps as follows:</a:t>
            </a:r>
          </a:p>
          <a:p>
            <a:pPr eaLnBrk="1" hangingPunct="1">
              <a:lnSpc>
                <a:spcPct val="90000"/>
              </a:lnSpc>
              <a:buFontTx/>
              <a:buNone/>
              <a:defRPr/>
            </a:pPr>
            <a:r>
              <a:rPr lang="en-US" sz="2400" smtClean="0">
                <a:effectLst>
                  <a:outerShdw blurRad="38100" dist="38100" dir="2700000" algn="tl">
                    <a:srgbClr val="C0C0C0"/>
                  </a:outerShdw>
                </a:effectLst>
              </a:rPr>
              <a:t>		1. A v (B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D)</a:t>
            </a:r>
          </a:p>
          <a:p>
            <a:pPr eaLnBrk="1" hangingPunct="1">
              <a:lnSpc>
                <a:spcPct val="90000"/>
              </a:lnSpc>
              <a:buFontTx/>
              <a:buNone/>
              <a:defRPr/>
            </a:pPr>
            <a:r>
              <a:rPr lang="en-US" sz="2400" smtClean="0">
                <a:effectLst>
                  <a:outerShdw blurRad="38100" dist="38100" dir="2700000" algn="tl">
                    <a:srgbClr val="C0C0C0"/>
                  </a:outerShdw>
                </a:effectLst>
              </a:rPr>
              <a:t>		2. ~ C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(D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E)</a:t>
            </a:r>
          </a:p>
          <a:p>
            <a:pPr eaLnBrk="1" hangingPunct="1">
              <a:lnSpc>
                <a:spcPct val="90000"/>
              </a:lnSpc>
              <a:buFontTx/>
              <a:buNone/>
              <a:defRPr/>
            </a:pPr>
            <a:r>
              <a:rPr lang="en-US" sz="2400" smtClean="0">
                <a:effectLst>
                  <a:outerShdw blurRad="38100" dist="38100" dir="2700000" algn="tl">
                    <a:srgbClr val="C0C0C0"/>
                  </a:outerShdw>
                </a:effectLst>
              </a:rPr>
              <a:t>		3. A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C </a:t>
            </a:r>
          </a:p>
          <a:p>
            <a:pPr eaLnBrk="1" hangingPunct="1">
              <a:lnSpc>
                <a:spcPct val="90000"/>
              </a:lnSpc>
              <a:buFontTx/>
              <a:buNone/>
              <a:defRPr/>
            </a:pPr>
            <a:r>
              <a:rPr lang="en-US" sz="2400" smtClean="0">
                <a:effectLst>
                  <a:outerShdw blurRad="38100" dist="38100" dir="2700000" algn="tl">
                    <a:srgbClr val="C0C0C0"/>
                  </a:outerShdw>
                </a:effectLst>
              </a:rPr>
              <a:t>		4. ~ C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B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E</a:t>
            </a:r>
          </a:p>
          <a:p>
            <a:pPr eaLnBrk="1" hangingPunct="1">
              <a:lnSpc>
                <a:spcPct val="90000"/>
              </a:lnSpc>
              <a:buFontTx/>
              <a:buNone/>
              <a:defRPr/>
            </a:pPr>
            <a:r>
              <a:rPr lang="en-US" sz="2400" smtClean="0">
                <a:effectLst>
                  <a:outerShdw blurRad="38100" dist="38100" dir="2700000" algn="tl">
                    <a:srgbClr val="C0C0C0"/>
                  </a:outerShdw>
                </a:effectLst>
              </a:rPr>
              <a:t>		5. ~ A	   			3, 4, M.T.</a:t>
            </a:r>
          </a:p>
          <a:p>
            <a:pPr eaLnBrk="1" hangingPunct="1">
              <a:lnSpc>
                <a:spcPct val="90000"/>
              </a:lnSpc>
              <a:buFontTx/>
              <a:buNone/>
              <a:defRPr/>
            </a:pPr>
            <a:r>
              <a:rPr lang="en-US" sz="2400" smtClean="0">
                <a:effectLst>
                  <a:outerShdw blurRad="38100" dist="38100" dir="2700000" algn="tl">
                    <a:srgbClr val="C0C0C0"/>
                  </a:outerShdw>
                </a:effectLst>
              </a:rPr>
              <a:t>		6. B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D	   		1, 5, D.S.</a:t>
            </a:r>
          </a:p>
          <a:p>
            <a:pPr eaLnBrk="1" hangingPunct="1">
              <a:lnSpc>
                <a:spcPct val="90000"/>
              </a:lnSpc>
              <a:buFontTx/>
              <a:buNone/>
              <a:defRPr/>
            </a:pPr>
            <a:r>
              <a:rPr lang="en-US" sz="2400" smtClean="0">
                <a:effectLst>
                  <a:outerShdw blurRad="38100" dist="38100" dir="2700000" algn="tl">
                    <a:srgbClr val="C0C0C0"/>
                  </a:outerShdw>
                </a:effectLst>
              </a:rPr>
              <a:t>		7. ~~ C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(D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E)		2, Impl.</a:t>
            </a:r>
          </a:p>
          <a:p>
            <a:pPr eaLnBrk="1" hangingPunct="1">
              <a:lnSpc>
                <a:spcPct val="90000"/>
              </a:lnSpc>
              <a:buFontTx/>
              <a:buNone/>
              <a:defRPr/>
            </a:pPr>
            <a:r>
              <a:rPr lang="en-US" sz="2400" smtClean="0">
                <a:effectLst>
                  <a:outerShdw blurRad="38100" dist="38100" dir="2700000" algn="tl">
                    <a:srgbClr val="C0C0C0"/>
                  </a:outerShdw>
                </a:effectLst>
              </a:rPr>
              <a:t>		8. D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E	   		7, 4, D.S.</a:t>
            </a:r>
          </a:p>
          <a:p>
            <a:pPr eaLnBrk="1" hangingPunct="1">
              <a:lnSpc>
                <a:spcPct val="90000"/>
              </a:lnSpc>
              <a:buFontTx/>
              <a:buNone/>
              <a:defRPr/>
            </a:pPr>
            <a:r>
              <a:rPr lang="en-US" sz="2400" smtClean="0">
                <a:effectLst>
                  <a:outerShdw blurRad="38100" dist="38100" dir="2700000" algn="tl">
                    <a:srgbClr val="C0C0C0"/>
                  </a:outerShdw>
                </a:effectLst>
              </a:rPr>
              <a:t>		9.   B </a:t>
            </a:r>
            <a:r>
              <a:rPr lang="en-US" sz="2400" smtClean="0">
                <a:effectLst>
                  <a:outerShdw blurRad="38100" dist="38100" dir="2700000" algn="tl">
                    <a:srgbClr val="C0C0C0"/>
                  </a:outerShdw>
                </a:effectLst>
                <a:sym typeface="Symbol" panose="05050102010706020507" pitchFamily="18" charset="2"/>
              </a:rPr>
              <a:t></a:t>
            </a:r>
            <a:r>
              <a:rPr lang="en-US" sz="2400" smtClean="0">
                <a:effectLst>
                  <a:outerShdw blurRad="38100" dist="38100" dir="2700000" algn="tl">
                    <a:srgbClr val="C0C0C0"/>
                  </a:outerShdw>
                </a:effectLst>
              </a:rPr>
              <a:t> E	  		6, 8, H.S. 	</a:t>
            </a:r>
          </a:p>
        </p:txBody>
      </p:sp>
    </p:spTree>
  </p:cSld>
  <p:clrMapOvr>
    <a:masterClrMapping/>
  </p:clrMapOvr>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1910</TotalTime>
  <Words>735</Words>
  <Application>Microsoft Office PowerPoint</Application>
  <PresentationFormat>On-screen Show (4:3)</PresentationFormat>
  <Paragraphs>210</Paragraphs>
  <Slides>46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3" baseType="lpstr">
      <vt:lpstr>Arial</vt:lpstr>
      <vt:lpstr>Arial Black</vt:lpstr>
      <vt:lpstr>Symbol</vt:lpstr>
      <vt:lpstr>Times New Roman</vt:lpstr>
      <vt:lpstr>Wingdings</vt:lpstr>
      <vt:lpstr>Modèle par défaut</vt:lpstr>
      <vt:lpstr>Equation</vt:lpstr>
      <vt:lpstr>PowerPoint Presentation</vt:lpstr>
      <vt:lpstr>Deductive Reasoning </vt:lpstr>
      <vt:lpstr>Deductive Reasoning</vt:lpstr>
      <vt:lpstr>PowerPoint Presentation</vt:lpstr>
      <vt:lpstr>PowerPoint Presentation</vt:lpstr>
      <vt:lpstr>Deductive Reasoning</vt:lpstr>
      <vt:lpstr>PowerPoint Presentation</vt:lpstr>
      <vt:lpstr>PowerPoint Presentation</vt:lpstr>
      <vt:lpstr>PowerPoint Presentation</vt:lpstr>
      <vt:lpstr>Example 1</vt:lpstr>
      <vt:lpstr>Example 1</vt:lpstr>
      <vt:lpstr>Example 2</vt:lpstr>
      <vt:lpstr>Example 2</vt:lpstr>
      <vt:lpstr>Example 2</vt:lpstr>
      <vt:lpstr>Example 2</vt:lpstr>
      <vt:lpstr>Example 2</vt:lpstr>
      <vt:lpstr>Formal proof of validity</vt:lpstr>
      <vt:lpstr>Elementary valid argument</vt:lpstr>
      <vt:lpstr>Rules of Inference</vt:lpstr>
      <vt:lpstr>PowerPoint Presentation</vt:lpstr>
      <vt:lpstr>PowerPoint Presentation</vt:lpstr>
      <vt:lpstr>PowerPoint Presentation</vt:lpstr>
      <vt:lpstr>PowerPoint Presentation</vt:lpstr>
      <vt:lpstr>PowerPoint Presentation</vt:lpstr>
      <vt:lpstr>PowerPoint Presentation</vt:lpstr>
      <vt:lpstr>Example 3</vt:lpstr>
      <vt:lpstr>PowerPoint Presentation</vt:lpstr>
      <vt:lpstr>Example 3</vt:lpstr>
      <vt:lpstr>Example 3</vt:lpstr>
      <vt:lpstr>Example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Rule of Replacement</vt:lpstr>
      <vt:lpstr>PowerPoint Presentation</vt:lpstr>
      <vt:lpstr>PowerPoint Presentation</vt:lpstr>
      <vt:lpstr>PowerPoint Presentation</vt:lpstr>
      <vt:lpstr>PowerPoint Presentation</vt:lpstr>
      <vt:lpstr>PowerPoint Presentation</vt:lpstr>
      <vt:lpstr>PowerPoint Presentation</vt:lpstr>
      <vt:lpstr>Example 4</vt:lpstr>
    </vt:vector>
  </TitlesOfParts>
  <Company>LSU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DCST</dc:creator>
  <cp:lastModifiedBy>Reviewer</cp:lastModifiedBy>
  <cp:revision>160</cp:revision>
  <dcterms:created xsi:type="dcterms:W3CDTF">2004-08-03T15:03:53Z</dcterms:created>
  <dcterms:modified xsi:type="dcterms:W3CDTF">2023-05-09T03:11:52Z</dcterms:modified>
</cp:coreProperties>
</file>